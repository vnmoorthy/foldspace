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(20 s). Hold the phone up half-open so the room can see the crease. "Foldable phones have had a hinge-angle sensor for years. Everyone used it for animations. We used the hinge as an input device, and we used the two screens as a 3D corner." Beat. "This is FOLDSPACE. The phone is the ship." Then go straight to the demo posture on the next slide. Do not read the slide; the title is on the screen, the hook is in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one-sentence insight. Point at column two: the angle is a continuous value, like a joystick axis, so it can carry velocity and rhythm. Point at column three: the two panels meet at an angle the app knows, which is exactly how the Seoul wave billboard works. Everything in the next eight slides is one of those two ideas applied to a spaceship.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Hold the phone at cockpit angle: windshield above the fold, console below. Lay it flat: galaxy map. Close it: the outer display says FOLDING SPACE. Say the line: "there is no mode switch, no button. The posture is the state." The thresholds are hysteretic, so the UI never flickers at a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do two of these on stage, not six. Warp: "watch the stability meter" and close the phone smoothly, let it sit closed for a beat, then open it at the new star. Nova Lance: squeeze, hold until the crease glows, snap it open. If the room is close enough they will hear the haptic. Mention that the recogniser is velocity-aware: the same closing motion is a warp at 100 degrees per second and a collapse at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hold the phone at ninety degrees and slowly open it to one-fifty. The planet does not move; the windshield tilts away from it. That is the whole trick: one SceneKit scene, one camera whose pitch is the hinge angle, rendered across two panels that meet at exactly that angle. Then drag the probe from the console up across the crease into the planet. It is the only control allowed to cross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BEAT: pick Alpha Centauri on the flat galaxy map, then close the phone slowly and deliberately. Let it sit closed for a beat and turn the outer display to the audience: FOLDING SPACE, 4.24 light-years, counting. Then snap it open: you are at Proxima b. The Alcubierre metaphor is not decoration; the crease is the bubble and the close speed is the field strength. Close it too fast on purpose once if there is time: the meter reads COLLAPSING and you drop out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the corona is around a million kelvin, the photosphere 5,800, the core fifteen million. The HUD temperature climbs as you fold, from NASA Sun fact-sheet values. LIVE DEMO BEAT: close the phone slowly over the Sun. Let it sit at forty-five degrees so the room sees the temperature climbing. Open it to climb out. Then the Nova Lance: squeeze, hold for the glow, snap it open, and the planet shatters in the corner. Say: "No Star Wars was harmed. It is the Nova 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Sagittarius A* is the real one: four million solar masses, 26,670 light-years away, imaged by the Event Horizon Telescope. Fold amount maps to how deep you sit in the well, so the HUD shows Earth time racing while ship time crawls. Fire the Lance at it and the beam vanishes into the horizon. Then the finale: pump the phone open and shut four times, each pump charges the Fold Core, slam it shut for the 2.5-million-light-year jump. LIVE DEMO BEAT: pump it on stage; the fourth slam is the cue. Open the phone: Andromeda rises out of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left column is unique to iPhone Duo: the hinge callback, the reserved regions for the fold and the camera, the outer display, and size classes instead of orientation locks. The diagram is the whole app: three hinge sources feed one engine, the engine emits gestures, the flight controller maps them to verbs, the store holds state, the root view switches on posture. Sponsors: Supabase holds the Galactic Registry, so every beacon and every warp from every player lands in one table and a dashboard. OpenAI runs the ship computer, grounded in the real catalog so it never invents a planet. Sentry watches crashes and the 60 Hz hinge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negatives, slowly: no angle, one plane, one face. Then the positive: Duo has all three and reports them continuously. What is next is one line each; do not linger. End on the repo URL and the closing line: "Fold the phone. Fold space." Then close the phone, and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vnmoorthy/foldspace" TargetMode="External"/><Relationship Id="rId3" Type="http://schemas.openxmlformats.org/officeDocument/2006/relationships/hyperlink" Target="https://vnmoorthy.github.io/foldspac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1.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14813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SWIFTUI  ·  SCENEKIT  ·  IPHONE DUO HINGE</a:t>
            </a:r>
            <a:endParaRPr lang="en-US" sz="850" dirty="0"/>
          </a:p>
        </p:txBody>
      </p:sp>
      <p:sp>
        <p:nvSpPr>
          <p:cNvPr id="5" name="Text 1"/>
          <p:cNvSpPr txBox="1"/>
          <p:nvPr/>
        </p:nvSpPr>
        <p:spPr>
          <a:xfrm>
            <a:off x="512064" y="1700784"/>
            <a:ext cx="6035040" cy="960120"/>
          </a:xfrm>
          <a:prstGeom prst="rect">
            <a:avLst/>
          </a:prstGeom>
          <a:noFill/>
          <a:ln/>
        </p:spPr>
        <p:txBody>
          <a:bodyPr wrap="square" lIns="0" tIns="0" rIns="0" bIns="0" rtlCol="0" anchor="t"/>
          <a:lstStyle/>
          <a:p>
            <a:pPr indent="0" marL="0">
              <a:buNone/>
            </a:pPr>
            <a:r>
              <a:rPr lang="en-US" sz="6800" spc="100" kern="0" dirty="0">
                <a:solidFill>
                  <a:srgbClr val="FFFFFF"/>
                </a:solidFill>
                <a:latin typeface="Helvetica Neue Light" pitchFamily="34" charset="0"/>
                <a:ea typeface="Helvetica Neue Light" pitchFamily="34" charset="-122"/>
                <a:cs typeface="Helvetica Neue Light" pitchFamily="34" charset="-120"/>
              </a:rPr>
              <a:t>FOLDSPACE</a:t>
            </a:r>
            <a:endParaRPr lang="en-US" sz="6800" dirty="0"/>
          </a:p>
        </p:txBody>
      </p:sp>
      <p:sp>
        <p:nvSpPr>
          <p:cNvPr id="6" name="Text 2"/>
          <p:cNvSpPr txBox="1"/>
          <p:nvPr/>
        </p:nvSpPr>
        <p:spPr>
          <a:xfrm>
            <a:off x="548640" y="2889504"/>
            <a:ext cx="5029200" cy="411480"/>
          </a:xfrm>
          <a:prstGeom prst="rect">
            <a:avLst/>
          </a:prstGeom>
          <a:noFill/>
          <a:ln/>
        </p:spPr>
        <p:txBody>
          <a:bodyPr wrap="square" lIns="0" tIns="0" rIns="0" bIns="0" rtlCol="0" anchor="t"/>
          <a:lstStyle/>
          <a:p>
            <a:pPr indent="0" marL="0">
              <a:buNone/>
            </a:pPr>
            <a:r>
              <a:rPr lang="en-US" sz="2000" dirty="0">
                <a:solidFill>
                  <a:srgbClr val="FFFFFF"/>
                </a:solidFill>
                <a:latin typeface="Helvetica Neue Light" pitchFamily="34" charset="0"/>
                <a:ea typeface="Helvetica Neue Light" pitchFamily="34" charset="-122"/>
                <a:cs typeface="Helvetica Neue Light" pitchFamily="34" charset="-120"/>
              </a:rPr>
              <a:t>Fold the phone. Fold space.</a:t>
            </a:r>
            <a:endParaRPr lang="en-US" sz="2000" dirty="0"/>
          </a:p>
        </p:txBody>
      </p:sp>
      <p:sp>
        <p:nvSpPr>
          <p:cNvPr id="7" name="Text 3"/>
          <p:cNvSpPr txBox="1"/>
          <p:nvPr/>
        </p:nvSpPr>
        <p:spPr>
          <a:xfrm>
            <a:off x="548640" y="3456432"/>
            <a:ext cx="6035040" cy="201168"/>
          </a:xfrm>
          <a:prstGeom prst="rect">
            <a:avLst/>
          </a:prstGeom>
          <a:noFill/>
          <a:ln/>
        </p:spPr>
        <p:txBody>
          <a:bodyPr wrap="square" lIns="0" tIns="0" rIns="0" bIns="0" rtlCol="0" anchor="t"/>
          <a:lstStyle/>
          <a:p>
            <a:pPr indent="0" marL="0">
              <a:buNone/>
            </a:pPr>
            <a:r>
              <a:rPr lang="en-US" sz="850" spc="300" kern="0" dirty="0">
                <a:solidFill>
                  <a:srgbClr val="7C828C"/>
                </a:solidFill>
                <a:latin typeface="Helvetica Neue" pitchFamily="34" charset="0"/>
                <a:ea typeface="Helvetica Neue" pitchFamily="34" charset="-122"/>
                <a:cs typeface="Helvetica Neue" pitchFamily="34" charset="-120"/>
              </a:rPr>
              <a:t>BITRIG HACKS  ·  IPHONE DUO EDITION  ·  YC  ·  SEPT 26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01 — THE INSIGHT</a:t>
            </a:r>
            <a:endParaRPr lang="en-US" sz="850" dirty="0"/>
          </a:p>
        </p:txBody>
      </p:sp>
      <p:sp>
        <p:nvSpPr>
          <p:cNvPr id="5" name="Text 1"/>
          <p:cNvSpPr txBox="1"/>
          <p:nvPr/>
        </p:nvSpPr>
        <p:spPr>
          <a:xfrm>
            <a:off x="548640" y="960120"/>
            <a:ext cx="7315200" cy="731520"/>
          </a:xfrm>
          <a:prstGeom prst="rect">
            <a:avLst/>
          </a:prstGeom>
          <a:noFill/>
          <a:ln/>
        </p:spPr>
        <p:txBody>
          <a:bodyPr wrap="square" lIns="0" tIns="0" rIns="0" bIns="0" rtlCol="0" anchor="t"/>
          <a:lstStyle/>
          <a:p>
            <a:pPr indent="0" marL="0">
              <a:lnSpc>
                <a:spcPct val="115000"/>
              </a:lnSpc>
              <a:buNone/>
            </a:pPr>
            <a:r>
              <a:rPr lang="en-US" sz="1600" dirty="0">
                <a:solidFill>
                  <a:srgbClr val="B8BDC6"/>
                </a:solidFill>
                <a:latin typeface="Helvetica Neue Light" pitchFamily="34" charset="0"/>
                <a:ea typeface="Helvetica Neue Light" pitchFamily="34" charset="-122"/>
                <a:cs typeface="Helvetica Neue Light" pitchFamily="34" charset="-120"/>
              </a:rPr>
              <a:t>Hinge-angle sensors have existed for years.</a:t>
            </a:r>
            <a:endParaRPr lang="en-US" sz="1600" dirty="0"/>
          </a:p>
          <a:p>
            <a:pPr indent="0" marL="0">
              <a:lnSpc>
                <a:spcPct val="115000"/>
              </a:lnSpc>
              <a:buNone/>
            </a:pPr>
            <a:r>
              <a:rPr lang="en-US" sz="1600" dirty="0">
                <a:solidFill>
                  <a:srgbClr val="B8BDC6"/>
                </a:solidFill>
                <a:latin typeface="Helvetica Neue Light" pitchFamily="34" charset="0"/>
                <a:ea typeface="Helvetica Neue Light" pitchFamily="34" charset="-122"/>
                <a:cs typeface="Helvetica Neue Light" pitchFamily="34" charset="-120"/>
              </a:rPr>
              <a:t>Everyone used them for animations.</a:t>
            </a:r>
            <a:endParaRPr lang="en-US" sz="1600" dirty="0"/>
          </a:p>
        </p:txBody>
      </p:sp>
      <p:sp>
        <p:nvSpPr>
          <p:cNvPr id="6" name="Text 2"/>
          <p:cNvSpPr txBox="1"/>
          <p:nvPr/>
        </p:nvSpPr>
        <p:spPr>
          <a:xfrm>
            <a:off x="548640" y="1783080"/>
            <a:ext cx="8046720" cy="1234440"/>
          </a:xfrm>
          <a:prstGeom prst="rect">
            <a:avLst/>
          </a:prstGeom>
          <a:noFill/>
          <a:ln/>
        </p:spPr>
        <p:txBody>
          <a:bodyPr wrap="square" lIns="0" tIns="0" rIns="0" bIns="0" rtlCol="0" anchor="t"/>
          <a:lstStyle/>
          <a:p>
            <a:pPr indent="0" marL="0">
              <a:lnSpc>
                <a:spcPct val="95000"/>
              </a:lnSpc>
              <a:buNone/>
            </a:pPr>
            <a:r>
              <a:rPr lang="en-US" sz="4200" dirty="0">
                <a:solidFill>
                  <a:srgbClr val="FFFFFF"/>
                </a:solidFill>
                <a:latin typeface="Helvetica Neue Light" pitchFamily="34" charset="0"/>
                <a:ea typeface="Helvetica Neue Light" pitchFamily="34" charset="-122"/>
                <a:cs typeface="Helvetica Neue Light" pitchFamily="34" charset="-120"/>
              </a:rPr>
              <a:t>We made the hinge</a:t>
            </a:r>
            <a:endParaRPr lang="en-US" sz="4200" dirty="0"/>
          </a:p>
          <a:p>
            <a:pPr indent="0" marL="0">
              <a:lnSpc>
                <a:spcPct val="95000"/>
              </a:lnSpc>
              <a:buNone/>
            </a:pPr>
            <a:r>
              <a:rPr lang="en-US" sz="4200" dirty="0">
                <a:solidFill>
                  <a:srgbClr val="FFFFFF"/>
                </a:solidFill>
                <a:latin typeface="Helvetica Neue Light" pitchFamily="34" charset="0"/>
                <a:ea typeface="Helvetica Neue Light" pitchFamily="34" charset="-122"/>
                <a:cs typeface="Helvetica Neue Light" pitchFamily="34" charset="-120"/>
              </a:rPr>
              <a:t>an input device.</a:t>
            </a:r>
            <a:endParaRPr lang="en-US" sz="4200" dirty="0"/>
          </a:p>
        </p:txBody>
      </p:sp>
      <p:sp>
        <p:nvSpPr>
          <p:cNvPr id="7" name="Text 3"/>
          <p:cNvSpPr txBox="1"/>
          <p:nvPr/>
        </p:nvSpPr>
        <p:spPr>
          <a:xfrm>
            <a:off x="548640" y="3108960"/>
            <a:ext cx="8046720" cy="1234440"/>
          </a:xfrm>
          <a:prstGeom prst="rect">
            <a:avLst/>
          </a:prstGeom>
          <a:noFill/>
          <a:ln/>
        </p:spPr>
        <p:txBody>
          <a:bodyPr wrap="square" lIns="0" tIns="0" rIns="0" bIns="0" rtlCol="0" anchor="t"/>
          <a:lstStyle/>
          <a:p>
            <a:pPr indent="0" marL="0">
              <a:lnSpc>
                <a:spcPct val="95000"/>
              </a:lnSpc>
              <a:buNone/>
            </a:pPr>
            <a:r>
              <a:rPr lang="en-US" sz="4200" dirty="0">
                <a:solidFill>
                  <a:srgbClr val="B8BDC6"/>
                </a:solidFill>
                <a:latin typeface="Helvetica Neue Light" pitchFamily="34" charset="0"/>
                <a:ea typeface="Helvetica Neue Light" pitchFamily="34" charset="-122"/>
                <a:cs typeface="Helvetica Neue Light" pitchFamily="34" charset="-120"/>
              </a:rPr>
              <a:t>And the two screens</a:t>
            </a:r>
            <a:endParaRPr lang="en-US" sz="4200" dirty="0"/>
          </a:p>
          <a:p>
            <a:pPr indent="0" marL="0">
              <a:lnSpc>
                <a:spcPct val="95000"/>
              </a:lnSpc>
              <a:buNone/>
            </a:pPr>
            <a:r>
              <a:rPr lang="en-US" sz="4200" dirty="0">
                <a:solidFill>
                  <a:srgbClr val="B8BDC6"/>
                </a:solidFill>
                <a:latin typeface="Helvetica Neue Light" pitchFamily="34" charset="0"/>
                <a:ea typeface="Helvetica Neue Light" pitchFamily="34" charset="-122"/>
                <a:cs typeface="Helvetica Neue Light" pitchFamily="34" charset="-120"/>
              </a:rPr>
              <a:t>a 3D corner.</a:t>
            </a:r>
            <a:endParaRPr lang="en-US" sz="4200" dirty="0"/>
          </a:p>
        </p:txBody>
      </p:sp>
      <p:sp>
        <p:nvSpPr>
          <p:cNvPr id="8" name="Text 4"/>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9" name="Text 5"/>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02 / 10</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02 — THE PHONE IS THE SHIP</a:t>
            </a:r>
            <a:endParaRPr lang="en-US" sz="850" dirty="0"/>
          </a:p>
        </p:txBody>
      </p:sp>
      <p:sp>
        <p:nvSpPr>
          <p:cNvPr id="5" name="Text 1"/>
          <p:cNvSpPr txBox="1"/>
          <p:nvPr/>
        </p:nvSpPr>
        <p:spPr>
          <a:xfrm>
            <a:off x="548640" y="868680"/>
            <a:ext cx="8046720" cy="685800"/>
          </a:xfrm>
          <a:prstGeom prst="rect">
            <a:avLst/>
          </a:prstGeom>
          <a:noFill/>
          <a:ln/>
        </p:spPr>
        <p:txBody>
          <a:bodyPr wrap="square" lIns="0" tIns="0" rIns="0" bIns="0" rtlCol="0" anchor="t"/>
          <a:lstStyle/>
          <a:p>
            <a:pPr indent="0" marL="0">
              <a:buNone/>
            </a:pPr>
            <a:r>
              <a:rPr lang="en-US" sz="4000" dirty="0">
                <a:solidFill>
                  <a:srgbClr val="FFFFFF"/>
                </a:solidFill>
                <a:latin typeface="Helvetica Neue Light" pitchFamily="34" charset="0"/>
                <a:ea typeface="Helvetica Neue Light" pitchFamily="34" charset="-122"/>
                <a:cs typeface="Helvetica Neue Light" pitchFamily="34" charset="-120"/>
              </a:rPr>
              <a:t>The posture is the state.</a:t>
            </a:r>
            <a:endParaRPr lang="en-US" sz="4000" dirty="0"/>
          </a:p>
        </p:txBody>
      </p:sp>
      <p:sp>
        <p:nvSpPr>
          <p:cNvPr id="6" name="Text 2"/>
          <p:cNvSpPr txBox="1"/>
          <p:nvPr/>
        </p:nvSpPr>
        <p:spPr>
          <a:xfrm>
            <a:off x="548640" y="1627632"/>
            <a:ext cx="5669280" cy="457200"/>
          </a:xfrm>
          <a:prstGeom prst="rect">
            <a:avLst/>
          </a:prstGeom>
          <a:noFill/>
          <a:ln/>
        </p:spPr>
        <p:txBody>
          <a:bodyPr wrap="square" lIns="0" tIns="0" rIns="0" bIns="0" rtlCol="0" anchor="t"/>
          <a:lstStyle/>
          <a:p>
            <a:pPr indent="0" marL="0">
              <a:buNone/>
            </a:pPr>
            <a:r>
              <a:rPr lang="en-US" sz="1200" dirty="0">
                <a:solidFill>
                  <a:srgbClr val="B8BDC6"/>
                </a:solidFill>
                <a:latin typeface="Helvetica Neue Light" pitchFamily="34" charset="0"/>
                <a:ea typeface="Helvetica Neue Light" pitchFamily="34" charset="-122"/>
                <a:cs typeface="Helvetica Neue Light" pitchFamily="34" charset="-120"/>
              </a:rPr>
              <a:t>No mode switch. No button. Five angle bands, read live from the hinge, with hysteresis so the UI never flickers at a boundary.</a:t>
            </a:r>
            <a:endParaRPr lang="en-US" sz="1200" dirty="0"/>
          </a:p>
        </p:txBody>
      </p:sp>
      <p:sp>
        <p:nvSpPr>
          <p:cNvPr id="7" name="Shape 3"/>
          <p:cNvSpPr/>
          <p:nvPr/>
        </p:nvSpPr>
        <p:spPr>
          <a:xfrm>
            <a:off x="548640" y="2788920"/>
            <a:ext cx="8046720" cy="0"/>
          </a:xfrm>
          <a:prstGeom prst="line">
            <a:avLst/>
          </a:prstGeom>
          <a:noFill/>
          <a:ln w="9525">
            <a:solidFill>
              <a:srgbClr val="5A5F68"/>
            </a:solidFill>
            <a:prstDash val="solid"/>
          </a:ln>
        </p:spPr>
      </p:sp>
      <p:sp>
        <p:nvSpPr>
          <p:cNvPr id="8" name="Shape 4"/>
          <p:cNvSpPr/>
          <p:nvPr/>
        </p:nvSpPr>
        <p:spPr>
          <a:xfrm>
            <a:off x="4572000" y="2788920"/>
            <a:ext cx="2011680" cy="0"/>
          </a:xfrm>
          <a:prstGeom prst="line">
            <a:avLst/>
          </a:prstGeom>
          <a:noFill/>
          <a:ln w="19050">
            <a:solidFill>
              <a:srgbClr val="3DF2FF"/>
            </a:solidFill>
            <a:prstDash val="solid"/>
          </a:ln>
        </p:spPr>
      </p:sp>
      <p:sp>
        <p:nvSpPr>
          <p:cNvPr id="9" name="Shape 5"/>
          <p:cNvSpPr/>
          <p:nvPr/>
        </p:nvSpPr>
        <p:spPr>
          <a:xfrm>
            <a:off x="548640" y="2724912"/>
            <a:ext cx="0" cy="128016"/>
          </a:xfrm>
          <a:prstGeom prst="line">
            <a:avLst/>
          </a:prstGeom>
          <a:noFill/>
          <a:ln w="9525">
            <a:solidFill>
              <a:srgbClr val="A0A5AD"/>
            </a:solidFill>
            <a:prstDash val="solid"/>
          </a:ln>
        </p:spPr>
      </p:sp>
      <p:sp>
        <p:nvSpPr>
          <p:cNvPr id="10" name="Shape 6"/>
          <p:cNvSpPr/>
          <p:nvPr/>
        </p:nvSpPr>
        <p:spPr>
          <a:xfrm>
            <a:off x="2560320" y="2724912"/>
            <a:ext cx="0" cy="128016"/>
          </a:xfrm>
          <a:prstGeom prst="line">
            <a:avLst/>
          </a:prstGeom>
          <a:noFill/>
          <a:ln w="9525">
            <a:solidFill>
              <a:srgbClr val="A0A5AD"/>
            </a:solidFill>
            <a:prstDash val="solid"/>
          </a:ln>
        </p:spPr>
      </p:sp>
      <p:sp>
        <p:nvSpPr>
          <p:cNvPr id="11" name="Shape 7"/>
          <p:cNvSpPr/>
          <p:nvPr/>
        </p:nvSpPr>
        <p:spPr>
          <a:xfrm>
            <a:off x="4572000" y="2724912"/>
            <a:ext cx="0" cy="128016"/>
          </a:xfrm>
          <a:prstGeom prst="line">
            <a:avLst/>
          </a:prstGeom>
          <a:noFill/>
          <a:ln w="9525">
            <a:solidFill>
              <a:srgbClr val="3DF2FF"/>
            </a:solidFill>
            <a:prstDash val="solid"/>
          </a:ln>
        </p:spPr>
      </p:sp>
      <p:sp>
        <p:nvSpPr>
          <p:cNvPr id="12" name="Shape 8"/>
          <p:cNvSpPr/>
          <p:nvPr/>
        </p:nvSpPr>
        <p:spPr>
          <a:xfrm>
            <a:off x="6583680" y="2724912"/>
            <a:ext cx="0" cy="128016"/>
          </a:xfrm>
          <a:prstGeom prst="line">
            <a:avLst/>
          </a:prstGeom>
          <a:noFill/>
          <a:ln w="9525">
            <a:solidFill>
              <a:srgbClr val="3DF2FF"/>
            </a:solidFill>
            <a:prstDash val="solid"/>
          </a:ln>
        </p:spPr>
      </p:sp>
      <p:sp>
        <p:nvSpPr>
          <p:cNvPr id="13" name="Shape 9"/>
          <p:cNvSpPr/>
          <p:nvPr/>
        </p:nvSpPr>
        <p:spPr>
          <a:xfrm>
            <a:off x="8595360" y="2724912"/>
            <a:ext cx="0" cy="128016"/>
          </a:xfrm>
          <a:prstGeom prst="line">
            <a:avLst/>
          </a:prstGeom>
          <a:noFill/>
          <a:ln w="9525">
            <a:solidFill>
              <a:srgbClr val="A0A5AD"/>
            </a:solidFill>
            <a:prstDash val="solid"/>
          </a:ln>
        </p:spPr>
      </p:sp>
      <p:sp>
        <p:nvSpPr>
          <p:cNvPr id="14" name="Text 10"/>
          <p:cNvSpPr txBox="1"/>
          <p:nvPr/>
        </p:nvSpPr>
        <p:spPr>
          <a:xfrm>
            <a:off x="658368" y="2404872"/>
            <a:ext cx="18288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CLOSED</a:t>
            </a:r>
            <a:endParaRPr lang="en-US" sz="850" dirty="0"/>
          </a:p>
        </p:txBody>
      </p:sp>
      <p:sp>
        <p:nvSpPr>
          <p:cNvPr id="15" name="Text 11"/>
          <p:cNvSpPr txBox="1"/>
          <p:nvPr/>
        </p:nvSpPr>
        <p:spPr>
          <a:xfrm>
            <a:off x="658368" y="2971800"/>
            <a:ext cx="182880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0–12°</a:t>
            </a:r>
            <a:endParaRPr lang="en-US" sz="2600" dirty="0"/>
          </a:p>
        </p:txBody>
      </p:sp>
      <p:sp>
        <p:nvSpPr>
          <p:cNvPr id="16" name="Text 12"/>
          <p:cNvSpPr txBox="1"/>
          <p:nvPr/>
        </p:nvSpPr>
        <p:spPr>
          <a:xfrm>
            <a:off x="658368" y="3502152"/>
            <a:ext cx="1828800" cy="502920"/>
          </a:xfrm>
          <a:prstGeom prst="rect">
            <a:avLst/>
          </a:prstGeom>
          <a:noFill/>
          <a:ln/>
        </p:spPr>
        <p:txBody>
          <a:bodyPr wrap="square" lIns="0" tIns="0" rIns="0" bIns="0" rtlCol="0" anchor="t"/>
          <a:lstStyle/>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Outer display.</a:t>
            </a:r>
            <a:endParaRPr lang="en-US" sz="1050" dirty="0"/>
          </a:p>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Docked, or in transit.</a:t>
            </a:r>
            <a:endParaRPr lang="en-US" sz="1050" dirty="0"/>
          </a:p>
        </p:txBody>
      </p:sp>
      <p:sp>
        <p:nvSpPr>
          <p:cNvPr id="17" name="Text 13"/>
          <p:cNvSpPr txBox="1"/>
          <p:nvPr/>
        </p:nvSpPr>
        <p:spPr>
          <a:xfrm>
            <a:off x="2670048" y="2404872"/>
            <a:ext cx="18288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SQUEEZED</a:t>
            </a:r>
            <a:endParaRPr lang="en-US" sz="850" dirty="0"/>
          </a:p>
        </p:txBody>
      </p:sp>
      <p:sp>
        <p:nvSpPr>
          <p:cNvPr id="18" name="Text 14"/>
          <p:cNvSpPr txBox="1"/>
          <p:nvPr/>
        </p:nvSpPr>
        <p:spPr>
          <a:xfrm>
            <a:off x="2670048" y="2971800"/>
            <a:ext cx="182880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12–45°</a:t>
            </a:r>
            <a:endParaRPr lang="en-US" sz="2600" dirty="0"/>
          </a:p>
        </p:txBody>
      </p:sp>
      <p:sp>
        <p:nvSpPr>
          <p:cNvPr id="19" name="Text 15"/>
          <p:cNvSpPr txBox="1"/>
          <p:nvPr/>
        </p:nvSpPr>
        <p:spPr>
          <a:xfrm>
            <a:off x="2670048" y="3502152"/>
            <a:ext cx="1828800" cy="502920"/>
          </a:xfrm>
          <a:prstGeom prst="rect">
            <a:avLst/>
          </a:prstGeom>
          <a:noFill/>
          <a:ln/>
        </p:spPr>
        <p:txBody>
          <a:bodyPr wrap="square" lIns="0" tIns="0" rIns="0" bIns="0" rtlCol="0" anchor="t"/>
          <a:lstStyle/>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The crease glows.</a:t>
            </a:r>
            <a:endParaRPr lang="en-US" sz="1050" dirty="0"/>
          </a:p>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Nova Lance charging.</a:t>
            </a:r>
            <a:endParaRPr lang="en-US" sz="1050" dirty="0"/>
          </a:p>
        </p:txBody>
      </p:sp>
      <p:sp>
        <p:nvSpPr>
          <p:cNvPr id="20" name="Text 16"/>
          <p:cNvSpPr txBox="1"/>
          <p:nvPr/>
        </p:nvSpPr>
        <p:spPr>
          <a:xfrm>
            <a:off x="4681728" y="2404872"/>
            <a:ext cx="1828800" cy="201168"/>
          </a:xfrm>
          <a:prstGeom prst="rect">
            <a:avLst/>
          </a:prstGeom>
          <a:noFill/>
          <a:ln/>
        </p:spPr>
        <p:txBody>
          <a:bodyPr wrap="square" lIns="0" tIns="0" rIns="0" bIns="0" rtlCol="0" anchor="t"/>
          <a:lstStyle/>
          <a:p>
            <a:pPr indent="0" marL="0">
              <a:buNone/>
            </a:pPr>
            <a:r>
              <a:rPr lang="en-US" sz="850" spc="350" kern="0" dirty="0">
                <a:solidFill>
                  <a:srgbClr val="FFFFFF"/>
                </a:solidFill>
                <a:latin typeface="Helvetica Neue" pitchFamily="34" charset="0"/>
                <a:ea typeface="Helvetica Neue" pitchFamily="34" charset="-122"/>
                <a:cs typeface="Helvetica Neue" pitchFamily="34" charset="-120"/>
              </a:rPr>
              <a:t>COCKPIT</a:t>
            </a:r>
            <a:endParaRPr lang="en-US" sz="850" dirty="0"/>
          </a:p>
        </p:txBody>
      </p:sp>
      <p:sp>
        <p:nvSpPr>
          <p:cNvPr id="21" name="Text 17"/>
          <p:cNvSpPr txBox="1"/>
          <p:nvPr/>
        </p:nvSpPr>
        <p:spPr>
          <a:xfrm>
            <a:off x="4681728" y="2971800"/>
            <a:ext cx="182880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45–135°</a:t>
            </a:r>
            <a:endParaRPr lang="en-US" sz="2600" dirty="0"/>
          </a:p>
        </p:txBody>
      </p:sp>
      <p:sp>
        <p:nvSpPr>
          <p:cNvPr id="22" name="Text 18"/>
          <p:cNvSpPr txBox="1"/>
          <p:nvPr/>
        </p:nvSpPr>
        <p:spPr>
          <a:xfrm>
            <a:off x="4681728" y="3502152"/>
            <a:ext cx="1828800" cy="502920"/>
          </a:xfrm>
          <a:prstGeom prst="rect">
            <a:avLst/>
          </a:prstGeom>
          <a:noFill/>
          <a:ln/>
        </p:spPr>
        <p:txBody>
          <a:bodyPr wrap="square" lIns="0" tIns="0" rIns="0" bIns="0" rtlCol="0" anchor="t"/>
          <a:lstStyle/>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Windshield above the fold,</a:t>
            </a:r>
            <a:endParaRPr lang="en-US" sz="1050" dirty="0"/>
          </a:p>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console below. Flying.</a:t>
            </a:r>
            <a:endParaRPr lang="en-US" sz="1050" dirty="0"/>
          </a:p>
        </p:txBody>
      </p:sp>
      <p:sp>
        <p:nvSpPr>
          <p:cNvPr id="23" name="Text 19"/>
          <p:cNvSpPr txBox="1"/>
          <p:nvPr/>
        </p:nvSpPr>
        <p:spPr>
          <a:xfrm>
            <a:off x="6693408" y="2404872"/>
            <a:ext cx="18288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FLAT</a:t>
            </a:r>
            <a:endParaRPr lang="en-US" sz="850" dirty="0"/>
          </a:p>
        </p:txBody>
      </p:sp>
      <p:sp>
        <p:nvSpPr>
          <p:cNvPr id="24" name="Text 20"/>
          <p:cNvSpPr txBox="1"/>
          <p:nvPr/>
        </p:nvSpPr>
        <p:spPr>
          <a:xfrm>
            <a:off x="6693408" y="2971800"/>
            <a:ext cx="182880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170–180°</a:t>
            </a:r>
            <a:endParaRPr lang="en-US" sz="2600" dirty="0"/>
          </a:p>
        </p:txBody>
      </p:sp>
      <p:sp>
        <p:nvSpPr>
          <p:cNvPr id="25" name="Text 21"/>
          <p:cNvSpPr txBox="1"/>
          <p:nvPr/>
        </p:nvSpPr>
        <p:spPr>
          <a:xfrm>
            <a:off x="6693408" y="3502152"/>
            <a:ext cx="1828800" cy="502920"/>
          </a:xfrm>
          <a:prstGeom prst="rect">
            <a:avLst/>
          </a:prstGeom>
          <a:noFill/>
          <a:ln/>
        </p:spPr>
        <p:txBody>
          <a:bodyPr wrap="square" lIns="0" tIns="0" rIns="0" bIns="0" rtlCol="0" anchor="t"/>
          <a:lstStyle/>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The whole 7.6" display</a:t>
            </a:r>
            <a:endParaRPr lang="en-US" sz="1050" dirty="0"/>
          </a:p>
          <a:p>
            <a:pPr indent="0" marL="0">
              <a:lnSpc>
                <a:spcPct val="110000"/>
              </a:lnSpc>
              <a:buNone/>
            </a:pPr>
            <a:r>
              <a:rPr lang="en-US" sz="1050" dirty="0">
                <a:solidFill>
                  <a:srgbClr val="B8BDC6"/>
                </a:solidFill>
                <a:latin typeface="Helvetica Neue Light" pitchFamily="34" charset="0"/>
                <a:ea typeface="Helvetica Neue Light" pitchFamily="34" charset="-122"/>
                <a:cs typeface="Helvetica Neue Light" pitchFamily="34" charset="-120"/>
              </a:rPr>
              <a:t>becomes the galaxy map.</a:t>
            </a:r>
            <a:endParaRPr lang="en-US" sz="1050" dirty="0"/>
          </a:p>
        </p:txBody>
      </p:sp>
      <p:sp>
        <p:nvSpPr>
          <p:cNvPr id="26" name="Text 22"/>
          <p:cNvSpPr txBox="1"/>
          <p:nvPr/>
        </p:nvSpPr>
        <p:spPr>
          <a:xfrm>
            <a:off x="548640" y="4224528"/>
            <a:ext cx="54864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135–170° IS OPEN: A WIDER COCKPIT, STILL FLYING</a:t>
            </a:r>
            <a:endParaRPr lang="en-US" sz="700" dirty="0"/>
          </a:p>
        </p:txBody>
      </p:sp>
      <p:sp>
        <p:nvSpPr>
          <p:cNvPr id="27" name="Text 23"/>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28" name="Text 24"/>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03 / 10</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4.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03 — SIX GESTURES, SIX VERBS</a:t>
            </a:r>
            <a:endParaRPr lang="en-US" sz="850" dirty="0"/>
          </a:p>
        </p:txBody>
      </p:sp>
      <p:sp>
        <p:nvSpPr>
          <p:cNvPr id="5" name="Text 1"/>
          <p:cNvSpPr txBox="1"/>
          <p:nvPr/>
        </p:nvSpPr>
        <p:spPr>
          <a:xfrm>
            <a:off x="548640" y="868680"/>
            <a:ext cx="3291840" cy="1280160"/>
          </a:xfrm>
          <a:prstGeom prst="rect">
            <a:avLst/>
          </a:prstGeom>
          <a:noFill/>
          <a:ln/>
        </p:spPr>
        <p:txBody>
          <a:bodyPr wrap="square" lIns="0" tIns="0" rIns="0" bIns="0" rtlCol="0" anchor="t"/>
          <a:lstStyle/>
          <a:p>
            <a:pPr indent="0" marL="0">
              <a:lnSpc>
                <a:spcPct val="95000"/>
              </a:lnSpc>
              <a:buNone/>
            </a:pPr>
            <a:r>
              <a:rPr lang="en-US" sz="4000" dirty="0">
                <a:solidFill>
                  <a:srgbClr val="FFFFFF"/>
                </a:solidFill>
                <a:latin typeface="Helvetica Neue Light" pitchFamily="34" charset="0"/>
                <a:ea typeface="Helvetica Neue Light" pitchFamily="34" charset="-122"/>
                <a:cs typeface="Helvetica Neue Light" pitchFamily="34" charset="-120"/>
              </a:rPr>
              <a:t>Six gestures.</a:t>
            </a:r>
            <a:endParaRPr lang="en-US" sz="4000" dirty="0"/>
          </a:p>
          <a:p>
            <a:pPr indent="0" marL="0">
              <a:lnSpc>
                <a:spcPct val="95000"/>
              </a:lnSpc>
              <a:buNone/>
            </a:pPr>
            <a:r>
              <a:rPr lang="en-US" sz="4000" dirty="0">
                <a:solidFill>
                  <a:srgbClr val="FFFFFF"/>
                </a:solidFill>
                <a:latin typeface="Helvetica Neue Light" pitchFamily="34" charset="0"/>
                <a:ea typeface="Helvetica Neue Light" pitchFamily="34" charset="-122"/>
                <a:cs typeface="Helvetica Neue Light" pitchFamily="34" charset="-120"/>
              </a:rPr>
              <a:t>Six verbs.</a:t>
            </a:r>
            <a:endParaRPr lang="en-US" sz="4000" dirty="0"/>
          </a:p>
        </p:txBody>
      </p:sp>
      <p:sp>
        <p:nvSpPr>
          <p:cNvPr id="6" name="Text 2"/>
          <p:cNvSpPr txBox="1"/>
          <p:nvPr/>
        </p:nvSpPr>
        <p:spPr>
          <a:xfrm>
            <a:off x="548640" y="2377440"/>
            <a:ext cx="2834640" cy="914400"/>
          </a:xfrm>
          <a:prstGeom prst="rect">
            <a:avLst/>
          </a:prstGeom>
          <a:noFill/>
          <a:ln/>
        </p:spPr>
        <p:txBody>
          <a:bodyPr wrap="square" lIns="0" tIns="0" rIns="0" bIns="0" rtlCol="0" anchor="t"/>
          <a:lstStyle/>
          <a:p>
            <a:pPr indent="0" marL="0">
              <a:lnSpc>
                <a:spcPct val="115000"/>
              </a:lnSpc>
              <a:buNone/>
            </a:pPr>
            <a:r>
              <a:rPr lang="en-US" sz="1100" dirty="0">
                <a:solidFill>
                  <a:srgbClr val="B8BDC6"/>
                </a:solidFill>
                <a:latin typeface="Helvetica Neue Light" pitchFamily="34" charset="0"/>
                <a:ea typeface="Helvetica Neue Light" pitchFamily="34" charset="-122"/>
                <a:cs typeface="Helvetica Neue Light" pitchFamily="34" charset="-120"/>
              </a:rPr>
              <a:t>One recogniser: a 2.5-second ring of angle, velocity and time, with hysteresis, so a squeeze never reads as a warp and a hop never reads as a close.</a:t>
            </a:r>
            <a:endParaRPr lang="en-US" sz="1100" dirty="0"/>
          </a:p>
        </p:txBody>
      </p:sp>
      <p:sp>
        <p:nvSpPr>
          <p:cNvPr id="7" name="Text 3"/>
          <p:cNvSpPr txBox="1"/>
          <p:nvPr/>
        </p:nvSpPr>
        <p:spPr>
          <a:xfrm>
            <a:off x="3977640" y="658368"/>
            <a:ext cx="3200400" cy="27432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Close the phone</a:t>
            </a:r>
            <a:endParaRPr lang="en-US" sz="1500" dirty="0"/>
          </a:p>
        </p:txBody>
      </p:sp>
      <p:sp>
        <p:nvSpPr>
          <p:cNvPr id="8" name="Text 4"/>
          <p:cNvSpPr txBox="1"/>
          <p:nvPr/>
        </p:nvSpPr>
        <p:spPr>
          <a:xfrm>
            <a:off x="3977640" y="923544"/>
            <a:ext cx="3200400" cy="182880"/>
          </a:xfrm>
          <a:prstGeom prst="rect">
            <a:avLst/>
          </a:prstGeom>
          <a:noFill/>
          <a:ln/>
        </p:spPr>
        <p:txBody>
          <a:bodyPr wrap="square" lIns="0" tIns="0" rIns="0" bIns="0" rtlCol="0" anchor="t"/>
          <a:lstStyle/>
          <a:p>
            <a:pPr indent="0" marL="0">
              <a:buNone/>
            </a:pPr>
            <a:r>
              <a:rPr lang="en-US" sz="800" dirty="0">
                <a:solidFill>
                  <a:srgbClr val="7C828C"/>
                </a:solidFill>
                <a:latin typeface="Helvetica Neue" pitchFamily="34" charset="0"/>
                <a:ea typeface="Helvetica Neue" pitchFamily="34" charset="-122"/>
                <a:cs typeface="Helvetica Neue" pitchFamily="34" charset="-120"/>
              </a:rPr>
              <a:t>.warpClose · 60–160°/s</a:t>
            </a:r>
            <a:endParaRPr lang="en-US" sz="800" dirty="0"/>
          </a:p>
        </p:txBody>
      </p:sp>
      <p:sp>
        <p:nvSpPr>
          <p:cNvPr id="9" name="Text 5"/>
          <p:cNvSpPr txBox="1"/>
          <p:nvPr/>
        </p:nvSpPr>
        <p:spPr>
          <a:xfrm>
            <a:off x="7269480" y="713232"/>
            <a:ext cx="1325880" cy="201168"/>
          </a:xfrm>
          <a:prstGeom prst="rect">
            <a:avLst/>
          </a:prstGeom>
          <a:noFill/>
          <a:ln/>
        </p:spPr>
        <p:txBody>
          <a:bodyPr wrap="square" lIns="0" tIns="0" rIns="0" bIns="0" rtlCol="0" anchor="t"/>
          <a:lstStyle/>
          <a:p>
            <a:pPr algn="r" indent="0" marL="0">
              <a:buNone/>
            </a:pPr>
            <a:r>
              <a:rPr lang="en-US" sz="1000" spc="350" kern="0" dirty="0">
                <a:solidFill>
                  <a:srgbClr val="FFFFFF"/>
                </a:solidFill>
                <a:latin typeface="Helvetica Neue" pitchFamily="34" charset="0"/>
                <a:ea typeface="Helvetica Neue" pitchFamily="34" charset="-122"/>
                <a:cs typeface="Helvetica Neue" pitchFamily="34" charset="-120"/>
              </a:rPr>
              <a:t>WARP</a:t>
            </a:r>
            <a:endParaRPr lang="en-US" sz="1000" dirty="0"/>
          </a:p>
        </p:txBody>
      </p:sp>
      <p:sp>
        <p:nvSpPr>
          <p:cNvPr id="10" name="Shape 6"/>
          <p:cNvSpPr/>
          <p:nvPr/>
        </p:nvSpPr>
        <p:spPr>
          <a:xfrm>
            <a:off x="3977640" y="1170432"/>
            <a:ext cx="4617720" cy="0"/>
          </a:xfrm>
          <a:prstGeom prst="line">
            <a:avLst/>
          </a:prstGeom>
          <a:noFill/>
          <a:ln w="6350">
            <a:solidFill>
              <a:srgbClr val="2E3137"/>
            </a:solidFill>
            <a:prstDash val="solid"/>
          </a:ln>
        </p:spPr>
      </p:sp>
      <p:sp>
        <p:nvSpPr>
          <p:cNvPr id="11" name="Text 7"/>
          <p:cNvSpPr txBox="1"/>
          <p:nvPr/>
        </p:nvSpPr>
        <p:spPr>
          <a:xfrm>
            <a:off x="3977640" y="1261872"/>
            <a:ext cx="3200400" cy="27432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Squeeze, then snap it open</a:t>
            </a:r>
            <a:endParaRPr lang="en-US" sz="1500" dirty="0"/>
          </a:p>
        </p:txBody>
      </p:sp>
      <p:sp>
        <p:nvSpPr>
          <p:cNvPr id="12" name="Text 8"/>
          <p:cNvSpPr txBox="1"/>
          <p:nvPr/>
        </p:nvSpPr>
        <p:spPr>
          <a:xfrm>
            <a:off x="3977640" y="1527048"/>
            <a:ext cx="3200400" cy="182880"/>
          </a:xfrm>
          <a:prstGeom prst="rect">
            <a:avLst/>
          </a:prstGeom>
          <a:noFill/>
          <a:ln/>
        </p:spPr>
        <p:txBody>
          <a:bodyPr wrap="square" lIns="0" tIns="0" rIns="0" bIns="0" rtlCol="0" anchor="t"/>
          <a:lstStyle/>
          <a:p>
            <a:pPr indent="0" marL="0">
              <a:buNone/>
            </a:pPr>
            <a:r>
              <a:rPr lang="en-US" sz="800" dirty="0">
                <a:solidFill>
                  <a:srgbClr val="7C828C"/>
                </a:solidFill>
                <a:latin typeface="Helvetica Neue" pitchFamily="34" charset="0"/>
                <a:ea typeface="Helvetica Neue" pitchFamily="34" charset="-122"/>
                <a:cs typeface="Helvetica Neue" pitchFamily="34" charset="-120"/>
              </a:rPr>
              <a:t>.squeezeBegan → .snapOpen · &gt; 250°/s</a:t>
            </a:r>
            <a:endParaRPr lang="en-US" sz="800" dirty="0"/>
          </a:p>
        </p:txBody>
      </p:sp>
      <p:sp>
        <p:nvSpPr>
          <p:cNvPr id="13" name="Text 9"/>
          <p:cNvSpPr txBox="1"/>
          <p:nvPr/>
        </p:nvSpPr>
        <p:spPr>
          <a:xfrm>
            <a:off x="7269480" y="1316736"/>
            <a:ext cx="1325880" cy="201168"/>
          </a:xfrm>
          <a:prstGeom prst="rect">
            <a:avLst/>
          </a:prstGeom>
          <a:noFill/>
          <a:ln/>
        </p:spPr>
        <p:txBody>
          <a:bodyPr wrap="square" lIns="0" tIns="0" rIns="0" bIns="0" rtlCol="0" anchor="t"/>
          <a:lstStyle/>
          <a:p>
            <a:pPr algn="r" indent="0" marL="0">
              <a:buNone/>
            </a:pPr>
            <a:r>
              <a:rPr lang="en-US" sz="1000" spc="350" kern="0" dirty="0">
                <a:solidFill>
                  <a:srgbClr val="FFFFFF"/>
                </a:solidFill>
                <a:latin typeface="Helvetica Neue" pitchFamily="34" charset="0"/>
                <a:ea typeface="Helvetica Neue" pitchFamily="34" charset="-122"/>
                <a:cs typeface="Helvetica Neue" pitchFamily="34" charset="-120"/>
              </a:rPr>
              <a:t>FIRE</a:t>
            </a:r>
            <a:endParaRPr lang="en-US" sz="1000" dirty="0"/>
          </a:p>
        </p:txBody>
      </p:sp>
      <p:sp>
        <p:nvSpPr>
          <p:cNvPr id="14" name="Shape 10"/>
          <p:cNvSpPr/>
          <p:nvPr/>
        </p:nvSpPr>
        <p:spPr>
          <a:xfrm>
            <a:off x="3977640" y="1773936"/>
            <a:ext cx="4617720" cy="0"/>
          </a:xfrm>
          <a:prstGeom prst="line">
            <a:avLst/>
          </a:prstGeom>
          <a:noFill/>
          <a:ln w="6350">
            <a:solidFill>
              <a:srgbClr val="2E3137"/>
            </a:solidFill>
            <a:prstDash val="solid"/>
          </a:ln>
        </p:spPr>
      </p:sp>
      <p:sp>
        <p:nvSpPr>
          <p:cNvPr id="15" name="Text 11"/>
          <p:cNvSpPr txBox="1"/>
          <p:nvPr/>
        </p:nvSpPr>
        <p:spPr>
          <a:xfrm>
            <a:off x="3977640" y="1865376"/>
            <a:ext cx="3200400" cy="27432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Dip the lid and bring it back</a:t>
            </a:r>
            <a:endParaRPr lang="en-US" sz="1500" dirty="0"/>
          </a:p>
        </p:txBody>
      </p:sp>
      <p:sp>
        <p:nvSpPr>
          <p:cNvPr id="16" name="Text 12"/>
          <p:cNvSpPr txBox="1"/>
          <p:nvPr/>
        </p:nvSpPr>
        <p:spPr>
          <a:xfrm>
            <a:off x="3977640" y="2130552"/>
            <a:ext cx="3200400" cy="182880"/>
          </a:xfrm>
          <a:prstGeom prst="rect">
            <a:avLst/>
          </a:prstGeom>
          <a:noFill/>
          <a:ln/>
        </p:spPr>
        <p:txBody>
          <a:bodyPr wrap="square" lIns="0" tIns="0" rIns="0" bIns="0" rtlCol="0" anchor="t"/>
          <a:lstStyle/>
          <a:p>
            <a:pPr indent="0" marL="0">
              <a:buNone/>
            </a:pPr>
            <a:r>
              <a:rPr lang="en-US" sz="800" dirty="0">
                <a:solidFill>
                  <a:srgbClr val="7C828C"/>
                </a:solidFill>
                <a:latin typeface="Helvetica Neue" pitchFamily="34" charset="0"/>
                <a:ea typeface="Helvetica Neue" pitchFamily="34" charset="-122"/>
                <a:cs typeface="Helvetica Neue" pitchFamily="34" charset="-120"/>
              </a:rPr>
              <a:t>.hop</a:t>
            </a:r>
            <a:endParaRPr lang="en-US" sz="800" dirty="0"/>
          </a:p>
        </p:txBody>
      </p:sp>
      <p:sp>
        <p:nvSpPr>
          <p:cNvPr id="17" name="Text 13"/>
          <p:cNvSpPr txBox="1"/>
          <p:nvPr/>
        </p:nvSpPr>
        <p:spPr>
          <a:xfrm>
            <a:off x="7269480" y="1920240"/>
            <a:ext cx="1325880" cy="201168"/>
          </a:xfrm>
          <a:prstGeom prst="rect">
            <a:avLst/>
          </a:prstGeom>
          <a:noFill/>
          <a:ln/>
        </p:spPr>
        <p:txBody>
          <a:bodyPr wrap="square" lIns="0" tIns="0" rIns="0" bIns="0" rtlCol="0" anchor="t"/>
          <a:lstStyle/>
          <a:p>
            <a:pPr algn="r" indent="0" marL="0">
              <a:buNone/>
            </a:pPr>
            <a:r>
              <a:rPr lang="en-US" sz="1000" spc="350" kern="0" dirty="0">
                <a:solidFill>
                  <a:srgbClr val="FFFFFF"/>
                </a:solidFill>
                <a:latin typeface="Helvetica Neue" pitchFamily="34" charset="0"/>
                <a:ea typeface="Helvetica Neue" pitchFamily="34" charset="-122"/>
                <a:cs typeface="Helvetica Neue" pitchFamily="34" charset="-120"/>
              </a:rPr>
              <a:t>HOP</a:t>
            </a:r>
            <a:endParaRPr lang="en-US" sz="1000" dirty="0"/>
          </a:p>
        </p:txBody>
      </p:sp>
      <p:sp>
        <p:nvSpPr>
          <p:cNvPr id="18" name="Shape 14"/>
          <p:cNvSpPr/>
          <p:nvPr/>
        </p:nvSpPr>
        <p:spPr>
          <a:xfrm>
            <a:off x="3977640" y="2377440"/>
            <a:ext cx="4617720" cy="0"/>
          </a:xfrm>
          <a:prstGeom prst="line">
            <a:avLst/>
          </a:prstGeom>
          <a:noFill/>
          <a:ln w="6350">
            <a:solidFill>
              <a:srgbClr val="2E3137"/>
            </a:solidFill>
            <a:prstDash val="solid"/>
          </a:ln>
        </p:spPr>
      </p:sp>
      <p:sp>
        <p:nvSpPr>
          <p:cNvPr id="19" name="Text 15"/>
          <p:cNvSpPr txBox="1"/>
          <p:nvPr/>
        </p:nvSpPr>
        <p:spPr>
          <a:xfrm>
            <a:off x="3977640" y="2468880"/>
            <a:ext cx="3200400" cy="27432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Pump it four times, then slam</a:t>
            </a:r>
            <a:endParaRPr lang="en-US" sz="1500" dirty="0"/>
          </a:p>
        </p:txBody>
      </p:sp>
      <p:sp>
        <p:nvSpPr>
          <p:cNvPr id="20" name="Text 16"/>
          <p:cNvSpPr txBox="1"/>
          <p:nvPr/>
        </p:nvSpPr>
        <p:spPr>
          <a:xfrm>
            <a:off x="3977640" y="2734056"/>
            <a:ext cx="3200400" cy="182880"/>
          </a:xfrm>
          <a:prstGeom prst="rect">
            <a:avLst/>
          </a:prstGeom>
          <a:noFill/>
          <a:ln/>
        </p:spPr>
        <p:txBody>
          <a:bodyPr wrap="square" lIns="0" tIns="0" rIns="0" bIns="0" rtlCol="0" anchor="t"/>
          <a:lstStyle/>
          <a:p>
            <a:pPr indent="0" marL="0">
              <a:buNone/>
            </a:pPr>
            <a:r>
              <a:rPr lang="en-US" sz="800" dirty="0">
                <a:solidFill>
                  <a:srgbClr val="7C828C"/>
                </a:solidFill>
                <a:latin typeface="Helvetica Neue" pitchFamily="34" charset="0"/>
                <a:ea typeface="Helvetica Neue" pitchFamily="34" charset="-122"/>
                <a:cs typeface="Helvetica Neue" pitchFamily="34" charset="-120"/>
              </a:rPr>
              <a:t>.pump(count:) → .pumpComplete</a:t>
            </a:r>
            <a:endParaRPr lang="en-US" sz="800" dirty="0"/>
          </a:p>
        </p:txBody>
      </p:sp>
      <p:sp>
        <p:nvSpPr>
          <p:cNvPr id="21" name="Text 17"/>
          <p:cNvSpPr txBox="1"/>
          <p:nvPr/>
        </p:nvSpPr>
        <p:spPr>
          <a:xfrm>
            <a:off x="7269480" y="2523744"/>
            <a:ext cx="1325880" cy="201168"/>
          </a:xfrm>
          <a:prstGeom prst="rect">
            <a:avLst/>
          </a:prstGeom>
          <a:noFill/>
          <a:ln/>
        </p:spPr>
        <p:txBody>
          <a:bodyPr wrap="square" lIns="0" tIns="0" rIns="0" bIns="0" rtlCol="0" anchor="t"/>
          <a:lstStyle/>
          <a:p>
            <a:pPr algn="r" indent="0" marL="0">
              <a:buNone/>
            </a:pPr>
            <a:r>
              <a:rPr lang="en-US" sz="1000" spc="350" kern="0" dirty="0">
                <a:solidFill>
                  <a:srgbClr val="FFFFFF"/>
                </a:solidFill>
                <a:latin typeface="Helvetica Neue" pitchFamily="34" charset="0"/>
                <a:ea typeface="Helvetica Neue" pitchFamily="34" charset="-122"/>
                <a:cs typeface="Helvetica Neue" pitchFamily="34" charset="-120"/>
              </a:rPr>
              <a:t>FOLD CORE</a:t>
            </a:r>
            <a:endParaRPr lang="en-US" sz="1000" dirty="0"/>
          </a:p>
        </p:txBody>
      </p:sp>
      <p:sp>
        <p:nvSpPr>
          <p:cNvPr id="22" name="Shape 18"/>
          <p:cNvSpPr/>
          <p:nvPr/>
        </p:nvSpPr>
        <p:spPr>
          <a:xfrm>
            <a:off x="3977640" y="2980944"/>
            <a:ext cx="4617720" cy="0"/>
          </a:xfrm>
          <a:prstGeom prst="line">
            <a:avLst/>
          </a:prstGeom>
          <a:noFill/>
          <a:ln w="6350">
            <a:solidFill>
              <a:srgbClr val="2E3137"/>
            </a:solidFill>
            <a:prstDash val="solid"/>
          </a:ln>
        </p:spPr>
      </p:sp>
      <p:sp>
        <p:nvSpPr>
          <p:cNvPr id="23" name="Text 19"/>
          <p:cNvSpPr txBox="1"/>
          <p:nvPr/>
        </p:nvSpPr>
        <p:spPr>
          <a:xfrm>
            <a:off x="3977640" y="3072384"/>
            <a:ext cx="3200400" cy="27432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Close slowly near the Sun</a:t>
            </a:r>
            <a:endParaRPr lang="en-US" sz="1500" dirty="0"/>
          </a:p>
        </p:txBody>
      </p:sp>
      <p:sp>
        <p:nvSpPr>
          <p:cNvPr id="24" name="Text 20"/>
          <p:cNvSpPr txBox="1"/>
          <p:nvPr/>
        </p:nvSpPr>
        <p:spPr>
          <a:xfrm>
            <a:off x="3977640" y="3337560"/>
            <a:ext cx="3200400" cy="182880"/>
          </a:xfrm>
          <a:prstGeom prst="rect">
            <a:avLst/>
          </a:prstGeom>
          <a:noFill/>
          <a:ln/>
        </p:spPr>
        <p:txBody>
          <a:bodyPr wrap="square" lIns="0" tIns="0" rIns="0" bIns="0" rtlCol="0" anchor="t"/>
          <a:lstStyle/>
          <a:p>
            <a:pPr indent="0" marL="0">
              <a:buNone/>
            </a:pPr>
            <a:r>
              <a:rPr lang="en-US" sz="800" dirty="0">
                <a:solidFill>
                  <a:srgbClr val="7C828C"/>
                </a:solidFill>
                <a:latin typeface="Helvetica Neue" pitchFamily="34" charset="0"/>
                <a:ea typeface="Helvetica Neue" pitchFamily="34" charset="-122"/>
                <a:cs typeface="Helvetica Neue" pitchFamily="34" charset="-120"/>
              </a:rPr>
              <a:t>continuous angle · depth = fold</a:t>
            </a:r>
            <a:endParaRPr lang="en-US" sz="800" dirty="0"/>
          </a:p>
        </p:txBody>
      </p:sp>
      <p:sp>
        <p:nvSpPr>
          <p:cNvPr id="25" name="Text 21"/>
          <p:cNvSpPr txBox="1"/>
          <p:nvPr/>
        </p:nvSpPr>
        <p:spPr>
          <a:xfrm>
            <a:off x="7269480" y="3127248"/>
            <a:ext cx="1325880" cy="201168"/>
          </a:xfrm>
          <a:prstGeom prst="rect">
            <a:avLst/>
          </a:prstGeom>
          <a:noFill/>
          <a:ln/>
        </p:spPr>
        <p:txBody>
          <a:bodyPr wrap="square" lIns="0" tIns="0" rIns="0" bIns="0" rtlCol="0" anchor="t"/>
          <a:lstStyle/>
          <a:p>
            <a:pPr algn="r" indent="0" marL="0">
              <a:buNone/>
            </a:pPr>
            <a:r>
              <a:rPr lang="en-US" sz="1000" spc="350" kern="0" dirty="0">
                <a:solidFill>
                  <a:srgbClr val="FFFFFF"/>
                </a:solidFill>
                <a:latin typeface="Helvetica Neue" pitchFamily="34" charset="0"/>
                <a:ea typeface="Helvetica Neue" pitchFamily="34" charset="-122"/>
                <a:cs typeface="Helvetica Neue" pitchFamily="34" charset="-120"/>
              </a:rPr>
              <a:t>DIVE</a:t>
            </a:r>
            <a:endParaRPr lang="en-US" sz="1000" dirty="0"/>
          </a:p>
        </p:txBody>
      </p:sp>
      <p:sp>
        <p:nvSpPr>
          <p:cNvPr id="26" name="Shape 22"/>
          <p:cNvSpPr/>
          <p:nvPr/>
        </p:nvSpPr>
        <p:spPr>
          <a:xfrm>
            <a:off x="3977640" y="3584448"/>
            <a:ext cx="4617720" cy="0"/>
          </a:xfrm>
          <a:prstGeom prst="line">
            <a:avLst/>
          </a:prstGeom>
          <a:noFill/>
          <a:ln w="6350">
            <a:solidFill>
              <a:srgbClr val="2E3137"/>
            </a:solidFill>
            <a:prstDash val="solid"/>
          </a:ln>
        </p:spPr>
      </p:sp>
      <p:sp>
        <p:nvSpPr>
          <p:cNvPr id="27" name="Text 23"/>
          <p:cNvSpPr txBox="1"/>
          <p:nvPr/>
        </p:nvSpPr>
        <p:spPr>
          <a:xfrm>
            <a:off x="3977640" y="3675888"/>
            <a:ext cx="3200400" cy="27432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Lay it flat</a:t>
            </a:r>
            <a:endParaRPr lang="en-US" sz="1500" dirty="0"/>
          </a:p>
        </p:txBody>
      </p:sp>
      <p:sp>
        <p:nvSpPr>
          <p:cNvPr id="28" name="Text 24"/>
          <p:cNvSpPr txBox="1"/>
          <p:nvPr/>
        </p:nvSpPr>
        <p:spPr>
          <a:xfrm>
            <a:off x="3977640" y="3941064"/>
            <a:ext cx="3200400" cy="182880"/>
          </a:xfrm>
          <a:prstGeom prst="rect">
            <a:avLst/>
          </a:prstGeom>
          <a:noFill/>
          <a:ln/>
        </p:spPr>
        <p:txBody>
          <a:bodyPr wrap="square" lIns="0" tIns="0" rIns="0" bIns="0" rtlCol="0" anchor="t"/>
          <a:lstStyle/>
          <a:p>
            <a:pPr indent="0" marL="0">
              <a:buNone/>
            </a:pPr>
            <a:r>
              <a:rPr lang="en-US" sz="800" dirty="0">
                <a:solidFill>
                  <a:srgbClr val="7C828C"/>
                </a:solidFill>
                <a:latin typeface="Helvetica Neue" pitchFamily="34" charset="0"/>
                <a:ea typeface="Helvetica Neue" pitchFamily="34" charset="-122"/>
                <a:cs typeface="Helvetica Neue" pitchFamily="34" charset="-120"/>
              </a:rPr>
              <a:t>.laidFlat</a:t>
            </a:r>
            <a:endParaRPr lang="en-US" sz="800" dirty="0"/>
          </a:p>
        </p:txBody>
      </p:sp>
      <p:sp>
        <p:nvSpPr>
          <p:cNvPr id="29" name="Text 25"/>
          <p:cNvSpPr txBox="1"/>
          <p:nvPr/>
        </p:nvSpPr>
        <p:spPr>
          <a:xfrm>
            <a:off x="7269480" y="3730752"/>
            <a:ext cx="1325880" cy="201168"/>
          </a:xfrm>
          <a:prstGeom prst="rect">
            <a:avLst/>
          </a:prstGeom>
          <a:noFill/>
          <a:ln/>
        </p:spPr>
        <p:txBody>
          <a:bodyPr wrap="square" lIns="0" tIns="0" rIns="0" bIns="0" rtlCol="0" anchor="t"/>
          <a:lstStyle/>
          <a:p>
            <a:pPr algn="r" indent="0" marL="0">
              <a:buNone/>
            </a:pPr>
            <a:r>
              <a:rPr lang="en-US" sz="1000" spc="350" kern="0" dirty="0">
                <a:solidFill>
                  <a:srgbClr val="FFFFFF"/>
                </a:solidFill>
                <a:latin typeface="Helvetica Neue" pitchFamily="34" charset="0"/>
                <a:ea typeface="Helvetica Neue" pitchFamily="34" charset="-122"/>
                <a:cs typeface="Helvetica Neue" pitchFamily="34" charset="-120"/>
              </a:rPr>
              <a:t>MAP</a:t>
            </a:r>
            <a:endParaRPr lang="en-US" sz="1000" dirty="0"/>
          </a:p>
        </p:txBody>
      </p:sp>
      <p:sp>
        <p:nvSpPr>
          <p:cNvPr id="30" name="Text 26"/>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31" name="Text 27"/>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04 / 10</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5.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04 — THE HOLOGRAM IN THE FOLD</a:t>
            </a:r>
            <a:endParaRPr lang="en-US" sz="850" dirty="0"/>
          </a:p>
        </p:txBody>
      </p:sp>
      <p:sp>
        <p:nvSpPr>
          <p:cNvPr id="5" name="Text 1"/>
          <p:cNvSpPr txBox="1"/>
          <p:nvPr/>
        </p:nvSpPr>
        <p:spPr>
          <a:xfrm>
            <a:off x="548640" y="868680"/>
            <a:ext cx="3931920" cy="1280160"/>
          </a:xfrm>
          <a:prstGeom prst="rect">
            <a:avLst/>
          </a:prstGeom>
          <a:noFill/>
          <a:ln/>
        </p:spPr>
        <p:txBody>
          <a:bodyPr wrap="square" lIns="0" tIns="0" rIns="0" bIns="0" rtlCol="0" anchor="t"/>
          <a:lstStyle/>
          <a:p>
            <a:pPr indent="0" marL="0">
              <a:lnSpc>
                <a:spcPct val="95000"/>
              </a:lnSpc>
              <a:buNone/>
            </a:pPr>
            <a:r>
              <a:rPr lang="en-US" sz="4000" dirty="0">
                <a:solidFill>
                  <a:srgbClr val="FFFFFF"/>
                </a:solidFill>
                <a:latin typeface="Helvetica Neue Light" pitchFamily="34" charset="0"/>
                <a:ea typeface="Helvetica Neue Light" pitchFamily="34" charset="-122"/>
                <a:cs typeface="Helvetica Neue Light" pitchFamily="34" charset="-120"/>
              </a:rPr>
              <a:t>The planet sits</a:t>
            </a:r>
            <a:endParaRPr lang="en-US" sz="4000" dirty="0"/>
          </a:p>
          <a:p>
            <a:pPr indent="0" marL="0">
              <a:lnSpc>
                <a:spcPct val="95000"/>
              </a:lnSpc>
              <a:buNone/>
            </a:pPr>
            <a:r>
              <a:rPr lang="en-US" sz="4000" dirty="0">
                <a:solidFill>
                  <a:srgbClr val="FFFFFF"/>
                </a:solidFill>
                <a:latin typeface="Helvetica Neue Light" pitchFamily="34" charset="0"/>
                <a:ea typeface="Helvetica Neue Light" pitchFamily="34" charset="-122"/>
                <a:cs typeface="Helvetica Neue Light" pitchFamily="34" charset="-120"/>
              </a:rPr>
              <a:t>in the crease.</a:t>
            </a:r>
            <a:endParaRPr lang="en-US" sz="4000" dirty="0"/>
          </a:p>
        </p:txBody>
      </p:sp>
      <p:sp>
        <p:nvSpPr>
          <p:cNvPr id="6" name="Text 2"/>
          <p:cNvSpPr txBox="1"/>
          <p:nvPr/>
        </p:nvSpPr>
        <p:spPr>
          <a:xfrm>
            <a:off x="548640" y="2395728"/>
            <a:ext cx="3840480" cy="32004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Camera driven by the live hinge angle.</a:t>
            </a:r>
            <a:endParaRPr lang="en-US" sz="1500" dirty="0"/>
          </a:p>
        </p:txBody>
      </p:sp>
      <p:sp>
        <p:nvSpPr>
          <p:cNvPr id="7" name="Text 3"/>
          <p:cNvSpPr txBox="1"/>
          <p:nvPr/>
        </p:nvSpPr>
        <p:spPr>
          <a:xfrm>
            <a:off x="548640" y="2788920"/>
            <a:ext cx="3566160" cy="1005840"/>
          </a:xfrm>
          <a:prstGeom prst="rect">
            <a:avLst/>
          </a:prstGeom>
          <a:noFill/>
          <a:ln/>
        </p:spPr>
        <p:txBody>
          <a:bodyPr wrap="square" lIns="0" tIns="0" rIns="0" bIns="0" rtlCol="0" anchor="t"/>
          <a:lstStyle/>
          <a:p>
            <a:pPr indent="0" marL="0">
              <a:lnSpc>
                <a:spcPct val="115000"/>
              </a:lnSpc>
              <a:buNone/>
            </a:pPr>
            <a:r>
              <a:rPr lang="en-US" sz="1100" dirty="0">
                <a:solidFill>
                  <a:srgbClr val="B8BDC6"/>
                </a:solidFill>
                <a:latin typeface="Helvetica Neue Light" pitchFamily="34" charset="0"/>
                <a:ea typeface="Helvetica Neue Light" pitchFamily="34" charset="-122"/>
                <a:cs typeface="Helvetica Neue Light" pitchFamily="34" charset="-120"/>
              </a:rPr>
              <a:t>One SceneKit scene, one camera; its pitch is the hinge angle, every frame. Open the phone and the planet stays put while the windshield tilts away. Only the probe may cross the fold.</a:t>
            </a:r>
            <a:endParaRPr lang="en-US" sz="1100" dirty="0"/>
          </a:p>
        </p:txBody>
      </p:sp>
      <p:sp>
        <p:nvSpPr>
          <p:cNvPr id="8" name="Text 4"/>
          <p:cNvSpPr txBox="1"/>
          <p:nvPr/>
        </p:nvSpPr>
        <p:spPr>
          <a:xfrm>
            <a:off x="7498080" y="2852928"/>
            <a:ext cx="109728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WINDSHIELD</a:t>
            </a:r>
            <a:endParaRPr lang="en-US" sz="700" dirty="0"/>
          </a:p>
        </p:txBody>
      </p:sp>
      <p:sp>
        <p:nvSpPr>
          <p:cNvPr id="9" name="Text 5"/>
          <p:cNvSpPr txBox="1"/>
          <p:nvPr/>
        </p:nvSpPr>
        <p:spPr>
          <a:xfrm>
            <a:off x="7498080" y="3493008"/>
            <a:ext cx="109728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CONSOLE</a:t>
            </a:r>
            <a:endParaRPr lang="en-US" sz="700" dirty="0"/>
          </a:p>
        </p:txBody>
      </p:sp>
      <p:sp>
        <p:nvSpPr>
          <p:cNvPr id="10" name="Text 6"/>
          <p:cNvSpPr txBox="1"/>
          <p:nvPr/>
        </p:nvSpPr>
        <p:spPr>
          <a:xfrm>
            <a:off x="6583680" y="3145536"/>
            <a:ext cx="2011680" cy="201168"/>
          </a:xfrm>
          <a:prstGeom prst="rect">
            <a:avLst/>
          </a:prstGeom>
          <a:noFill/>
          <a:ln/>
        </p:spPr>
        <p:txBody>
          <a:bodyPr wrap="square" lIns="0" tIns="0" rIns="0" bIns="0" rtlCol="0" anchor="t"/>
          <a:lstStyle/>
          <a:p>
            <a:pPr algn="r" indent="0" marL="0">
              <a:buNone/>
            </a:pPr>
            <a:r>
              <a:rPr lang="en-US" sz="700" spc="350" kern="0" dirty="0">
                <a:solidFill>
                  <a:srgbClr val="3DF2FF"/>
                </a:solidFill>
                <a:latin typeface="Helvetica Neue" pitchFamily="34" charset="0"/>
                <a:ea typeface="Helvetica Neue" pitchFamily="34" charset="-122"/>
                <a:cs typeface="Helvetica Neue" pitchFamily="34" charset="-120"/>
              </a:rPr>
              <a:t>FOLD  ·  .division</a:t>
            </a:r>
            <a:endParaRPr lang="en-US" sz="700" dirty="0"/>
          </a:p>
        </p:txBody>
      </p:sp>
      <p:sp>
        <p:nvSpPr>
          <p:cNvPr id="11" name="Text 7"/>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12" name="Text 8"/>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05 / 10</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6.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05 — FOLD SPACE</a:t>
            </a:r>
            <a:endParaRPr lang="en-US" sz="850" dirty="0"/>
          </a:p>
        </p:txBody>
      </p:sp>
      <p:sp>
        <p:nvSpPr>
          <p:cNvPr id="5" name="Text 1"/>
          <p:cNvSpPr txBox="1"/>
          <p:nvPr/>
        </p:nvSpPr>
        <p:spPr>
          <a:xfrm>
            <a:off x="548640" y="868680"/>
            <a:ext cx="4114800" cy="777240"/>
          </a:xfrm>
          <a:prstGeom prst="rect">
            <a:avLst/>
          </a:prstGeom>
          <a:noFill/>
          <a:ln/>
        </p:spPr>
        <p:txBody>
          <a:bodyPr wrap="square" lIns="0" tIns="0" rIns="0" bIns="0" rtlCol="0" anchor="t"/>
          <a:lstStyle/>
          <a:p>
            <a:pPr indent="0" marL="0">
              <a:buNone/>
            </a:pPr>
            <a:r>
              <a:rPr lang="en-US" sz="4800" dirty="0">
                <a:solidFill>
                  <a:srgbClr val="FFFFFF"/>
                </a:solidFill>
                <a:latin typeface="Helvetica Neue Light" pitchFamily="34" charset="0"/>
                <a:ea typeface="Helvetica Neue Light" pitchFamily="34" charset="-122"/>
                <a:cs typeface="Helvetica Neue Light" pitchFamily="34" charset="-120"/>
              </a:rPr>
              <a:t>Fold space.</a:t>
            </a:r>
            <a:endParaRPr lang="en-US" sz="4800" dirty="0"/>
          </a:p>
        </p:txBody>
      </p:sp>
      <p:sp>
        <p:nvSpPr>
          <p:cNvPr id="6" name="Text 2"/>
          <p:cNvSpPr txBox="1"/>
          <p:nvPr/>
        </p:nvSpPr>
        <p:spPr>
          <a:xfrm>
            <a:off x="548640" y="1783080"/>
            <a:ext cx="3383280" cy="685800"/>
          </a:xfrm>
          <a:prstGeom prst="rect">
            <a:avLst/>
          </a:prstGeom>
          <a:noFill/>
          <a:ln/>
        </p:spPr>
        <p:txBody>
          <a:bodyPr wrap="square" lIns="0" tIns="0" rIns="0" bIns="0" rtlCol="0" anchor="t"/>
          <a:lstStyle/>
          <a:p>
            <a:pPr indent="0" marL="0">
              <a:lnSpc>
                <a:spcPct val="115000"/>
              </a:lnSpc>
              <a:buNone/>
            </a:pPr>
            <a:r>
              <a:rPr lang="en-US" sz="1300" dirty="0">
                <a:solidFill>
                  <a:srgbClr val="B8BDC6"/>
                </a:solidFill>
                <a:latin typeface="Helvetica Neue Light" pitchFamily="34" charset="0"/>
                <a:ea typeface="Helvetica Neue Light" pitchFamily="34" charset="-122"/>
                <a:cs typeface="Helvetica Neue Light" pitchFamily="34" charset="-120"/>
              </a:rPr>
              <a:t>Alcubierre, taken literally: contract space ahead, expand it behind, ride the bubble in the crease.</a:t>
            </a:r>
            <a:endParaRPr lang="en-US" sz="1300" dirty="0"/>
          </a:p>
        </p:txBody>
      </p:sp>
      <p:sp>
        <p:nvSpPr>
          <p:cNvPr id="7" name="Text 3"/>
          <p:cNvSpPr txBox="1"/>
          <p:nvPr/>
        </p:nvSpPr>
        <p:spPr>
          <a:xfrm>
            <a:off x="548640" y="2697480"/>
            <a:ext cx="36576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BUBBLE STABILITY = CLOSE SPEED</a:t>
            </a:r>
            <a:endParaRPr lang="en-US" sz="850" dirty="0"/>
          </a:p>
        </p:txBody>
      </p:sp>
      <p:sp>
        <p:nvSpPr>
          <p:cNvPr id="8" name="Text 4"/>
          <p:cNvSpPr txBox="1"/>
          <p:nvPr/>
        </p:nvSpPr>
        <p:spPr>
          <a:xfrm>
            <a:off x="548640" y="2944368"/>
            <a:ext cx="1097280" cy="320040"/>
          </a:xfrm>
          <a:prstGeom prst="rect">
            <a:avLst/>
          </a:prstGeom>
          <a:noFill/>
          <a:ln/>
        </p:spPr>
        <p:txBody>
          <a:bodyPr wrap="square" lIns="0" tIns="0" rIns="0" bIns="0" rtlCol="0" anchor="t"/>
          <a:lstStyle/>
          <a:p>
            <a:pPr indent="0" marL="0">
              <a:buNone/>
            </a:pPr>
            <a:r>
              <a:rPr lang="en-US" sz="1500" dirty="0">
                <a:solidFill>
                  <a:srgbClr val="B8BDC6"/>
                </a:solidFill>
                <a:latin typeface="Helvetica Neue Light" pitchFamily="34" charset="0"/>
                <a:ea typeface="Helvetica Neue Light" pitchFamily="34" charset="-122"/>
                <a:cs typeface="Helvetica Neue Light" pitchFamily="34" charset="-120"/>
              </a:rPr>
              <a:t>&lt; 60°/s</a:t>
            </a:r>
            <a:endParaRPr lang="en-US" sz="1500" dirty="0"/>
          </a:p>
        </p:txBody>
      </p:sp>
      <p:sp>
        <p:nvSpPr>
          <p:cNvPr id="9" name="Text 5"/>
          <p:cNvSpPr txBox="1"/>
          <p:nvPr/>
        </p:nvSpPr>
        <p:spPr>
          <a:xfrm>
            <a:off x="548640" y="3273552"/>
            <a:ext cx="109728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CRAWL</a:t>
            </a:r>
            <a:endParaRPr lang="en-US" sz="700" dirty="0"/>
          </a:p>
        </p:txBody>
      </p:sp>
      <p:sp>
        <p:nvSpPr>
          <p:cNvPr id="10" name="Text 6"/>
          <p:cNvSpPr txBox="1"/>
          <p:nvPr/>
        </p:nvSpPr>
        <p:spPr>
          <a:xfrm>
            <a:off x="1691640" y="2944368"/>
            <a:ext cx="1097280" cy="320040"/>
          </a:xfrm>
          <a:prstGeom prst="rect">
            <a:avLst/>
          </a:prstGeom>
          <a:noFill/>
          <a:ln/>
        </p:spPr>
        <p:txBody>
          <a:bodyPr wrap="square" lIns="0" tIns="0" rIns="0" bIns="0" rtlCol="0" anchor="t"/>
          <a:lstStyle/>
          <a:p>
            <a:pPr indent="0" marL="0">
              <a:buNone/>
            </a:pPr>
            <a:r>
              <a:rPr lang="en-US" sz="1500" dirty="0">
                <a:solidFill>
                  <a:srgbClr val="FFFFFF"/>
                </a:solidFill>
                <a:latin typeface="Helvetica Neue Light" pitchFamily="34" charset="0"/>
                <a:ea typeface="Helvetica Neue Light" pitchFamily="34" charset="-122"/>
                <a:cs typeface="Helvetica Neue Light" pitchFamily="34" charset="-120"/>
              </a:rPr>
              <a:t>60–160°/s</a:t>
            </a:r>
            <a:endParaRPr lang="en-US" sz="1500" dirty="0"/>
          </a:p>
        </p:txBody>
      </p:sp>
      <p:sp>
        <p:nvSpPr>
          <p:cNvPr id="11" name="Text 7"/>
          <p:cNvSpPr txBox="1"/>
          <p:nvPr/>
        </p:nvSpPr>
        <p:spPr>
          <a:xfrm>
            <a:off x="1691640" y="3273552"/>
            <a:ext cx="1097280" cy="201168"/>
          </a:xfrm>
          <a:prstGeom prst="rect">
            <a:avLst/>
          </a:prstGeom>
          <a:noFill/>
          <a:ln/>
        </p:spPr>
        <p:txBody>
          <a:bodyPr wrap="square" lIns="0" tIns="0" rIns="0" bIns="0" rtlCol="0" anchor="t"/>
          <a:lstStyle/>
          <a:p>
            <a:pPr indent="0" marL="0">
              <a:buNone/>
            </a:pPr>
            <a:r>
              <a:rPr lang="en-US" sz="700" spc="350" kern="0" dirty="0">
                <a:solidFill>
                  <a:srgbClr val="3DF2FF"/>
                </a:solidFill>
                <a:latin typeface="Helvetica Neue" pitchFamily="34" charset="0"/>
                <a:ea typeface="Helvetica Neue" pitchFamily="34" charset="-122"/>
                <a:cs typeface="Helvetica Neue" pitchFamily="34" charset="-120"/>
              </a:rPr>
              <a:t>STABLE</a:t>
            </a:r>
            <a:endParaRPr lang="en-US" sz="700" dirty="0"/>
          </a:p>
        </p:txBody>
      </p:sp>
      <p:sp>
        <p:nvSpPr>
          <p:cNvPr id="12" name="Text 8"/>
          <p:cNvSpPr txBox="1"/>
          <p:nvPr/>
        </p:nvSpPr>
        <p:spPr>
          <a:xfrm>
            <a:off x="2834640" y="2944368"/>
            <a:ext cx="1097280" cy="320040"/>
          </a:xfrm>
          <a:prstGeom prst="rect">
            <a:avLst/>
          </a:prstGeom>
          <a:noFill/>
          <a:ln/>
        </p:spPr>
        <p:txBody>
          <a:bodyPr wrap="square" lIns="0" tIns="0" rIns="0" bIns="0" rtlCol="0" anchor="t"/>
          <a:lstStyle/>
          <a:p>
            <a:pPr indent="0" marL="0">
              <a:buNone/>
            </a:pPr>
            <a:r>
              <a:rPr lang="en-US" sz="1500" dirty="0">
                <a:solidFill>
                  <a:srgbClr val="B8BDC6"/>
                </a:solidFill>
                <a:latin typeface="Helvetica Neue Light" pitchFamily="34" charset="0"/>
                <a:ea typeface="Helvetica Neue Light" pitchFamily="34" charset="-122"/>
                <a:cs typeface="Helvetica Neue Light" pitchFamily="34" charset="-120"/>
              </a:rPr>
              <a:t>&gt; 160°/s</a:t>
            </a:r>
            <a:endParaRPr lang="en-US" sz="1500" dirty="0"/>
          </a:p>
        </p:txBody>
      </p:sp>
      <p:sp>
        <p:nvSpPr>
          <p:cNvPr id="13" name="Text 9"/>
          <p:cNvSpPr txBox="1"/>
          <p:nvPr/>
        </p:nvSpPr>
        <p:spPr>
          <a:xfrm>
            <a:off x="2834640" y="3273552"/>
            <a:ext cx="109728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SLAM</a:t>
            </a:r>
            <a:endParaRPr lang="en-US" sz="700" dirty="0"/>
          </a:p>
        </p:txBody>
      </p:sp>
      <p:sp>
        <p:nvSpPr>
          <p:cNvPr id="14" name="Text 10"/>
          <p:cNvSpPr txBox="1"/>
          <p:nvPr/>
        </p:nvSpPr>
        <p:spPr>
          <a:xfrm>
            <a:off x="548640" y="3822192"/>
            <a:ext cx="36576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OUTER DISPLAY, IN TRANSIT</a:t>
            </a:r>
            <a:endParaRPr lang="en-US" sz="850" dirty="0"/>
          </a:p>
        </p:txBody>
      </p:sp>
      <p:sp>
        <p:nvSpPr>
          <p:cNvPr id="15" name="Text 11"/>
          <p:cNvSpPr txBox="1"/>
          <p:nvPr/>
        </p:nvSpPr>
        <p:spPr>
          <a:xfrm>
            <a:off x="548640" y="4050792"/>
            <a:ext cx="4754880" cy="365760"/>
          </a:xfrm>
          <a:prstGeom prst="rect">
            <a:avLst/>
          </a:prstGeom>
          <a:noFill/>
          <a:ln/>
        </p:spPr>
        <p:txBody>
          <a:bodyPr wrap="square" lIns="0" tIns="0" rIns="0" bIns="0" rtlCol="0" anchor="t"/>
          <a:lstStyle/>
          <a:p>
            <a:pPr indent="0" marL="0">
              <a:buNone/>
            </a:pPr>
            <a:r>
              <a:rPr lang="en-US" sz="1700" spc="250" kern="0" dirty="0">
                <a:solidFill>
                  <a:srgbClr val="FFFFFF"/>
                </a:solidFill>
                <a:latin typeface="Helvetica Neue Light" pitchFamily="34" charset="0"/>
                <a:ea typeface="Helvetica Neue Light" pitchFamily="34" charset="-122"/>
                <a:cs typeface="Helvetica Neue Light" pitchFamily="34" charset="-120"/>
              </a:rPr>
              <a:t>FOLDING SPACE  ·  4.24 ly</a:t>
            </a:r>
            <a:endParaRPr lang="en-US" sz="1700" dirty="0"/>
          </a:p>
        </p:txBody>
      </p:sp>
      <p:sp>
        <p:nvSpPr>
          <p:cNvPr id="16" name="Text 12"/>
          <p:cNvSpPr txBox="1"/>
          <p:nvPr/>
        </p:nvSpPr>
        <p:spPr>
          <a:xfrm>
            <a:off x="5897880" y="1097280"/>
            <a:ext cx="2377440" cy="201168"/>
          </a:xfrm>
          <a:prstGeom prst="rect">
            <a:avLst/>
          </a:prstGeom>
          <a:noFill/>
          <a:ln/>
        </p:spPr>
        <p:txBody>
          <a:bodyPr wrap="square" lIns="0" tIns="0" rIns="0" bIns="0" rtlCol="0" anchor="t"/>
          <a:lstStyle/>
          <a:p>
            <a:pPr indent="0" marL="0">
              <a:buNone/>
            </a:pPr>
            <a:r>
              <a:rPr lang="en-US" sz="750" spc="350" kern="0" dirty="0">
                <a:solidFill>
                  <a:srgbClr val="B8BDC6"/>
                </a:solidFill>
                <a:latin typeface="Helvetica Neue" pitchFamily="34" charset="0"/>
                <a:ea typeface="Helvetica Neue" pitchFamily="34" charset="-122"/>
                <a:cs typeface="Helvetica Neue" pitchFamily="34" charset="-120"/>
              </a:rPr>
              <a:t>BEHIND — SPACE EXPANDS</a:t>
            </a:r>
            <a:endParaRPr lang="en-US" sz="750" dirty="0"/>
          </a:p>
        </p:txBody>
      </p:sp>
      <p:sp>
        <p:nvSpPr>
          <p:cNvPr id="17" name="Text 13"/>
          <p:cNvSpPr txBox="1"/>
          <p:nvPr/>
        </p:nvSpPr>
        <p:spPr>
          <a:xfrm>
            <a:off x="6583680" y="3767328"/>
            <a:ext cx="2377440" cy="201168"/>
          </a:xfrm>
          <a:prstGeom prst="rect">
            <a:avLst/>
          </a:prstGeom>
          <a:noFill/>
          <a:ln/>
        </p:spPr>
        <p:txBody>
          <a:bodyPr wrap="square" lIns="0" tIns="0" rIns="0" bIns="0" rtlCol="0" anchor="t"/>
          <a:lstStyle/>
          <a:p>
            <a:pPr algn="r" indent="0" marL="0">
              <a:buNone/>
            </a:pPr>
            <a:r>
              <a:rPr lang="en-US" sz="750" spc="350" kern="0" dirty="0">
                <a:solidFill>
                  <a:srgbClr val="B8BDC6"/>
                </a:solidFill>
                <a:latin typeface="Helvetica Neue" pitchFamily="34" charset="0"/>
                <a:ea typeface="Helvetica Neue" pitchFamily="34" charset="-122"/>
                <a:cs typeface="Helvetica Neue" pitchFamily="34" charset="-120"/>
              </a:rPr>
              <a:t>AHEAD — SPACE CONTRACTS</a:t>
            </a:r>
            <a:endParaRPr lang="en-US" sz="750" dirty="0"/>
          </a:p>
        </p:txBody>
      </p:sp>
      <p:sp>
        <p:nvSpPr>
          <p:cNvPr id="18" name="Text 14"/>
          <p:cNvSpPr txBox="1"/>
          <p:nvPr/>
        </p:nvSpPr>
        <p:spPr>
          <a:xfrm>
            <a:off x="6766560" y="4498848"/>
            <a:ext cx="1828800" cy="201168"/>
          </a:xfrm>
          <a:prstGeom prst="rect">
            <a:avLst/>
          </a:prstGeom>
          <a:noFill/>
          <a:ln/>
        </p:spPr>
        <p:txBody>
          <a:bodyPr wrap="square" lIns="0" tIns="0" rIns="0" bIns="0" rtlCol="0" anchor="t"/>
          <a:lstStyle/>
          <a:p>
            <a:pPr algn="r" indent="0" marL="0">
              <a:buNone/>
            </a:pPr>
            <a:r>
              <a:rPr lang="en-US" sz="650" spc="350" kern="0" dirty="0">
                <a:solidFill>
                  <a:srgbClr val="7C828C"/>
                </a:solidFill>
                <a:latin typeface="Helvetica Neue" pitchFamily="34" charset="0"/>
                <a:ea typeface="Helvetica Neue" pitchFamily="34" charset="-122"/>
                <a:cs typeface="Helvetica Neue" pitchFamily="34" charset="-120"/>
              </a:rPr>
              <a:t>YORK TIME θ, v → +x</a:t>
            </a:r>
            <a:endParaRPr lang="en-US" sz="650" dirty="0"/>
          </a:p>
        </p:txBody>
      </p:sp>
      <p:sp>
        <p:nvSpPr>
          <p:cNvPr id="19" name="Text 15"/>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20" name="Text 16"/>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06 / 10</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7.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06 — DIVE INTO THE SUN  ·  NOVA LANCE</a:t>
            </a:r>
            <a:endParaRPr lang="en-US" sz="850" dirty="0"/>
          </a:p>
        </p:txBody>
      </p:sp>
      <p:sp>
        <p:nvSpPr>
          <p:cNvPr id="5" name="Text 1"/>
          <p:cNvSpPr txBox="1"/>
          <p:nvPr/>
        </p:nvSpPr>
        <p:spPr>
          <a:xfrm>
            <a:off x="548640" y="868680"/>
            <a:ext cx="4114800" cy="685800"/>
          </a:xfrm>
          <a:prstGeom prst="rect">
            <a:avLst/>
          </a:prstGeom>
          <a:noFill/>
          <a:ln/>
        </p:spPr>
        <p:txBody>
          <a:bodyPr wrap="square" lIns="0" tIns="0" rIns="0" bIns="0" rtlCol="0" anchor="t"/>
          <a:lstStyle/>
          <a:p>
            <a:pPr indent="0" marL="0">
              <a:buNone/>
            </a:pPr>
            <a:r>
              <a:rPr lang="en-US" sz="4000" dirty="0">
                <a:solidFill>
                  <a:srgbClr val="FFFFFF"/>
                </a:solidFill>
                <a:latin typeface="Helvetica Neue Light" pitchFamily="34" charset="0"/>
                <a:ea typeface="Helvetica Neue Light" pitchFamily="34" charset="-122"/>
                <a:cs typeface="Helvetica Neue Light" pitchFamily="34" charset="-120"/>
              </a:rPr>
              <a:t>Dive into the Sun.</a:t>
            </a:r>
            <a:endParaRPr lang="en-US" sz="4000" dirty="0"/>
          </a:p>
        </p:txBody>
      </p:sp>
      <p:sp>
        <p:nvSpPr>
          <p:cNvPr id="6" name="Text 2"/>
          <p:cNvSpPr txBox="1"/>
          <p:nvPr/>
        </p:nvSpPr>
        <p:spPr>
          <a:xfrm>
            <a:off x="548640" y="1892808"/>
            <a:ext cx="146304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CORONA</a:t>
            </a:r>
            <a:endParaRPr lang="en-US" sz="850" dirty="0"/>
          </a:p>
        </p:txBody>
      </p:sp>
      <p:sp>
        <p:nvSpPr>
          <p:cNvPr id="7" name="Text 3"/>
          <p:cNvSpPr txBox="1"/>
          <p:nvPr/>
        </p:nvSpPr>
        <p:spPr>
          <a:xfrm>
            <a:off x="2148840" y="1783080"/>
            <a:ext cx="237744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~1,000,000 K</a:t>
            </a:r>
            <a:endParaRPr lang="en-US" sz="2600" dirty="0"/>
          </a:p>
        </p:txBody>
      </p:sp>
      <p:sp>
        <p:nvSpPr>
          <p:cNvPr id="8" name="Text 4"/>
          <p:cNvSpPr txBox="1"/>
          <p:nvPr/>
        </p:nvSpPr>
        <p:spPr>
          <a:xfrm>
            <a:off x="548640" y="2368296"/>
            <a:ext cx="146304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PHOTOSPHERE</a:t>
            </a:r>
            <a:endParaRPr lang="en-US" sz="850" dirty="0"/>
          </a:p>
        </p:txBody>
      </p:sp>
      <p:sp>
        <p:nvSpPr>
          <p:cNvPr id="9" name="Text 5"/>
          <p:cNvSpPr txBox="1"/>
          <p:nvPr/>
        </p:nvSpPr>
        <p:spPr>
          <a:xfrm>
            <a:off x="2148840" y="2258568"/>
            <a:ext cx="237744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5,800 K</a:t>
            </a:r>
            <a:endParaRPr lang="en-US" sz="2600" dirty="0"/>
          </a:p>
        </p:txBody>
      </p:sp>
      <p:sp>
        <p:nvSpPr>
          <p:cNvPr id="10" name="Text 6"/>
          <p:cNvSpPr txBox="1"/>
          <p:nvPr/>
        </p:nvSpPr>
        <p:spPr>
          <a:xfrm>
            <a:off x="548640" y="2843784"/>
            <a:ext cx="146304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CORE</a:t>
            </a:r>
            <a:endParaRPr lang="en-US" sz="850" dirty="0"/>
          </a:p>
        </p:txBody>
      </p:sp>
      <p:sp>
        <p:nvSpPr>
          <p:cNvPr id="11" name="Text 7"/>
          <p:cNvSpPr txBox="1"/>
          <p:nvPr/>
        </p:nvSpPr>
        <p:spPr>
          <a:xfrm>
            <a:off x="2148840" y="2734056"/>
            <a:ext cx="2377440" cy="41148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15,000,000 K</a:t>
            </a:r>
            <a:endParaRPr lang="en-US" sz="2600" dirty="0"/>
          </a:p>
        </p:txBody>
      </p:sp>
      <p:sp>
        <p:nvSpPr>
          <p:cNvPr id="12" name="Text 8"/>
          <p:cNvSpPr txBox="1"/>
          <p:nvPr/>
        </p:nvSpPr>
        <p:spPr>
          <a:xfrm>
            <a:off x="548640" y="3291840"/>
            <a:ext cx="3566160" cy="548640"/>
          </a:xfrm>
          <a:prstGeom prst="rect">
            <a:avLst/>
          </a:prstGeom>
          <a:noFill/>
          <a:ln/>
        </p:spPr>
        <p:txBody>
          <a:bodyPr wrap="square" lIns="0" tIns="0" rIns="0" bIns="0" rtlCol="0" anchor="t"/>
          <a:lstStyle/>
          <a:p>
            <a:pPr indent="0" marL="0">
              <a:lnSpc>
                <a:spcPct val="115000"/>
              </a:lnSpc>
              <a:buNone/>
            </a:pPr>
            <a:r>
              <a:rPr lang="en-US" sz="1100" dirty="0">
                <a:solidFill>
                  <a:srgbClr val="B8BDC6"/>
                </a:solidFill>
                <a:latin typeface="Helvetica Neue Light" pitchFamily="34" charset="0"/>
                <a:ea typeface="Helvetica Neue Light" pitchFamily="34" charset="-122"/>
                <a:cs typeface="Helvetica Neue Light" pitchFamily="34" charset="-120"/>
              </a:rPr>
              <a:t>Depth is fold amount. Close slowly and the temperature climbs; open to climb out. The core sample unlocks the Nova Lance.</a:t>
            </a:r>
            <a:endParaRPr lang="en-US" sz="1100" dirty="0"/>
          </a:p>
        </p:txBody>
      </p:sp>
      <p:sp>
        <p:nvSpPr>
          <p:cNvPr id="13" name="Text 9"/>
          <p:cNvSpPr txBox="1"/>
          <p:nvPr/>
        </p:nvSpPr>
        <p:spPr>
          <a:xfrm>
            <a:off x="548640" y="3977640"/>
            <a:ext cx="1828800" cy="201168"/>
          </a:xfrm>
          <a:prstGeom prst="rect">
            <a:avLst/>
          </a:prstGeom>
          <a:noFill/>
          <a:ln/>
        </p:spPr>
        <p:txBody>
          <a:bodyPr wrap="square" lIns="0" tIns="0" rIns="0" bIns="0" rtlCol="0" anchor="t"/>
          <a:lstStyle/>
          <a:p>
            <a:pPr indent="0" marL="0">
              <a:buNone/>
            </a:pPr>
            <a:r>
              <a:rPr lang="en-US" sz="850" spc="350" kern="0" dirty="0">
                <a:solidFill>
                  <a:srgbClr val="FFFFFF"/>
                </a:solidFill>
                <a:latin typeface="Helvetica Neue" pitchFamily="34" charset="0"/>
                <a:ea typeface="Helvetica Neue" pitchFamily="34" charset="-122"/>
                <a:cs typeface="Helvetica Neue" pitchFamily="34" charset="-120"/>
              </a:rPr>
              <a:t>NOVA LANCE</a:t>
            </a:r>
            <a:endParaRPr lang="en-US" sz="850" dirty="0"/>
          </a:p>
        </p:txBody>
      </p:sp>
      <p:sp>
        <p:nvSpPr>
          <p:cNvPr id="14" name="Text 10"/>
          <p:cNvSpPr txBox="1"/>
          <p:nvPr/>
        </p:nvSpPr>
        <p:spPr>
          <a:xfrm>
            <a:off x="548640" y="4187952"/>
            <a:ext cx="3657600" cy="411480"/>
          </a:xfrm>
          <a:prstGeom prst="rect">
            <a:avLst/>
          </a:prstGeom>
          <a:noFill/>
          <a:ln/>
        </p:spPr>
        <p:txBody>
          <a:bodyPr wrap="square" lIns="0" tIns="0" rIns="0" bIns="0" rtlCol="0" anchor="t"/>
          <a:lstStyle/>
          <a:p>
            <a:pPr indent="0" marL="0">
              <a:buNone/>
            </a:pPr>
            <a:r>
              <a:rPr lang="en-US" sz="1100" dirty="0">
                <a:solidFill>
                  <a:srgbClr val="B8BDC6"/>
                </a:solidFill>
                <a:latin typeface="Helvetica Neue Light" pitchFamily="34" charset="0"/>
                <a:ea typeface="Helvetica Neue Light" pitchFamily="34" charset="-122"/>
                <a:cs typeface="Helvetica Neue Light" pitchFamily="34" charset="-120"/>
              </a:rPr>
              <a:t>Squeeze and hold: the crease glows. Snap it open: the planet shatters in the corner.</a:t>
            </a:r>
            <a:endParaRPr lang="en-US" sz="1100" dirty="0"/>
          </a:p>
        </p:txBody>
      </p:sp>
      <p:sp>
        <p:nvSpPr>
          <p:cNvPr id="15" name="Text 11"/>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16" name="Text 12"/>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07 / 10</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8.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411480"/>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07 — THE CORE</a:t>
            </a:r>
            <a:endParaRPr lang="en-US" sz="850" dirty="0"/>
          </a:p>
        </p:txBody>
      </p:sp>
      <p:sp>
        <p:nvSpPr>
          <p:cNvPr id="5" name="Text 1"/>
          <p:cNvSpPr txBox="1"/>
          <p:nvPr/>
        </p:nvSpPr>
        <p:spPr>
          <a:xfrm>
            <a:off x="548640" y="3529584"/>
            <a:ext cx="3657600" cy="457200"/>
          </a:xfrm>
          <a:prstGeom prst="rect">
            <a:avLst/>
          </a:prstGeom>
          <a:noFill/>
          <a:ln/>
        </p:spPr>
        <p:txBody>
          <a:bodyPr wrap="square" lIns="0" tIns="0" rIns="0" bIns="0" rtlCol="0" anchor="t"/>
          <a:lstStyle/>
          <a:p>
            <a:pPr indent="0" marL="0">
              <a:buNone/>
            </a:pPr>
            <a:r>
              <a:rPr lang="en-US" sz="2600" dirty="0">
                <a:solidFill>
                  <a:srgbClr val="FFFFFF"/>
                </a:solidFill>
                <a:latin typeface="Helvetica Neue Light" pitchFamily="34" charset="0"/>
                <a:ea typeface="Helvetica Neue Light" pitchFamily="34" charset="-122"/>
                <a:cs typeface="Helvetica Neue Light" pitchFamily="34" charset="-120"/>
              </a:rPr>
              <a:t>Sagittarius A*</a:t>
            </a:r>
            <a:endParaRPr lang="en-US" sz="2600" dirty="0"/>
          </a:p>
        </p:txBody>
      </p:sp>
      <p:sp>
        <p:nvSpPr>
          <p:cNvPr id="6" name="Text 2"/>
          <p:cNvSpPr txBox="1"/>
          <p:nvPr/>
        </p:nvSpPr>
        <p:spPr>
          <a:xfrm>
            <a:off x="548640" y="3986784"/>
            <a:ext cx="1691640" cy="201168"/>
          </a:xfrm>
          <a:prstGeom prst="rect">
            <a:avLst/>
          </a:prstGeom>
          <a:noFill/>
          <a:ln/>
        </p:spPr>
        <p:txBody>
          <a:bodyPr wrap="square" lIns="0" tIns="0" rIns="0" bIns="0" rtlCol="0" anchor="t"/>
          <a:lstStyle/>
          <a:p>
            <a:pPr indent="0" marL="0">
              <a:buNone/>
            </a:pPr>
            <a:r>
              <a:rPr lang="en-US" sz="650" spc="250" kern="0" dirty="0">
                <a:solidFill>
                  <a:srgbClr val="B8BDC6"/>
                </a:solidFill>
                <a:latin typeface="Helvetica Neue" pitchFamily="34" charset="0"/>
                <a:ea typeface="Helvetica Neue" pitchFamily="34" charset="-122"/>
                <a:cs typeface="Helvetica Neue" pitchFamily="34" charset="-120"/>
              </a:rPr>
              <a:t>PHOTON RING</a:t>
            </a:r>
            <a:endParaRPr lang="en-US" sz="650" dirty="0"/>
          </a:p>
        </p:txBody>
      </p:sp>
      <p:sp>
        <p:nvSpPr>
          <p:cNvPr id="7" name="Text 3"/>
          <p:cNvSpPr txBox="1"/>
          <p:nvPr/>
        </p:nvSpPr>
        <p:spPr>
          <a:xfrm>
            <a:off x="548640" y="4114800"/>
            <a:ext cx="1691640" cy="182880"/>
          </a:xfrm>
          <a:prstGeom prst="rect">
            <a:avLst/>
          </a:prstGeom>
          <a:noFill/>
          <a:ln/>
        </p:spPr>
        <p:txBody>
          <a:bodyPr wrap="square" lIns="0" tIns="0" rIns="0" bIns="0" rtlCol="0" anchor="t"/>
          <a:lstStyle/>
          <a:p>
            <a:pPr indent="0" marL="0">
              <a:buNone/>
            </a:pPr>
            <a:r>
              <a:rPr lang="en-US" sz="900" dirty="0">
                <a:solidFill>
                  <a:srgbClr val="B8BDC6"/>
                </a:solidFill>
                <a:latin typeface="Helvetica Neue Light" pitchFamily="34" charset="0"/>
                <a:ea typeface="Helvetica Neue Light" pitchFamily="34" charset="-122"/>
                <a:cs typeface="Helvetica Neue Light" pitchFamily="34" charset="-120"/>
              </a:rPr>
              <a:t>1.5 r_s</a:t>
            </a:r>
            <a:endParaRPr lang="en-US" sz="900" dirty="0"/>
          </a:p>
        </p:txBody>
      </p:sp>
      <p:sp>
        <p:nvSpPr>
          <p:cNvPr id="8" name="Text 4"/>
          <p:cNvSpPr txBox="1"/>
          <p:nvPr/>
        </p:nvSpPr>
        <p:spPr>
          <a:xfrm>
            <a:off x="2286000" y="3986784"/>
            <a:ext cx="1691640" cy="201168"/>
          </a:xfrm>
          <a:prstGeom prst="rect">
            <a:avLst/>
          </a:prstGeom>
          <a:noFill/>
          <a:ln/>
        </p:spPr>
        <p:txBody>
          <a:bodyPr wrap="square" lIns="0" tIns="0" rIns="0" bIns="0" rtlCol="0" anchor="t"/>
          <a:lstStyle/>
          <a:p>
            <a:pPr indent="0" marL="0">
              <a:buNone/>
            </a:pPr>
            <a:r>
              <a:rPr lang="en-US" sz="650" spc="250" kern="0" dirty="0">
                <a:solidFill>
                  <a:srgbClr val="B8BDC6"/>
                </a:solidFill>
                <a:latin typeface="Helvetica Neue" pitchFamily="34" charset="0"/>
                <a:ea typeface="Helvetica Neue" pitchFamily="34" charset="-122"/>
                <a:cs typeface="Helvetica Neue" pitchFamily="34" charset="-120"/>
              </a:rPr>
              <a:t>ISCO</a:t>
            </a:r>
            <a:endParaRPr lang="en-US" sz="650" dirty="0"/>
          </a:p>
        </p:txBody>
      </p:sp>
      <p:sp>
        <p:nvSpPr>
          <p:cNvPr id="9" name="Text 5"/>
          <p:cNvSpPr txBox="1"/>
          <p:nvPr/>
        </p:nvSpPr>
        <p:spPr>
          <a:xfrm>
            <a:off x="2286000" y="4114800"/>
            <a:ext cx="2743200" cy="182880"/>
          </a:xfrm>
          <a:prstGeom prst="rect">
            <a:avLst/>
          </a:prstGeom>
          <a:noFill/>
          <a:ln/>
        </p:spPr>
        <p:txBody>
          <a:bodyPr wrap="square" lIns="0" tIns="0" rIns="0" bIns="0" rtlCol="0" anchor="t"/>
          <a:lstStyle/>
          <a:p>
            <a:pPr indent="0" marL="0">
              <a:buNone/>
            </a:pPr>
            <a:r>
              <a:rPr lang="en-US" sz="900" dirty="0">
                <a:solidFill>
                  <a:srgbClr val="B8BDC6"/>
                </a:solidFill>
                <a:latin typeface="Helvetica Neue Light" pitchFamily="34" charset="0"/>
                <a:ea typeface="Helvetica Neue Light" pitchFamily="34" charset="-122"/>
                <a:cs typeface="Helvetica Neue Light" pitchFamily="34" charset="-120"/>
              </a:rPr>
              <a:t>3 r_s</a:t>
            </a:r>
            <a:endParaRPr lang="en-US" sz="900" dirty="0"/>
          </a:p>
        </p:txBody>
      </p:sp>
      <p:sp>
        <p:nvSpPr>
          <p:cNvPr id="10" name="Text 6"/>
          <p:cNvSpPr txBox="1"/>
          <p:nvPr/>
        </p:nvSpPr>
        <p:spPr>
          <a:xfrm>
            <a:off x="548640" y="4315968"/>
            <a:ext cx="1691640" cy="201168"/>
          </a:xfrm>
          <a:prstGeom prst="rect">
            <a:avLst/>
          </a:prstGeom>
          <a:noFill/>
          <a:ln/>
        </p:spPr>
        <p:txBody>
          <a:bodyPr wrap="square" lIns="0" tIns="0" rIns="0" bIns="0" rtlCol="0" anchor="t"/>
          <a:lstStyle/>
          <a:p>
            <a:pPr indent="0" marL="0">
              <a:buNone/>
            </a:pPr>
            <a:r>
              <a:rPr lang="en-US" sz="650" spc="250" kern="0" dirty="0">
                <a:solidFill>
                  <a:srgbClr val="B8BDC6"/>
                </a:solidFill>
                <a:latin typeface="Helvetica Neue" pitchFamily="34" charset="0"/>
                <a:ea typeface="Helvetica Neue" pitchFamily="34" charset="-122"/>
                <a:cs typeface="Helvetica Neue" pitchFamily="34" charset="-120"/>
              </a:rPr>
              <a:t>DOPPLER BEAMING</a:t>
            </a:r>
            <a:endParaRPr lang="en-US" sz="650" dirty="0"/>
          </a:p>
        </p:txBody>
      </p:sp>
      <p:sp>
        <p:nvSpPr>
          <p:cNvPr id="11" name="Text 7"/>
          <p:cNvSpPr txBox="1"/>
          <p:nvPr/>
        </p:nvSpPr>
        <p:spPr>
          <a:xfrm>
            <a:off x="548640" y="4443984"/>
            <a:ext cx="1691640" cy="182880"/>
          </a:xfrm>
          <a:prstGeom prst="rect">
            <a:avLst/>
          </a:prstGeom>
          <a:noFill/>
          <a:ln/>
        </p:spPr>
        <p:txBody>
          <a:bodyPr wrap="square" lIns="0" tIns="0" rIns="0" bIns="0" rtlCol="0" anchor="t"/>
          <a:lstStyle/>
          <a:p>
            <a:pPr indent="0" marL="0">
              <a:buNone/>
            </a:pPr>
            <a:r>
              <a:rPr lang="en-US" sz="900" dirty="0">
                <a:solidFill>
                  <a:srgbClr val="B8BDC6"/>
                </a:solidFill>
                <a:latin typeface="Helvetica Neue Light" pitchFamily="34" charset="0"/>
                <a:ea typeface="Helvetica Neue Light" pitchFamily="34" charset="-122"/>
                <a:cs typeface="Helvetica Neue Light" pitchFamily="34" charset="-120"/>
              </a:rPr>
              <a:t>Approaching side brighter</a:t>
            </a:r>
            <a:endParaRPr lang="en-US" sz="900" dirty="0"/>
          </a:p>
        </p:txBody>
      </p:sp>
      <p:sp>
        <p:nvSpPr>
          <p:cNvPr id="12" name="Text 8"/>
          <p:cNvSpPr txBox="1"/>
          <p:nvPr/>
        </p:nvSpPr>
        <p:spPr>
          <a:xfrm>
            <a:off x="2286000" y="4315968"/>
            <a:ext cx="1691640" cy="201168"/>
          </a:xfrm>
          <a:prstGeom prst="rect">
            <a:avLst/>
          </a:prstGeom>
          <a:noFill/>
          <a:ln/>
        </p:spPr>
        <p:txBody>
          <a:bodyPr wrap="square" lIns="0" tIns="0" rIns="0" bIns="0" rtlCol="0" anchor="t"/>
          <a:lstStyle/>
          <a:p>
            <a:pPr indent="0" marL="0">
              <a:buNone/>
            </a:pPr>
            <a:r>
              <a:rPr lang="en-US" sz="650" spc="250" kern="0" dirty="0">
                <a:solidFill>
                  <a:srgbClr val="B8BDC6"/>
                </a:solidFill>
                <a:latin typeface="Helvetica Neue" pitchFamily="34" charset="0"/>
                <a:ea typeface="Helvetica Neue" pitchFamily="34" charset="-122"/>
                <a:cs typeface="Helvetica Neue" pitchFamily="34" charset="-120"/>
              </a:rPr>
              <a:t>LENSING</a:t>
            </a:r>
            <a:endParaRPr lang="en-US" sz="650" dirty="0"/>
          </a:p>
        </p:txBody>
      </p:sp>
      <p:sp>
        <p:nvSpPr>
          <p:cNvPr id="13" name="Text 9"/>
          <p:cNvSpPr txBox="1"/>
          <p:nvPr/>
        </p:nvSpPr>
        <p:spPr>
          <a:xfrm>
            <a:off x="2286000" y="4443984"/>
            <a:ext cx="2743200" cy="182880"/>
          </a:xfrm>
          <a:prstGeom prst="rect">
            <a:avLst/>
          </a:prstGeom>
          <a:noFill/>
          <a:ln/>
        </p:spPr>
        <p:txBody>
          <a:bodyPr wrap="square" lIns="0" tIns="0" rIns="0" bIns="0" rtlCol="0" anchor="t"/>
          <a:lstStyle/>
          <a:p>
            <a:pPr indent="0" marL="0">
              <a:buNone/>
            </a:pPr>
            <a:r>
              <a:rPr lang="en-US" sz="900" dirty="0">
                <a:solidFill>
                  <a:srgbClr val="B8BDC6"/>
                </a:solidFill>
                <a:latin typeface="Helvetica Neue Light" pitchFamily="34" charset="0"/>
                <a:ea typeface="Helvetica Neue Light" pitchFamily="34" charset="-122"/>
                <a:cs typeface="Helvetica Neue Light" pitchFamily="34" charset="-120"/>
              </a:rPr>
              <a:t>Far-side disc over / under the shadow</a:t>
            </a:r>
            <a:endParaRPr lang="en-US" sz="900" dirty="0"/>
          </a:p>
        </p:txBody>
      </p:sp>
      <p:sp>
        <p:nvSpPr>
          <p:cNvPr id="14" name="Text 10"/>
          <p:cNvSpPr txBox="1"/>
          <p:nvPr/>
        </p:nvSpPr>
        <p:spPr>
          <a:xfrm>
            <a:off x="5806440" y="566928"/>
            <a:ext cx="2834640" cy="548640"/>
          </a:xfrm>
          <a:prstGeom prst="rect">
            <a:avLst/>
          </a:prstGeom>
          <a:noFill/>
          <a:ln/>
        </p:spPr>
        <p:txBody>
          <a:bodyPr wrap="square" lIns="0" tIns="0" rIns="0" bIns="0" rtlCol="0" anchor="t"/>
          <a:lstStyle/>
          <a:p>
            <a:pPr indent="0" marL="0">
              <a:buNone/>
            </a:pPr>
            <a:r>
              <a:rPr lang="en-US" sz="3200" dirty="0">
                <a:solidFill>
                  <a:srgbClr val="FFFFFF"/>
                </a:solidFill>
                <a:latin typeface="Helvetica Neue Light" pitchFamily="34" charset="0"/>
                <a:ea typeface="Helvetica Neue Light" pitchFamily="34" charset="-122"/>
                <a:cs typeface="Helvetica Neue Light" pitchFamily="34" charset="-120"/>
              </a:rPr>
              <a:t>Andromeda.</a:t>
            </a:r>
            <a:endParaRPr lang="en-US" sz="3200" dirty="0"/>
          </a:p>
        </p:txBody>
      </p:sp>
      <p:sp>
        <p:nvSpPr>
          <p:cNvPr id="15" name="Text 11"/>
          <p:cNvSpPr txBox="1"/>
          <p:nvPr/>
        </p:nvSpPr>
        <p:spPr>
          <a:xfrm>
            <a:off x="5806440" y="1115568"/>
            <a:ext cx="2834640" cy="274320"/>
          </a:xfrm>
          <a:prstGeom prst="rect">
            <a:avLst/>
          </a:prstGeom>
          <a:noFill/>
          <a:ln/>
        </p:spPr>
        <p:txBody>
          <a:bodyPr wrap="square" lIns="0" tIns="0" rIns="0" bIns="0" rtlCol="0" anchor="t"/>
          <a:lstStyle/>
          <a:p>
            <a:pPr indent="0" marL="0">
              <a:buNone/>
            </a:pPr>
            <a:r>
              <a:rPr lang="en-US" sz="1300" dirty="0">
                <a:solidFill>
                  <a:srgbClr val="FFFFFF"/>
                </a:solidFill>
                <a:latin typeface="Helvetica Neue Light" pitchFamily="34" charset="0"/>
                <a:ea typeface="Helvetica Neue Light" pitchFamily="34" charset="-122"/>
                <a:cs typeface="Helvetica Neue Light" pitchFamily="34" charset="-120"/>
              </a:rPr>
              <a:t>2.5 million light-years.</a:t>
            </a:r>
            <a:endParaRPr lang="en-US" sz="1300" dirty="0"/>
          </a:p>
        </p:txBody>
      </p:sp>
      <p:sp>
        <p:nvSpPr>
          <p:cNvPr id="16" name="Text 12"/>
          <p:cNvSpPr txBox="1"/>
          <p:nvPr/>
        </p:nvSpPr>
        <p:spPr>
          <a:xfrm>
            <a:off x="5806440" y="1371600"/>
            <a:ext cx="2834640" cy="274320"/>
          </a:xfrm>
          <a:prstGeom prst="rect">
            <a:avLst/>
          </a:prstGeom>
          <a:noFill/>
          <a:ln/>
        </p:spPr>
        <p:txBody>
          <a:bodyPr wrap="square" lIns="0" tIns="0" rIns="0" bIns="0" rtlCol="0" anchor="t"/>
          <a:lstStyle/>
          <a:p>
            <a:pPr indent="0" marL="0">
              <a:buNone/>
            </a:pPr>
            <a:r>
              <a:rPr lang="en-US" sz="1300" dirty="0">
                <a:solidFill>
                  <a:srgbClr val="B8BDC6"/>
                </a:solidFill>
                <a:latin typeface="Helvetica Neue Light" pitchFamily="34" charset="0"/>
                <a:ea typeface="Helvetica Neue Light" pitchFamily="34" charset="-122"/>
                <a:cs typeface="Helvetica Neue Light" pitchFamily="34" charset="-120"/>
              </a:rPr>
              <a:t>Pump the hinge. Slam it shut.</a:t>
            </a:r>
            <a:endParaRPr lang="en-US" sz="1300" dirty="0"/>
          </a:p>
        </p:txBody>
      </p:sp>
      <p:sp>
        <p:nvSpPr>
          <p:cNvPr id="17" name="Text 13"/>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18" name="Text 14"/>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08 / 10</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9.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45720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08 — BUILT WITH</a:t>
            </a:r>
            <a:endParaRPr lang="en-US" sz="850" dirty="0"/>
          </a:p>
        </p:txBody>
      </p:sp>
      <p:sp>
        <p:nvSpPr>
          <p:cNvPr id="5" name="Text 1"/>
          <p:cNvSpPr txBox="1"/>
          <p:nvPr/>
        </p:nvSpPr>
        <p:spPr>
          <a:xfrm>
            <a:off x="548640" y="868680"/>
            <a:ext cx="8046720" cy="685800"/>
          </a:xfrm>
          <a:prstGeom prst="rect">
            <a:avLst/>
          </a:prstGeom>
          <a:noFill/>
          <a:ln/>
        </p:spPr>
        <p:txBody>
          <a:bodyPr wrap="square" lIns="0" tIns="0" rIns="0" bIns="0" rtlCol="0" anchor="t"/>
          <a:lstStyle/>
          <a:p>
            <a:pPr indent="0" marL="0">
              <a:buNone/>
            </a:pPr>
            <a:r>
              <a:rPr lang="en-US" sz="3600" dirty="0">
                <a:solidFill>
                  <a:srgbClr val="FFFFFF"/>
                </a:solidFill>
                <a:latin typeface="Helvetica Neue Light" pitchFamily="34" charset="0"/>
                <a:ea typeface="Helvetica Neue Light" pitchFamily="34" charset="-122"/>
                <a:cs typeface="Helvetica Neue Light" pitchFamily="34" charset="-120"/>
              </a:rPr>
              <a:t>Built with iPhone Duo APIs.</a:t>
            </a:r>
            <a:endParaRPr lang="en-US" sz="3600" dirty="0"/>
          </a:p>
        </p:txBody>
      </p:sp>
      <p:sp>
        <p:nvSpPr>
          <p:cNvPr id="6" name="Text 2"/>
          <p:cNvSpPr txBox="1"/>
          <p:nvPr/>
        </p:nvSpPr>
        <p:spPr>
          <a:xfrm>
            <a:off x="548640" y="1783080"/>
            <a:ext cx="292608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IPHONE DUO</a:t>
            </a:r>
            <a:endParaRPr lang="en-US" sz="850" dirty="0"/>
          </a:p>
        </p:txBody>
      </p:sp>
      <p:sp>
        <p:nvSpPr>
          <p:cNvPr id="7" name="Shape 3"/>
          <p:cNvSpPr/>
          <p:nvPr/>
        </p:nvSpPr>
        <p:spPr>
          <a:xfrm>
            <a:off x="548640" y="2029968"/>
            <a:ext cx="2651760" cy="0"/>
          </a:xfrm>
          <a:prstGeom prst="line">
            <a:avLst/>
          </a:prstGeom>
          <a:noFill/>
          <a:ln w="6350">
            <a:solidFill>
              <a:srgbClr val="44484F"/>
            </a:solidFill>
            <a:prstDash val="solid"/>
          </a:ln>
        </p:spPr>
      </p:sp>
      <p:sp>
        <p:nvSpPr>
          <p:cNvPr id="8" name="Text 4"/>
          <p:cNvSpPr txBox="1"/>
          <p:nvPr/>
        </p:nvSpPr>
        <p:spPr>
          <a:xfrm>
            <a:off x="548640" y="2176272"/>
            <a:ext cx="2651760" cy="1920240"/>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onHingeChange → DeviceHinge.angle</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reservedRegions(.division / .occlusion)</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Size classes, split at the fold</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Outer ↔ inner display continuity</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DUO_SDK flag: Duo hinge, sim, or tilt</a:t>
            </a:r>
            <a:endParaRPr lang="en-US" sz="1150" dirty="0"/>
          </a:p>
        </p:txBody>
      </p:sp>
      <p:sp>
        <p:nvSpPr>
          <p:cNvPr id="9" name="Text 5"/>
          <p:cNvSpPr txBox="1"/>
          <p:nvPr/>
        </p:nvSpPr>
        <p:spPr>
          <a:xfrm>
            <a:off x="3474720" y="1783080"/>
            <a:ext cx="260604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ENGINE + SCIENCE</a:t>
            </a:r>
            <a:endParaRPr lang="en-US" sz="850" dirty="0"/>
          </a:p>
        </p:txBody>
      </p:sp>
      <p:sp>
        <p:nvSpPr>
          <p:cNvPr id="10" name="Shape 6"/>
          <p:cNvSpPr/>
          <p:nvPr/>
        </p:nvSpPr>
        <p:spPr>
          <a:xfrm>
            <a:off x="3474720" y="2029968"/>
            <a:ext cx="2331720" cy="0"/>
          </a:xfrm>
          <a:prstGeom prst="line">
            <a:avLst/>
          </a:prstGeom>
          <a:noFill/>
          <a:ln w="6350">
            <a:solidFill>
              <a:srgbClr val="44484F"/>
            </a:solidFill>
            <a:prstDash val="solid"/>
          </a:ln>
        </p:spPr>
      </p:sp>
      <p:sp>
        <p:nvSpPr>
          <p:cNvPr id="11" name="Text 7"/>
          <p:cNvSpPr txBox="1"/>
          <p:nvPr/>
        </p:nvSpPr>
        <p:spPr>
          <a:xfrm>
            <a:off x="3474720" y="2176272"/>
            <a:ext cx="2331720" cy="1920240"/>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SwiftUI + SceneKit</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Real astronomy: NASA Exoplanet Archive, EHT</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26 procedural Blender worlds</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Schwarzschild-lensed Sgr A*</a:t>
            </a:r>
            <a:endParaRPr lang="en-US" sz="1150" dirty="0"/>
          </a:p>
        </p:txBody>
      </p:sp>
      <p:sp>
        <p:nvSpPr>
          <p:cNvPr id="12" name="Text 8"/>
          <p:cNvSpPr txBox="1"/>
          <p:nvPr/>
        </p:nvSpPr>
        <p:spPr>
          <a:xfrm>
            <a:off x="6080760" y="1783080"/>
            <a:ext cx="265176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SPONSOR STACK</a:t>
            </a:r>
            <a:endParaRPr lang="en-US" sz="850" dirty="0"/>
          </a:p>
        </p:txBody>
      </p:sp>
      <p:sp>
        <p:nvSpPr>
          <p:cNvPr id="13" name="Shape 9"/>
          <p:cNvSpPr/>
          <p:nvPr/>
        </p:nvSpPr>
        <p:spPr>
          <a:xfrm>
            <a:off x="6080760" y="2029968"/>
            <a:ext cx="2377440" cy="0"/>
          </a:xfrm>
          <a:prstGeom prst="line">
            <a:avLst/>
          </a:prstGeom>
          <a:noFill/>
          <a:ln w="6350">
            <a:solidFill>
              <a:srgbClr val="44484F"/>
            </a:solidFill>
            <a:prstDash val="solid"/>
          </a:ln>
        </p:spPr>
      </p:sp>
      <p:sp>
        <p:nvSpPr>
          <p:cNvPr id="14" name="Text 10"/>
          <p:cNvSpPr txBox="1"/>
          <p:nvPr/>
        </p:nvSpPr>
        <p:spPr>
          <a:xfrm>
            <a:off x="6080760" y="2176272"/>
            <a:ext cx="2377440" cy="1920240"/>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Supabase — Galactic Registry</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OpenAI — the ship computer</a:t>
            </a:r>
            <a:endParaRPr lang="en-US" sz="1150" dirty="0"/>
          </a:p>
          <a:p>
            <a:pPr indent="0" marL="0">
              <a:lnSpc>
                <a:spcPct val="110000"/>
              </a:lnSpc>
              <a:spcAft>
                <a:spcPts val="700"/>
              </a:spcAft>
              <a:buNone/>
            </a:pPr>
            <a:r>
              <a:rPr lang="en-US" sz="1150" dirty="0">
                <a:solidFill>
                  <a:srgbClr val="B8BDC6"/>
                </a:solidFill>
                <a:latin typeface="Helvetica Neue Light" pitchFamily="34" charset="0"/>
                <a:ea typeface="Helvetica Neue Light" pitchFamily="34" charset="-122"/>
                <a:cs typeface="Helvetica Neue Light" pitchFamily="34" charset="-120"/>
              </a:rPr>
              <a:t>Sentry — crashes, 60 Hz hinge loop</a:t>
            </a:r>
            <a:endParaRPr lang="en-US" sz="1150" dirty="0"/>
          </a:p>
        </p:txBody>
      </p:sp>
      <p:sp>
        <p:nvSpPr>
          <p:cNvPr id="15" name="Text 11"/>
          <p:cNvSpPr txBox="1"/>
          <p:nvPr/>
        </p:nvSpPr>
        <p:spPr>
          <a:xfrm>
            <a:off x="548640" y="4224528"/>
            <a:ext cx="1828800" cy="201168"/>
          </a:xfrm>
          <a:prstGeom prst="rect">
            <a:avLst/>
          </a:prstGeom>
          <a:noFill/>
          <a:ln/>
        </p:spPr>
        <p:txBody>
          <a:bodyPr wrap="square" lIns="0" tIns="0" rIns="0" bIns="0" rtlCol="0" anchor="t"/>
          <a:lstStyle/>
          <a:p>
            <a:pPr indent="0" marL="0">
              <a:buNone/>
            </a:pPr>
            <a:r>
              <a:rPr lang="en-US" sz="650" spc="350" kern="0" dirty="0">
                <a:solidFill>
                  <a:srgbClr val="7C828C"/>
                </a:solidFill>
                <a:latin typeface="Helvetica Neue" pitchFamily="34" charset="0"/>
                <a:ea typeface="Helvetica Neue" pitchFamily="34" charset="-122"/>
                <a:cs typeface="Helvetica Neue" pitchFamily="34" charset="-120"/>
              </a:rPr>
              <a:t>26 WORLDS</a:t>
            </a:r>
            <a:endParaRPr lang="en-US" sz="650" dirty="0"/>
          </a:p>
        </p:txBody>
      </p:sp>
      <p:sp>
        <p:nvSpPr>
          <p:cNvPr id="16" name="Text 12"/>
          <p:cNvSpPr txBox="1"/>
          <p:nvPr/>
        </p:nvSpPr>
        <p:spPr>
          <a:xfrm>
            <a:off x="548640" y="4901184"/>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17" name="Text 13"/>
          <p:cNvSpPr txBox="1"/>
          <p:nvPr/>
        </p:nvSpPr>
        <p:spPr>
          <a:xfrm>
            <a:off x="6766560" y="4901184"/>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09 / 10</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moorthy-Downloads-Projects-Bitrig-Hackathon/9cc55efd-258b-4603-a2ab-dd50fe68f596/scratchpad/bg/s10.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48640" y="566928"/>
            <a:ext cx="5486400" cy="201168"/>
          </a:xfrm>
          <a:prstGeom prst="rect">
            <a:avLst/>
          </a:prstGeom>
          <a:noFill/>
          <a:ln/>
        </p:spPr>
        <p:txBody>
          <a:bodyPr wrap="square" lIns="0" tIns="0" rIns="0" bIns="0" rtlCol="0" anchor="t"/>
          <a:lstStyle/>
          <a:p>
            <a:pPr indent="0" marL="0">
              <a:buNone/>
            </a:pPr>
            <a:r>
              <a:rPr lang="en-US" sz="850" spc="350" kern="0" dirty="0">
                <a:solidFill>
                  <a:srgbClr val="B8BDC6"/>
                </a:solidFill>
                <a:latin typeface="Helvetica Neue" pitchFamily="34" charset="0"/>
                <a:ea typeface="Helvetica Neue" pitchFamily="34" charset="-122"/>
                <a:cs typeface="Helvetica Neue" pitchFamily="34" charset="-120"/>
              </a:rPr>
              <a:t>09 — WHY THIS COULDN'T EXIST BEFORE</a:t>
            </a:r>
            <a:endParaRPr lang="en-US" sz="850" dirty="0"/>
          </a:p>
        </p:txBody>
      </p:sp>
      <p:sp>
        <p:nvSpPr>
          <p:cNvPr id="5" name="Text 1"/>
          <p:cNvSpPr txBox="1"/>
          <p:nvPr/>
        </p:nvSpPr>
        <p:spPr>
          <a:xfrm>
            <a:off x="548640" y="896112"/>
            <a:ext cx="3657600" cy="201168"/>
          </a:xfrm>
          <a:prstGeom prst="rect">
            <a:avLst/>
          </a:prstGeom>
          <a:noFill/>
          <a:ln/>
        </p:spPr>
        <p:txBody>
          <a:bodyPr wrap="square" lIns="0" tIns="0" rIns="0" bIns="0" rtlCol="0" anchor="t"/>
          <a:lstStyle/>
          <a:p>
            <a:pPr indent="0" marL="0">
              <a:buNone/>
            </a:pPr>
            <a:r>
              <a:rPr lang="en-US" sz="750" spc="350" kern="0" dirty="0">
                <a:solidFill>
                  <a:srgbClr val="7C828C"/>
                </a:solidFill>
                <a:latin typeface="Helvetica Neue" pitchFamily="34" charset="0"/>
                <a:ea typeface="Helvetica Neue" pitchFamily="34" charset="-122"/>
                <a:cs typeface="Helvetica Neue" pitchFamily="34" charset="-120"/>
              </a:rPr>
              <a:t>A FLAT IPHONE HAS</a:t>
            </a:r>
            <a:endParaRPr lang="en-US" sz="750" dirty="0"/>
          </a:p>
        </p:txBody>
      </p:sp>
      <p:sp>
        <p:nvSpPr>
          <p:cNvPr id="6" name="Text 2"/>
          <p:cNvSpPr txBox="1"/>
          <p:nvPr/>
        </p:nvSpPr>
        <p:spPr>
          <a:xfrm>
            <a:off x="548640" y="1097280"/>
            <a:ext cx="2926080" cy="548640"/>
          </a:xfrm>
          <a:prstGeom prst="rect">
            <a:avLst/>
          </a:prstGeom>
          <a:noFill/>
          <a:ln/>
        </p:spPr>
        <p:txBody>
          <a:bodyPr wrap="square" lIns="0" tIns="0" rIns="0" bIns="0" rtlCol="0" anchor="t"/>
          <a:lstStyle/>
          <a:p>
            <a:pPr indent="0" marL="0">
              <a:buNone/>
            </a:pPr>
            <a:r>
              <a:rPr lang="en-US" sz="3400" dirty="0">
                <a:solidFill>
                  <a:srgbClr val="FFFFFF"/>
                </a:solidFill>
                <a:latin typeface="Helvetica Neue Light" pitchFamily="34" charset="0"/>
                <a:ea typeface="Helvetica Neue Light" pitchFamily="34" charset="-122"/>
                <a:cs typeface="Helvetica Neue Light" pitchFamily="34" charset="-120"/>
              </a:rPr>
              <a:t>No angle.</a:t>
            </a:r>
            <a:endParaRPr lang="en-US" sz="3400" dirty="0"/>
          </a:p>
        </p:txBody>
      </p:sp>
      <p:sp>
        <p:nvSpPr>
          <p:cNvPr id="7" name="Text 3"/>
          <p:cNvSpPr txBox="1"/>
          <p:nvPr/>
        </p:nvSpPr>
        <p:spPr>
          <a:xfrm>
            <a:off x="3566160" y="1280160"/>
            <a:ext cx="5029200" cy="274320"/>
          </a:xfrm>
          <a:prstGeom prst="rect">
            <a:avLst/>
          </a:prstGeom>
          <a:noFill/>
          <a:ln/>
        </p:spPr>
        <p:txBody>
          <a:bodyPr wrap="square" lIns="0" tIns="0" rIns="0" bIns="0" rtlCol="0" anchor="t"/>
          <a:lstStyle/>
          <a:p>
            <a:pPr indent="0" marL="0">
              <a:buNone/>
            </a:pPr>
            <a:r>
              <a:rPr lang="en-US" sz="1200" dirty="0">
                <a:solidFill>
                  <a:srgbClr val="B8BDC6"/>
                </a:solidFill>
                <a:latin typeface="Helvetica Neue Light" pitchFamily="34" charset="0"/>
                <a:ea typeface="Helvetica Neue Light" pitchFamily="34" charset="-122"/>
                <a:cs typeface="Helvetica Neue Light" pitchFamily="34" charset="-120"/>
              </a:rPr>
              <a:t>Nothing to close, squeeze, snap or pump.</a:t>
            </a:r>
            <a:endParaRPr lang="en-US" sz="1200" dirty="0"/>
          </a:p>
        </p:txBody>
      </p:sp>
      <p:sp>
        <p:nvSpPr>
          <p:cNvPr id="8" name="Text 4"/>
          <p:cNvSpPr txBox="1"/>
          <p:nvPr/>
        </p:nvSpPr>
        <p:spPr>
          <a:xfrm>
            <a:off x="548640" y="1682496"/>
            <a:ext cx="2926080" cy="548640"/>
          </a:xfrm>
          <a:prstGeom prst="rect">
            <a:avLst/>
          </a:prstGeom>
          <a:noFill/>
          <a:ln/>
        </p:spPr>
        <p:txBody>
          <a:bodyPr wrap="square" lIns="0" tIns="0" rIns="0" bIns="0" rtlCol="0" anchor="t"/>
          <a:lstStyle/>
          <a:p>
            <a:pPr indent="0" marL="0">
              <a:buNone/>
            </a:pPr>
            <a:r>
              <a:rPr lang="en-US" sz="3400" dirty="0">
                <a:solidFill>
                  <a:srgbClr val="FFFFFF"/>
                </a:solidFill>
                <a:latin typeface="Helvetica Neue Light" pitchFamily="34" charset="0"/>
                <a:ea typeface="Helvetica Neue Light" pitchFamily="34" charset="-122"/>
                <a:cs typeface="Helvetica Neue Light" pitchFamily="34" charset="-120"/>
              </a:rPr>
              <a:t>One plane.</a:t>
            </a:r>
            <a:endParaRPr lang="en-US" sz="3400" dirty="0"/>
          </a:p>
        </p:txBody>
      </p:sp>
      <p:sp>
        <p:nvSpPr>
          <p:cNvPr id="9" name="Text 5"/>
          <p:cNvSpPr txBox="1"/>
          <p:nvPr/>
        </p:nvSpPr>
        <p:spPr>
          <a:xfrm>
            <a:off x="3566160" y="1865376"/>
            <a:ext cx="5029200" cy="274320"/>
          </a:xfrm>
          <a:prstGeom prst="rect">
            <a:avLst/>
          </a:prstGeom>
          <a:noFill/>
          <a:ln/>
        </p:spPr>
        <p:txBody>
          <a:bodyPr wrap="square" lIns="0" tIns="0" rIns="0" bIns="0" rtlCol="0" anchor="t"/>
          <a:lstStyle/>
          <a:p>
            <a:pPr indent="0" marL="0">
              <a:buNone/>
            </a:pPr>
            <a:r>
              <a:rPr lang="en-US" sz="1200" dirty="0">
                <a:solidFill>
                  <a:srgbClr val="B8BDC6"/>
                </a:solidFill>
                <a:latin typeface="Helvetica Neue Light" pitchFamily="34" charset="0"/>
                <a:ea typeface="Helvetica Neue Light" pitchFamily="34" charset="-122"/>
                <a:cs typeface="Helvetica Neue Light" pitchFamily="34" charset="-120"/>
              </a:rPr>
              <a:t>No corner for a hologram to sit in.</a:t>
            </a:r>
            <a:endParaRPr lang="en-US" sz="1200" dirty="0"/>
          </a:p>
        </p:txBody>
      </p:sp>
      <p:sp>
        <p:nvSpPr>
          <p:cNvPr id="10" name="Text 6"/>
          <p:cNvSpPr txBox="1"/>
          <p:nvPr/>
        </p:nvSpPr>
        <p:spPr>
          <a:xfrm>
            <a:off x="548640" y="2267712"/>
            <a:ext cx="2926080" cy="548640"/>
          </a:xfrm>
          <a:prstGeom prst="rect">
            <a:avLst/>
          </a:prstGeom>
          <a:noFill/>
          <a:ln/>
        </p:spPr>
        <p:txBody>
          <a:bodyPr wrap="square" lIns="0" tIns="0" rIns="0" bIns="0" rtlCol="0" anchor="t"/>
          <a:lstStyle/>
          <a:p>
            <a:pPr indent="0" marL="0">
              <a:buNone/>
            </a:pPr>
            <a:r>
              <a:rPr lang="en-US" sz="3400" dirty="0">
                <a:solidFill>
                  <a:srgbClr val="FFFFFF"/>
                </a:solidFill>
                <a:latin typeface="Helvetica Neue Light" pitchFamily="34" charset="0"/>
                <a:ea typeface="Helvetica Neue Light" pitchFamily="34" charset="-122"/>
                <a:cs typeface="Helvetica Neue Light" pitchFamily="34" charset="-120"/>
              </a:rPr>
              <a:t>One face.</a:t>
            </a:r>
            <a:endParaRPr lang="en-US" sz="3400" dirty="0"/>
          </a:p>
        </p:txBody>
      </p:sp>
      <p:sp>
        <p:nvSpPr>
          <p:cNvPr id="11" name="Text 7"/>
          <p:cNvSpPr txBox="1"/>
          <p:nvPr/>
        </p:nvSpPr>
        <p:spPr>
          <a:xfrm>
            <a:off x="3566160" y="2450592"/>
            <a:ext cx="5029200" cy="274320"/>
          </a:xfrm>
          <a:prstGeom prst="rect">
            <a:avLst/>
          </a:prstGeom>
          <a:noFill/>
          <a:ln/>
        </p:spPr>
        <p:txBody>
          <a:bodyPr wrap="square" lIns="0" tIns="0" rIns="0" bIns="0" rtlCol="0" anchor="t"/>
          <a:lstStyle/>
          <a:p>
            <a:pPr indent="0" marL="0">
              <a:buNone/>
            </a:pPr>
            <a:r>
              <a:rPr lang="en-US" sz="1200" dirty="0">
                <a:solidFill>
                  <a:srgbClr val="B8BDC6"/>
                </a:solidFill>
                <a:latin typeface="Helvetica Neue Light" pitchFamily="34" charset="0"/>
                <a:ea typeface="Helvetica Neue Light" pitchFamily="34" charset="-122"/>
                <a:cs typeface="Helvetica Neue Light" pitchFamily="34" charset="-120"/>
              </a:rPr>
              <a:t>Nothing to show FOLDING SPACE to the world.</a:t>
            </a:r>
            <a:endParaRPr lang="en-US" sz="1200" dirty="0"/>
          </a:p>
        </p:txBody>
      </p:sp>
      <p:sp>
        <p:nvSpPr>
          <p:cNvPr id="12" name="Text 8"/>
          <p:cNvSpPr txBox="1"/>
          <p:nvPr/>
        </p:nvSpPr>
        <p:spPr>
          <a:xfrm>
            <a:off x="548640" y="3291840"/>
            <a:ext cx="8046720" cy="36576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iPhone Duo has all three, and tells the app about them continuously.</a:t>
            </a:r>
            <a:endParaRPr lang="en-US" sz="1700" dirty="0"/>
          </a:p>
        </p:txBody>
      </p:sp>
      <p:sp>
        <p:nvSpPr>
          <p:cNvPr id="13" name="Text 9"/>
          <p:cNvSpPr txBox="1"/>
          <p:nvPr/>
        </p:nvSpPr>
        <p:spPr>
          <a:xfrm>
            <a:off x="548640" y="4041648"/>
            <a:ext cx="3840480" cy="201168"/>
          </a:xfrm>
          <a:prstGeom prst="rect">
            <a:avLst/>
          </a:prstGeom>
          <a:noFill/>
          <a:ln/>
        </p:spPr>
        <p:txBody>
          <a:bodyPr wrap="square" lIns="0" tIns="0" rIns="0" bIns="0" rtlCol="0" anchor="t"/>
          <a:lstStyle/>
          <a:p>
            <a:pPr indent="0" marL="0">
              <a:buNone/>
            </a:pPr>
            <a:r>
              <a:rPr lang="en-US" sz="900" u="sng" spc="250" kern="0" dirty="0">
                <a:solidFill>
                  <a:srgbClr val="FFFFFF"/>
                </a:solidFill>
                <a:latin typeface="Helvetica Neue" pitchFamily="34" charset="0"/>
                <a:ea typeface="Helvetica Neue" pitchFamily="34" charset="-122"/>
                <a:cs typeface="Helvetica Neue"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GITHUB.COM/VNMOORTHY/FOLDSPACE</a:t>
            </a:r>
            <a:endParaRPr lang="en-US" sz="900" dirty="0"/>
          </a:p>
        </p:txBody>
      </p:sp>
      <p:sp>
        <p:nvSpPr>
          <p:cNvPr id="14" name="Text 10"/>
          <p:cNvSpPr txBox="1"/>
          <p:nvPr/>
        </p:nvSpPr>
        <p:spPr>
          <a:xfrm>
            <a:off x="4480560" y="4041648"/>
            <a:ext cx="4114800" cy="201168"/>
          </a:xfrm>
          <a:prstGeom prst="rect">
            <a:avLst/>
          </a:prstGeom>
          <a:noFill/>
          <a:ln/>
        </p:spPr>
        <p:txBody>
          <a:bodyPr wrap="square" lIns="0" tIns="0" rIns="0" bIns="0" rtlCol="0" anchor="t"/>
          <a:lstStyle/>
          <a:p>
            <a:pPr indent="0" marL="0">
              <a:buNone/>
            </a:pPr>
            <a:r>
              <a:rPr lang="en-US" sz="900" u="sng" spc="250" kern="0" dirty="0">
                <a:solidFill>
                  <a:srgbClr val="FFFFFF"/>
                </a:solidFill>
                <a:latin typeface="Helvetica Neue" pitchFamily="34" charset="0"/>
                <a:ea typeface="Helvetica Neue" pitchFamily="34" charset="-122"/>
                <a:cs typeface="Helvetica Neue" pitchFamily="34" charset="-120"/>
                <a:hlinkClick r:id="rId3" invalidUrl="" action="" tgtFrame="" tooltip="" history="1" highlightClick="0" endSnd="0">
                  <a:extLst>
                    <a:ext uri="{A12FA001-AC4F-418D-AE19-62706E023703}">
                      <ahyp:hlinkClr xmlns:ahyp="http://schemas.microsoft.com/office/drawing/2018/hyperlinkcolor" val="tx"/>
                    </a:ext>
                  </a:extLst>
                </a:hlinkClick>
              </a:rPr>
              <a:t>VNMOORTHY.GITHUB.IO/FOLDSPACE</a:t>
            </a:r>
            <a:endParaRPr lang="en-US" sz="900" dirty="0"/>
          </a:p>
        </p:txBody>
      </p:sp>
      <p:sp>
        <p:nvSpPr>
          <p:cNvPr id="15" name="Text 11"/>
          <p:cNvSpPr txBox="1"/>
          <p:nvPr/>
        </p:nvSpPr>
        <p:spPr>
          <a:xfrm>
            <a:off x="548640" y="4370832"/>
            <a:ext cx="4572000" cy="274320"/>
          </a:xfrm>
          <a:prstGeom prst="rect">
            <a:avLst/>
          </a:prstGeom>
          <a:noFill/>
          <a:ln/>
        </p:spPr>
        <p:txBody>
          <a:bodyPr wrap="square" lIns="0" tIns="0" rIns="0" bIns="0" rtlCol="0" anchor="t"/>
          <a:lstStyle/>
          <a:p>
            <a:pPr indent="0" marL="0">
              <a:buNone/>
            </a:pPr>
            <a:r>
              <a:rPr lang="en-US" sz="1200" dirty="0">
                <a:solidFill>
                  <a:srgbClr val="B8BDC6"/>
                </a:solidFill>
                <a:latin typeface="Helvetica Neue Light" pitchFamily="34" charset="0"/>
                <a:ea typeface="Helvetica Neue Light" pitchFamily="34" charset="-122"/>
                <a:cs typeface="Helvetica Neue Light" pitchFamily="34" charset="-120"/>
              </a:rPr>
              <a:t>Fold the phone. Fold space.</a:t>
            </a:r>
            <a:endParaRPr lang="en-US" sz="1200" dirty="0"/>
          </a:p>
        </p:txBody>
      </p:sp>
      <p:sp>
        <p:nvSpPr>
          <p:cNvPr id="16" name="Text 12"/>
          <p:cNvSpPr txBox="1"/>
          <p:nvPr/>
        </p:nvSpPr>
        <p:spPr>
          <a:xfrm>
            <a:off x="548640" y="4773168"/>
            <a:ext cx="1828800" cy="201168"/>
          </a:xfrm>
          <a:prstGeom prst="rect">
            <a:avLst/>
          </a:prstGeom>
          <a:noFill/>
          <a:ln/>
        </p:spPr>
        <p:txBody>
          <a:bodyPr wrap="square" lIns="0" tIns="0" rIns="0" bIns="0" rtlCol="0" anchor="t"/>
          <a:lstStyle/>
          <a:p>
            <a:pPr indent="0" marL="0">
              <a:buNone/>
            </a:pPr>
            <a:r>
              <a:rPr lang="en-US" sz="700" spc="350" kern="0" dirty="0">
                <a:solidFill>
                  <a:srgbClr val="7C828C"/>
                </a:solidFill>
                <a:latin typeface="Helvetica Neue" pitchFamily="34" charset="0"/>
                <a:ea typeface="Helvetica Neue" pitchFamily="34" charset="-122"/>
                <a:cs typeface="Helvetica Neue" pitchFamily="34" charset="-120"/>
              </a:rPr>
              <a:t>FOLDSPACE</a:t>
            </a:r>
            <a:endParaRPr lang="en-US" sz="700" dirty="0"/>
          </a:p>
        </p:txBody>
      </p:sp>
      <p:sp>
        <p:nvSpPr>
          <p:cNvPr id="17" name="Text 13"/>
          <p:cNvSpPr txBox="1"/>
          <p:nvPr/>
        </p:nvSpPr>
        <p:spPr>
          <a:xfrm>
            <a:off x="6766560" y="4773168"/>
            <a:ext cx="1828800" cy="201168"/>
          </a:xfrm>
          <a:prstGeom prst="rect">
            <a:avLst/>
          </a:prstGeom>
          <a:noFill/>
          <a:ln/>
        </p:spPr>
        <p:txBody>
          <a:bodyPr wrap="square" lIns="0" tIns="0" rIns="0" bIns="0" rtlCol="0" anchor="t"/>
          <a:lstStyle/>
          <a:p>
            <a:pPr algn="r" indent="0" marL="0">
              <a:buNone/>
            </a:pPr>
            <a:r>
              <a:rPr lang="en-US" sz="700" spc="350" kern="0" dirty="0">
                <a:solidFill>
                  <a:srgbClr val="7C828C"/>
                </a:solidFill>
                <a:latin typeface="Helvetica Neue" pitchFamily="34" charset="0"/>
                <a:ea typeface="Helvetica Neue" pitchFamily="34" charset="-122"/>
                <a:cs typeface="Helvetica Neue" pitchFamily="34" charset="-120"/>
              </a:rPr>
              <a:t>10 / 10</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FOLDSPACE</dc:title>
  <dc:subject>PptxGenJS Presentation</dc:subject>
  <dc:creator>vnmoorthy</dc:creator>
  <cp:lastModifiedBy>vnmoorthy</cp:lastModifiedBy>
  <cp:revision>1</cp:revision>
  <dcterms:created xsi:type="dcterms:W3CDTF">2026-09-26T22:58:54Z</dcterms:created>
  <dcterms:modified xsi:type="dcterms:W3CDTF">2026-09-26T22:58:54Z</dcterms:modified>
</cp:coreProperties>
</file>