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(20 s). Hold the phone up half-open so the room can see the crease. "Foldable phones have had a hinge-angle sensor for years. Everyone used it for animations. We used the hinge as an input device, and we used the two screens as a 3D corner." Beat. "This is FOLDSPACE. The phone is the ship." Then go straight to the demo posture on the next slide. Do not read the slide; the title is on the screen, the hook is in your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one-sentence insight. Point at column two: the angle is a continuous value, like a joystick axis, so it can carry velocity and rhythm. Point at column three: the two panels meet at an angle the app knows, which is exactly how the Seoul wave billboard works. Everything in the next eight slides is one of those two ideas applied to a spaceship.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BEAT. Hold the phone at cockpit angle: windshield above the fold, console below. Lay it flat: galaxy map. Close it: the outer display says FOLDING SPACE. Say the line: "there is no mode switch, no button. The posture is the state." The thresholds are hysteretic, so the UI never flickers at a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BEAT: do two of these on stage, not six. Warp: "watch the stability meter" and close the phone smoothly, let it sit closed for a beat, then open it at the new star. Nova Lance: squeeze, hold until the crease glows, snap it open. If the room is close enough they will hear the haptic. Mention that the recogniser is velocity-aware: the same closing motion is a warp at 100 degrees per second and a collapse at 250.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BEAT: hold the phone at ninety degrees and slowly open it to one-fifty. The planet does not move; the windshield tilts away from it. That is the whole trick: one SceneKit scene, one camera whose pitch is the hinge angle, rendered across two panels that meet at exactly that angle. Then drag the probe from the console up across the crease into the planet. It is the only control allowed to cross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BEAT: pick Alpha Centauri on the flat galaxy map, then close the phone slowly and deliberately. Let it sit closed for a beat and turn the outer display to the audience: FOLDING SPACE, 4.24 light-years, counting. Then snap it open: you are at Proxima b. The Alcubierre metaphor is not decoration; the crease is the bubble and the close speed is the field strength. Close it too fast on purpose once if there is time: the meter reads COLLAPSING and you drop out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numbers: the corona is around a million kelvin, the photosphere 5,800, the core fifteen million. The HUD temperature climbs as you fold, from NASA Sun fact-sheet values. LIVE DEMO BEAT: close the phone slowly over the Sun. Let it sit at forty-five degrees so the room sees the temperature climbing. Open it to climb out. Then the Nova Lance: squeeze, hold for the glow, snap it open, and the planet shatters in the corner. Say: "No Star Wars was harmed. It is the Nova 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Sagittarius A* is the real one: four million solar masses, 26,670 light-years away, imaged by the Event Horizon Telescope. Fold amount maps to how deep you sit in the well, so the HUD shows Earth time racing while ship time crawls. Fire the Lance at it and the beam vanishes into the horizon. Then the finale: pump the phone open and shut four times, each pump charges the Fold Core, slam it shut for the 2.5-million-light-year jump. LIVE DEMO BEAT: pump it on stage; the fourth slam is the cue. Open the phone: Andromeda rises out of the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left column is unique to iPhone Duo: the hinge callback, the reserved regions for the fold and the camera, the outer display, and size classes instead of orientation locks. The diagram is the whole app: three hinge sources feed one engine, the engine emits gestures, the flight controller maps them to verbs, the store holds state, the root view switches on posture. Sponsors: Supabase holds the Galactic Registry, so every beacon and every warp from every player lands in one table and a dashboard. OpenAI runs the ship computer, grounded in the real catalog so it never invents a planet. Sentry watches crashes and the 60 Hz hinge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negatives, slowly: no angle, one plane, one face. Then the positive: Duo has all three and reports them continuously. What is next is one line each; do not linger. End on the repo URL and the closing line: "Fold the phone. Fold space." Then close the phone, and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1371600"/>
            <a:ext cx="6035040" cy="274320"/>
          </a:xfrm>
          <a:prstGeom prst="rect">
            <a:avLst/>
          </a:prstGeom>
          <a:noFill/>
          <a:ln/>
        </p:spPr>
        <p:txBody>
          <a:bodyPr wrap="square" lIns="0" tIns="0" rIns="0" bIns="0" rtlCol="0" anchor="t"/>
          <a:lstStyle/>
          <a:p>
            <a:pPr indent="0" marL="0">
              <a:buNone/>
            </a:pPr>
            <a:r>
              <a:rPr lang="en-US" sz="950" spc="100" kern="0" dirty="0">
                <a:solidFill>
                  <a:srgbClr val="3DF2FF"/>
                </a:solidFill>
                <a:latin typeface="Courier New" pitchFamily="34" charset="0"/>
                <a:ea typeface="Courier New" pitchFamily="34" charset="-122"/>
                <a:cs typeface="Courier New" pitchFamily="34" charset="-120"/>
              </a:rPr>
              <a:t>BITRIG HACKS · IPHONE DUO EDITION · Y COMBINATOR · SEPT 26 2026</a:t>
            </a:r>
            <a:endParaRPr lang="en-US" sz="950" dirty="0"/>
          </a:p>
        </p:txBody>
      </p:sp>
      <p:sp>
        <p:nvSpPr>
          <p:cNvPr id="3" name="Text 1"/>
          <p:cNvSpPr txBox="1"/>
          <p:nvPr/>
        </p:nvSpPr>
        <p:spPr>
          <a:xfrm>
            <a:off x="502920" y="1664208"/>
            <a:ext cx="5486400" cy="1005840"/>
          </a:xfrm>
          <a:prstGeom prst="rect">
            <a:avLst/>
          </a:prstGeom>
          <a:noFill/>
          <a:ln/>
        </p:spPr>
        <p:txBody>
          <a:bodyPr wrap="square" lIns="0" tIns="0" rIns="0" bIns="0" rtlCol="0" anchor="t"/>
          <a:lstStyle/>
          <a:p>
            <a:pPr indent="0" marL="0">
              <a:buNone/>
            </a:pPr>
            <a:r>
              <a:rPr lang="en-US" sz="6400" b="1" spc="200" kern="0" dirty="0">
                <a:solidFill>
                  <a:srgbClr val="FFFFFF"/>
                </a:solidFill>
                <a:latin typeface="Courier New" pitchFamily="34" charset="0"/>
                <a:ea typeface="Courier New" pitchFamily="34" charset="-122"/>
                <a:cs typeface="Courier New" pitchFamily="34" charset="-120"/>
              </a:rPr>
              <a:t>FOLDSPACE</a:t>
            </a:r>
            <a:endParaRPr lang="en-US" sz="6400" dirty="0"/>
          </a:p>
        </p:txBody>
      </p:sp>
      <p:sp>
        <p:nvSpPr>
          <p:cNvPr id="4" name="Text 2"/>
          <p:cNvSpPr txBox="1"/>
          <p:nvPr/>
        </p:nvSpPr>
        <p:spPr>
          <a:xfrm>
            <a:off x="548640" y="2724912"/>
            <a:ext cx="4754880" cy="457200"/>
          </a:xfrm>
          <a:prstGeom prst="rect">
            <a:avLst/>
          </a:prstGeom>
          <a:noFill/>
          <a:ln/>
        </p:spPr>
        <p:txBody>
          <a:bodyPr wrap="square" lIns="0" tIns="0" rIns="0" bIns="0" rtlCol="0" anchor="t"/>
          <a:lstStyle/>
          <a:p>
            <a:pPr indent="0" marL="0">
              <a:buNone/>
            </a:pPr>
            <a:r>
              <a:rPr lang="en-US" sz="2400" dirty="0">
                <a:solidFill>
                  <a:srgbClr val="FFB238"/>
                </a:solidFill>
                <a:latin typeface="Arial" pitchFamily="34" charset="0"/>
                <a:ea typeface="Arial" pitchFamily="34" charset="-122"/>
                <a:cs typeface="Arial" pitchFamily="34" charset="-120"/>
              </a:rPr>
              <a:t>Fold the phone. Fold space.</a:t>
            </a:r>
            <a:endParaRPr lang="en-US" sz="2400" dirty="0"/>
          </a:p>
        </p:txBody>
      </p:sp>
      <p:sp>
        <p:nvSpPr>
          <p:cNvPr id="5" name="Text 3"/>
          <p:cNvSpPr txBox="1"/>
          <p:nvPr/>
        </p:nvSpPr>
        <p:spPr>
          <a:xfrm>
            <a:off x="548640" y="3246120"/>
            <a:ext cx="4023360" cy="731520"/>
          </a:xfrm>
          <a:prstGeom prst="rect">
            <a:avLst/>
          </a:prstGeom>
          <a:noFill/>
          <a:ln/>
        </p:spPr>
        <p:txBody>
          <a:bodyPr wrap="square" lIns="0" tIns="0" rIns="0" bIns="0" rtlCol="0" anchor="t"/>
          <a:lstStyle/>
          <a:p>
            <a:pPr indent="0" marL="0">
              <a:buNone/>
            </a:pPr>
            <a:r>
              <a:rPr lang="en-US" sz="1300" dirty="0">
                <a:solidFill>
                  <a:srgbClr val="8A96B3"/>
                </a:solidFill>
                <a:latin typeface="Arial" pitchFamily="34" charset="0"/>
                <a:ea typeface="Arial" pitchFamily="34" charset="-122"/>
                <a:cs typeface="Arial" pitchFamily="34" charset="-120"/>
              </a:rPr>
              <a:t>A space-exploration game where the iPhone Duo's hinge is the ship.</a:t>
            </a:r>
            <a:endParaRPr lang="en-US" sz="1300" dirty="0"/>
          </a:p>
          <a:p>
            <a:pPr indent="0" marL="0">
              <a:buNone/>
            </a:pPr>
            <a:r>
              <a:rPr lang="en-US" sz="1300" dirty="0">
                <a:solidFill>
                  <a:srgbClr val="8A96B3"/>
                </a:solidFill>
                <a:latin typeface="Arial" pitchFamily="34" charset="0"/>
                <a:ea typeface="Arial" pitchFamily="34" charset="-122"/>
                <a:cs typeface="Arial" pitchFamily="34" charset="-120"/>
              </a:rPr>
              <a:t>Built in one day.</a:t>
            </a:r>
            <a:endParaRPr lang="en-US" sz="1300" dirty="0"/>
          </a:p>
        </p:txBody>
      </p:sp>
      <p:sp>
        <p:nvSpPr>
          <p:cNvPr id="6" name="Text 4"/>
          <p:cNvSpPr txBox="1"/>
          <p:nvPr/>
        </p:nvSpPr>
        <p:spPr>
          <a:xfrm>
            <a:off x="548640" y="4572000"/>
            <a:ext cx="3657600" cy="274320"/>
          </a:xfrm>
          <a:prstGeom prst="rect">
            <a:avLst/>
          </a:prstGeom>
          <a:noFill/>
          <a:ln/>
        </p:spPr>
        <p:txBody>
          <a:bodyPr wrap="square" lIns="0" tIns="0" rIns="0" bIns="0" rtlCol="0" anchor="t"/>
          <a:lstStyle/>
          <a:p>
            <a:pPr indent="0" marL="0">
              <a:buNone/>
            </a:pPr>
            <a:r>
              <a:rPr lang="en-US" sz="1000" dirty="0">
                <a:solidFill>
                  <a:srgbClr val="6B7A99"/>
                </a:solidFill>
                <a:latin typeface="Courier New" pitchFamily="34" charset="0"/>
                <a:ea typeface="Courier New" pitchFamily="34" charset="-122"/>
                <a:cs typeface="Courier New" pitchFamily="34" charset="-120"/>
              </a:rPr>
              <a:t>github.com/vnmoorthy/foldspace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57200"/>
            <a:ext cx="8046720" cy="502920"/>
          </a:xfrm>
          <a:prstGeom prst="rect">
            <a:avLst/>
          </a:prstGeom>
          <a:noFill/>
          <a:ln/>
        </p:spPr>
        <p:txBody>
          <a:bodyPr wrap="square" lIns="0" tIns="0" rIns="0" bIns="0" rtlCol="0" anchor="t"/>
          <a:lstStyle/>
          <a:p>
            <a:pPr indent="0" marL="0">
              <a:buNone/>
            </a:pPr>
            <a:r>
              <a:rPr lang="en-US" sz="2600" b="1" dirty="0">
                <a:solidFill>
                  <a:srgbClr val="FFFFFF"/>
                </a:solidFill>
                <a:latin typeface="Courier New" pitchFamily="34" charset="0"/>
                <a:ea typeface="Courier New" pitchFamily="34" charset="-122"/>
                <a:cs typeface="Courier New" pitchFamily="34" charset="-120"/>
              </a:rPr>
              <a:t>Hinge sensors have existed for years.</a:t>
            </a:r>
            <a:endParaRPr lang="en-US" sz="2600" dirty="0"/>
          </a:p>
        </p:txBody>
      </p:sp>
      <p:sp>
        <p:nvSpPr>
          <p:cNvPr id="3" name="Text 1"/>
          <p:cNvSpPr txBox="1"/>
          <p:nvPr/>
        </p:nvSpPr>
        <p:spPr>
          <a:xfrm>
            <a:off x="548640" y="1024128"/>
            <a:ext cx="8046720" cy="411480"/>
          </a:xfrm>
          <a:prstGeom prst="rect">
            <a:avLst/>
          </a:prstGeom>
          <a:noFill/>
          <a:ln/>
        </p:spPr>
        <p:txBody>
          <a:bodyPr wrap="square" lIns="0" tIns="0" rIns="0" bIns="0" rtlCol="0" anchor="t"/>
          <a:lstStyle/>
          <a:p>
            <a:pPr indent="0" marL="0">
              <a:buNone/>
            </a:pPr>
            <a:r>
              <a:rPr lang="en-US" sz="1500" dirty="0">
                <a:solidFill>
                  <a:srgbClr val="8A96B3"/>
                </a:solidFill>
                <a:latin typeface="Arial" pitchFamily="34" charset="0"/>
                <a:ea typeface="Arial" pitchFamily="34" charset="-122"/>
                <a:cs typeface="Arial" pitchFamily="34" charset="-120"/>
              </a:rPr>
              <a:t>Everyone used them for animations. We used the hinge for two things a flat iPhone can't do.</a:t>
            </a:r>
            <a:endParaRPr lang="en-US" sz="1500" dirty="0"/>
          </a:p>
        </p:txBody>
      </p:sp>
      <p:sp>
        <p:nvSpPr>
          <p:cNvPr id="4" name="Shape 2"/>
          <p:cNvSpPr/>
          <p:nvPr/>
        </p:nvSpPr>
        <p:spPr>
          <a:xfrm>
            <a:off x="548640" y="1600200"/>
            <a:ext cx="2423160" cy="2743200"/>
          </a:xfrm>
          <a:prstGeom prst="roundRect">
            <a:avLst>
              <a:gd name="adj" fmla="val 3019"/>
            </a:avLst>
          </a:prstGeom>
          <a:solidFill>
            <a:srgbClr val="0B1020">
              <a:alpha val="80000"/>
            </a:srgbClr>
          </a:solidFill>
          <a:ln w="9525">
            <a:solidFill>
              <a:srgbClr val="2A3A66"/>
            </a:solidFill>
            <a:prstDash val="solid"/>
          </a:ln>
        </p:spPr>
      </p:sp>
      <p:pic>
        <p:nvPicPr>
          <p:cNvPr id="5" name="Image 0" descr="/private/tmp/claude-501/-Users-moorthy-Downloads-Projects-Bitrig-Hackathon/9cc55efd-258b-4603-a2ab-dd50fe68f596/scratchpad/deck/png/i-anim.png">    </p:cNvPr>
          <p:cNvPicPr>
            <a:picLocks noChangeAspect="1"/>
          </p:cNvPicPr>
          <p:nvPr/>
        </p:nvPicPr>
        <p:blipFill>
          <a:blip r:embed="rId2"/>
          <a:stretch>
            <a:fillRect/>
          </a:stretch>
        </p:blipFill>
        <p:spPr>
          <a:xfrm>
            <a:off x="731520" y="1764792"/>
            <a:ext cx="960120" cy="960120"/>
          </a:xfrm>
          <a:prstGeom prst="rect">
            <a:avLst/>
          </a:prstGeom>
        </p:spPr>
      </p:pic>
      <p:sp>
        <p:nvSpPr>
          <p:cNvPr id="6" name="Text 3"/>
          <p:cNvSpPr txBox="1"/>
          <p:nvPr/>
        </p:nvSpPr>
        <p:spPr>
          <a:xfrm>
            <a:off x="731520" y="2862072"/>
            <a:ext cx="2103120" cy="228600"/>
          </a:xfrm>
          <a:prstGeom prst="rect">
            <a:avLst/>
          </a:prstGeom>
          <a:noFill/>
          <a:ln/>
        </p:spPr>
        <p:txBody>
          <a:bodyPr wrap="square" lIns="0" tIns="0" rIns="0" bIns="0" rtlCol="0" anchor="t"/>
          <a:lstStyle/>
          <a:p>
            <a:pPr indent="0" marL="0">
              <a:buNone/>
            </a:pPr>
            <a:r>
              <a:rPr lang="en-US" sz="950" spc="150" kern="0" dirty="0">
                <a:solidFill>
                  <a:srgbClr val="6B7A99"/>
                </a:solidFill>
                <a:latin typeface="Courier New" pitchFamily="34" charset="0"/>
                <a:ea typeface="Courier New" pitchFamily="34" charset="-122"/>
                <a:cs typeface="Courier New" pitchFamily="34" charset="-120"/>
              </a:rPr>
              <a:t>01 · WHAT EVERYONE DID</a:t>
            </a:r>
            <a:endParaRPr lang="en-US" sz="950" dirty="0"/>
          </a:p>
        </p:txBody>
      </p:sp>
      <p:sp>
        <p:nvSpPr>
          <p:cNvPr id="7" name="Text 4"/>
          <p:cNvSpPr txBox="1"/>
          <p:nvPr/>
        </p:nvSpPr>
        <p:spPr>
          <a:xfrm>
            <a:off x="731520" y="3099816"/>
            <a:ext cx="2103120" cy="5029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Animations</a:t>
            </a:r>
            <a:endParaRPr lang="en-US" sz="1400" dirty="0"/>
          </a:p>
        </p:txBody>
      </p:sp>
      <p:sp>
        <p:nvSpPr>
          <p:cNvPr id="8" name="Text 5"/>
          <p:cNvSpPr txBox="1"/>
          <p:nvPr/>
        </p:nvSpPr>
        <p:spPr>
          <a:xfrm>
            <a:off x="731520" y="3648456"/>
            <a:ext cx="2103120" cy="658368"/>
          </a:xfrm>
          <a:prstGeom prst="rect">
            <a:avLst/>
          </a:prstGeom>
          <a:noFill/>
          <a:ln/>
        </p:spPr>
        <p:txBody>
          <a:bodyPr wrap="square" lIns="0" tIns="0" rIns="0" bIns="0" rtlCol="0" anchor="t"/>
          <a:lstStyle/>
          <a:p>
            <a:pPr indent="0" marL="0">
              <a:buNone/>
            </a:pPr>
            <a:r>
              <a:rPr lang="en-US" sz="1050" dirty="0">
                <a:solidFill>
                  <a:srgbClr val="C9D2E6"/>
                </a:solidFill>
                <a:latin typeface="Arial" pitchFamily="34" charset="0"/>
                <a:ea typeface="Arial" pitchFamily="34" charset="-122"/>
                <a:cs typeface="Arial" pitchFamily="34" charset="-120"/>
              </a:rPr>
              <a:t>Flex-mode layouts, fold-aware transitions. Pretty, but passive: the hinge changes how the app looks, never what it does.</a:t>
            </a:r>
            <a:endParaRPr lang="en-US" sz="1050" dirty="0"/>
          </a:p>
        </p:txBody>
      </p:sp>
      <p:sp>
        <p:nvSpPr>
          <p:cNvPr id="9" name="Shape 6"/>
          <p:cNvSpPr/>
          <p:nvPr/>
        </p:nvSpPr>
        <p:spPr>
          <a:xfrm>
            <a:off x="3360420" y="1600200"/>
            <a:ext cx="2423160" cy="2743200"/>
          </a:xfrm>
          <a:prstGeom prst="roundRect">
            <a:avLst>
              <a:gd name="adj" fmla="val 3019"/>
            </a:avLst>
          </a:prstGeom>
          <a:solidFill>
            <a:srgbClr val="0B1020">
              <a:alpha val="80000"/>
            </a:srgbClr>
          </a:solidFill>
          <a:ln w="9525">
            <a:solidFill>
              <a:srgbClr val="2A3A66"/>
            </a:solidFill>
            <a:prstDash val="solid"/>
          </a:ln>
        </p:spPr>
      </p:sp>
      <p:pic>
        <p:nvPicPr>
          <p:cNvPr id="10" name="Image 1" descr="/private/tmp/claude-501/-Users-moorthy-Downloads-Projects-Bitrig-Hackathon/9cc55efd-258b-4603-a2ab-dd50fe68f596/scratchpad/deck/png/i-input.png">    </p:cNvPr>
          <p:cNvPicPr>
            <a:picLocks noChangeAspect="1"/>
          </p:cNvPicPr>
          <p:nvPr/>
        </p:nvPicPr>
        <p:blipFill>
          <a:blip r:embed="rId3"/>
          <a:stretch>
            <a:fillRect/>
          </a:stretch>
        </p:blipFill>
        <p:spPr>
          <a:xfrm>
            <a:off x="3543300" y="1764792"/>
            <a:ext cx="960120" cy="960120"/>
          </a:xfrm>
          <a:prstGeom prst="rect">
            <a:avLst/>
          </a:prstGeom>
        </p:spPr>
      </p:pic>
      <p:sp>
        <p:nvSpPr>
          <p:cNvPr id="11" name="Text 7"/>
          <p:cNvSpPr txBox="1"/>
          <p:nvPr/>
        </p:nvSpPr>
        <p:spPr>
          <a:xfrm>
            <a:off x="3543300" y="2862072"/>
            <a:ext cx="2103120" cy="228600"/>
          </a:xfrm>
          <a:prstGeom prst="rect">
            <a:avLst/>
          </a:prstGeom>
          <a:noFill/>
          <a:ln/>
        </p:spPr>
        <p:txBody>
          <a:bodyPr wrap="square" lIns="0" tIns="0" rIns="0" bIns="0" rtlCol="0" anchor="t"/>
          <a:lstStyle/>
          <a:p>
            <a:pPr indent="0" marL="0">
              <a:buNone/>
            </a:pPr>
            <a:r>
              <a:rPr lang="en-US" sz="950" spc="150" kern="0" dirty="0">
                <a:solidFill>
                  <a:srgbClr val="3DF2FF"/>
                </a:solidFill>
                <a:latin typeface="Courier New" pitchFamily="34" charset="0"/>
                <a:ea typeface="Courier New" pitchFamily="34" charset="-122"/>
                <a:cs typeface="Courier New" pitchFamily="34" charset="-120"/>
              </a:rPr>
              <a:t>02 · WHAT WE DID</a:t>
            </a:r>
            <a:endParaRPr lang="en-US" sz="950" dirty="0"/>
          </a:p>
        </p:txBody>
      </p:sp>
      <p:sp>
        <p:nvSpPr>
          <p:cNvPr id="12" name="Text 8"/>
          <p:cNvSpPr txBox="1"/>
          <p:nvPr/>
        </p:nvSpPr>
        <p:spPr>
          <a:xfrm>
            <a:off x="3543300" y="3099816"/>
            <a:ext cx="2103120" cy="5029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The hinge is an input device</a:t>
            </a:r>
            <a:endParaRPr lang="en-US" sz="1400" dirty="0"/>
          </a:p>
        </p:txBody>
      </p:sp>
      <p:sp>
        <p:nvSpPr>
          <p:cNvPr id="13" name="Text 9"/>
          <p:cNvSpPr txBox="1"/>
          <p:nvPr/>
        </p:nvSpPr>
        <p:spPr>
          <a:xfrm>
            <a:off x="3543300" y="3648456"/>
            <a:ext cx="2103120" cy="658368"/>
          </a:xfrm>
          <a:prstGeom prst="rect">
            <a:avLst/>
          </a:prstGeom>
          <a:noFill/>
          <a:ln/>
        </p:spPr>
        <p:txBody>
          <a:bodyPr wrap="square" lIns="0" tIns="0" rIns="0" bIns="0" rtlCol="0" anchor="t"/>
          <a:lstStyle/>
          <a:p>
            <a:pPr indent="0" marL="0">
              <a:buNone/>
            </a:pPr>
            <a:r>
              <a:rPr lang="en-US" sz="1050" dirty="0">
                <a:solidFill>
                  <a:srgbClr val="C9D2E6"/>
                </a:solidFill>
                <a:latin typeface="Arial" pitchFamily="34" charset="0"/>
                <a:ea typeface="Arial" pitchFamily="34" charset="-122"/>
                <a:cs typeface="Arial" pitchFamily="34" charset="-120"/>
              </a:rPr>
              <a:t>The continuous angle is a control axis. Angle, velocity and rhythm become six gestures: hop, warp, charge, fire, pump, dive.</a:t>
            </a:r>
            <a:endParaRPr lang="en-US" sz="1050" dirty="0"/>
          </a:p>
        </p:txBody>
      </p:sp>
      <p:sp>
        <p:nvSpPr>
          <p:cNvPr id="14" name="Shape 10"/>
          <p:cNvSpPr/>
          <p:nvPr/>
        </p:nvSpPr>
        <p:spPr>
          <a:xfrm>
            <a:off x="6172200" y="1600200"/>
            <a:ext cx="2423160" cy="2743200"/>
          </a:xfrm>
          <a:prstGeom prst="roundRect">
            <a:avLst>
              <a:gd name="adj" fmla="val 3019"/>
            </a:avLst>
          </a:prstGeom>
          <a:solidFill>
            <a:srgbClr val="0B1020">
              <a:alpha val="80000"/>
            </a:srgbClr>
          </a:solidFill>
          <a:ln w="9525">
            <a:solidFill>
              <a:srgbClr val="2A3A66"/>
            </a:solidFill>
            <a:prstDash val="solid"/>
          </a:ln>
        </p:spPr>
      </p:sp>
      <p:pic>
        <p:nvPicPr>
          <p:cNvPr id="15" name="Image 2" descr="/private/tmp/claude-501/-Users-moorthy-Downloads-Projects-Bitrig-Hackathon/9cc55efd-258b-4603-a2ab-dd50fe68f596/scratchpad/deck/png/i-corner.png">    </p:cNvPr>
          <p:cNvPicPr>
            <a:picLocks noChangeAspect="1"/>
          </p:cNvPicPr>
          <p:nvPr/>
        </p:nvPicPr>
        <p:blipFill>
          <a:blip r:embed="rId4"/>
          <a:stretch>
            <a:fillRect/>
          </a:stretch>
        </p:blipFill>
        <p:spPr>
          <a:xfrm>
            <a:off x="6355080" y="1764792"/>
            <a:ext cx="960120" cy="960120"/>
          </a:xfrm>
          <a:prstGeom prst="rect">
            <a:avLst/>
          </a:prstGeom>
        </p:spPr>
      </p:pic>
      <p:sp>
        <p:nvSpPr>
          <p:cNvPr id="16" name="Text 11"/>
          <p:cNvSpPr txBox="1"/>
          <p:nvPr/>
        </p:nvSpPr>
        <p:spPr>
          <a:xfrm>
            <a:off x="6355080" y="2862072"/>
            <a:ext cx="2103120" cy="228600"/>
          </a:xfrm>
          <a:prstGeom prst="rect">
            <a:avLst/>
          </a:prstGeom>
          <a:noFill/>
          <a:ln/>
        </p:spPr>
        <p:txBody>
          <a:bodyPr wrap="square" lIns="0" tIns="0" rIns="0" bIns="0" rtlCol="0" anchor="t"/>
          <a:lstStyle/>
          <a:p>
            <a:pPr indent="0" marL="0">
              <a:buNone/>
            </a:pPr>
            <a:r>
              <a:rPr lang="en-US" sz="950" spc="150" kern="0" dirty="0">
                <a:solidFill>
                  <a:srgbClr val="FFB238"/>
                </a:solidFill>
                <a:latin typeface="Courier New" pitchFamily="34" charset="0"/>
                <a:ea typeface="Courier New" pitchFamily="34" charset="-122"/>
                <a:cs typeface="Courier New" pitchFamily="34" charset="-120"/>
              </a:rPr>
              <a:t>03 · AND THEN</a:t>
            </a:r>
            <a:endParaRPr lang="en-US" sz="950" dirty="0"/>
          </a:p>
        </p:txBody>
      </p:sp>
      <p:sp>
        <p:nvSpPr>
          <p:cNvPr id="17" name="Text 12"/>
          <p:cNvSpPr txBox="1"/>
          <p:nvPr/>
        </p:nvSpPr>
        <p:spPr>
          <a:xfrm>
            <a:off x="6355080" y="3099816"/>
            <a:ext cx="2103120" cy="5029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Two screens are a 3D corner</a:t>
            </a:r>
            <a:endParaRPr lang="en-US" sz="1400" dirty="0"/>
          </a:p>
        </p:txBody>
      </p:sp>
      <p:sp>
        <p:nvSpPr>
          <p:cNvPr id="18" name="Text 13"/>
          <p:cNvSpPr txBox="1"/>
          <p:nvPr/>
        </p:nvSpPr>
        <p:spPr>
          <a:xfrm>
            <a:off x="6355080" y="3648456"/>
            <a:ext cx="2103120" cy="658368"/>
          </a:xfrm>
          <a:prstGeom prst="rect">
            <a:avLst/>
          </a:prstGeom>
          <a:noFill/>
          <a:ln/>
        </p:spPr>
        <p:txBody>
          <a:bodyPr wrap="square" lIns="0" tIns="0" rIns="0" bIns="0" rtlCol="0" anchor="t"/>
          <a:lstStyle/>
          <a:p>
            <a:pPr indent="0" marL="0">
              <a:buNone/>
            </a:pPr>
            <a:r>
              <a:rPr lang="en-US" sz="1050" dirty="0">
                <a:solidFill>
                  <a:srgbClr val="C9D2E6"/>
                </a:solidFill>
                <a:latin typeface="Arial" pitchFamily="34" charset="0"/>
                <a:ea typeface="Arial" pitchFamily="34" charset="-122"/>
                <a:cs typeface="Arial" pitchFamily="34" charset="-120"/>
              </a:rPr>
              <a:t>Two displays meeting at a known angle are a corner, like Seoul's 3D billboards. We put a planet inside it.</a:t>
            </a:r>
            <a:endParaRPr lang="en-US" sz="1050" dirty="0"/>
          </a:p>
        </p:txBody>
      </p:sp>
      <p:sp>
        <p:nvSpPr>
          <p:cNvPr id="19" name="Text 14"/>
          <p:cNvSpPr txBox="1"/>
          <p:nvPr/>
        </p:nvSpPr>
        <p:spPr>
          <a:xfrm>
            <a:off x="548640" y="4572000"/>
            <a:ext cx="8046720" cy="320040"/>
          </a:xfrm>
          <a:prstGeom prst="rect">
            <a:avLst/>
          </a:prstGeom>
          <a:noFill/>
          <a:ln/>
        </p:spPr>
        <p:txBody>
          <a:bodyPr wrap="square" lIns="0" tIns="0" rIns="0" bIns="0" rtlCol="0" anchor="t"/>
          <a:lstStyle/>
          <a:p>
            <a:pPr indent="0" marL="0">
              <a:buNone/>
            </a:pPr>
            <a:r>
              <a:rPr lang="en-US" sz="1300" dirty="0">
                <a:solidFill>
                  <a:srgbClr val="3DF2FF"/>
                </a:solidFill>
                <a:latin typeface="Courier New" pitchFamily="34" charset="0"/>
                <a:ea typeface="Courier New" pitchFamily="34" charset="-122"/>
                <a:cs typeface="Courier New" pitchFamily="34" charset="-120"/>
              </a:rPr>
              <a:t>FOLDSPACE is what you get when you take the hinge literally.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11480"/>
            <a:ext cx="8046720" cy="502920"/>
          </a:xfrm>
          <a:prstGeom prst="rect">
            <a:avLst/>
          </a:prstGeom>
          <a:noFill/>
          <a:ln/>
        </p:spPr>
        <p:txBody>
          <a:bodyPr wrap="square" lIns="0" tIns="0" rIns="0" bIns="0" rtlCol="0" anchor="t"/>
          <a:lstStyle/>
          <a:p>
            <a:pPr indent="0" marL="0">
              <a:buNone/>
            </a:pPr>
            <a:r>
              <a:rPr lang="en-US" sz="2600" b="1" dirty="0">
                <a:solidFill>
                  <a:srgbClr val="FFFFFF"/>
                </a:solidFill>
                <a:latin typeface="Courier New" pitchFamily="34" charset="0"/>
                <a:ea typeface="Courier New" pitchFamily="34" charset="-122"/>
                <a:cs typeface="Courier New" pitchFamily="34" charset="-120"/>
              </a:rPr>
              <a:t>The phone is the ship.</a:t>
            </a:r>
            <a:endParaRPr lang="en-US" sz="2600" dirty="0"/>
          </a:p>
        </p:txBody>
      </p:sp>
      <p:sp>
        <p:nvSpPr>
          <p:cNvPr id="3" name="Text 1"/>
          <p:cNvSpPr txBox="1"/>
          <p:nvPr/>
        </p:nvSpPr>
        <p:spPr>
          <a:xfrm>
            <a:off x="548640" y="960120"/>
            <a:ext cx="8046720" cy="365760"/>
          </a:xfrm>
          <a:prstGeom prst="rect">
            <a:avLst/>
          </a:prstGeom>
          <a:noFill/>
          <a:ln/>
        </p:spPr>
        <p:txBody>
          <a:bodyPr wrap="square" lIns="0" tIns="0" rIns="0" bIns="0" rtlCol="0" anchor="t"/>
          <a:lstStyle/>
          <a:p>
            <a:pPr indent="0" marL="0">
              <a:buNone/>
            </a:pPr>
            <a:r>
              <a:rPr lang="en-US" sz="1400" dirty="0">
                <a:solidFill>
                  <a:srgbClr val="8A96B3"/>
                </a:solidFill>
                <a:latin typeface="Arial" pitchFamily="34" charset="0"/>
                <a:ea typeface="Arial" pitchFamily="34" charset="-122"/>
                <a:cs typeface="Arial" pitchFamily="34" charset="-120"/>
              </a:rPr>
              <a:t>Every hinge posture is a flight state. RootView switches on posture, never on a fixed pixel.</a:t>
            </a:r>
            <a:endParaRPr lang="en-US" sz="1400" dirty="0"/>
          </a:p>
        </p:txBody>
      </p:sp>
      <p:pic>
        <p:nvPicPr>
          <p:cNvPr id="4" name="Image 0" descr="/private/tmp/claude-501/-Users-moorthy-Downloads-Projects-Bitrig-Hackathon/9cc55efd-258b-4603-a2ab-dd50fe68f596/scratchpad/deck/png/posture-closed.png">    </p:cNvPr>
          <p:cNvPicPr>
            <a:picLocks noChangeAspect="1"/>
          </p:cNvPicPr>
          <p:nvPr/>
        </p:nvPicPr>
        <p:blipFill>
          <a:blip r:embed="rId2"/>
          <a:stretch>
            <a:fillRect/>
          </a:stretch>
        </p:blipFill>
        <p:spPr>
          <a:xfrm>
            <a:off x="512064" y="1371600"/>
            <a:ext cx="1463040" cy="1218895"/>
          </a:xfrm>
          <a:prstGeom prst="rect">
            <a:avLst/>
          </a:prstGeom>
        </p:spPr>
      </p:pic>
      <p:sp>
        <p:nvSpPr>
          <p:cNvPr id="5" name="Text 2"/>
          <p:cNvSpPr txBox="1"/>
          <p:nvPr/>
        </p:nvSpPr>
        <p:spPr>
          <a:xfrm>
            <a:off x="512064" y="2697480"/>
            <a:ext cx="1463040" cy="228600"/>
          </a:xfrm>
          <a:prstGeom prst="rect">
            <a:avLst/>
          </a:prstGeom>
          <a:noFill/>
          <a:ln/>
        </p:spPr>
        <p:txBody>
          <a:bodyPr wrap="square" lIns="0" tIns="0" rIns="0" bIns="0" rtlCol="0" anchor="t"/>
          <a:lstStyle/>
          <a:p>
            <a:pPr indent="0" marL="0">
              <a:buNone/>
            </a:pPr>
            <a:r>
              <a:rPr lang="en-US" sz="1100" spc="150" kern="0" dirty="0">
                <a:solidFill>
                  <a:srgbClr val="3DF2FF"/>
                </a:solidFill>
                <a:latin typeface="Courier New" pitchFamily="34" charset="0"/>
                <a:ea typeface="Courier New" pitchFamily="34" charset="-122"/>
                <a:cs typeface="Courier New" pitchFamily="34" charset="-120"/>
              </a:rPr>
              <a:t>0–12°</a:t>
            </a:r>
            <a:endParaRPr lang="en-US" sz="1100" dirty="0"/>
          </a:p>
        </p:txBody>
      </p:sp>
      <p:sp>
        <p:nvSpPr>
          <p:cNvPr id="6" name="Text 3"/>
          <p:cNvSpPr txBox="1"/>
          <p:nvPr/>
        </p:nvSpPr>
        <p:spPr>
          <a:xfrm>
            <a:off x="512064" y="2926080"/>
            <a:ext cx="146304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CLOSED</a:t>
            </a:r>
            <a:endParaRPr lang="en-US" sz="1500" dirty="0"/>
          </a:p>
        </p:txBody>
      </p:sp>
      <p:sp>
        <p:nvSpPr>
          <p:cNvPr id="7" name="Text 4"/>
          <p:cNvSpPr txBox="1"/>
          <p:nvPr/>
        </p:nvSpPr>
        <p:spPr>
          <a:xfrm>
            <a:off x="512064" y="3246120"/>
            <a:ext cx="1463040" cy="548640"/>
          </a:xfrm>
          <a:prstGeom prst="rect">
            <a:avLst/>
          </a:prstGeom>
          <a:noFill/>
          <a:ln/>
        </p:spPr>
        <p:txBody>
          <a:bodyPr wrap="square" lIns="0" tIns="0" rIns="0" bIns="0" rtlCol="0" anchor="t"/>
          <a:lstStyle/>
          <a:p>
            <a:pPr indent="0" marL="0">
              <a:buNone/>
            </a:pPr>
            <a:r>
              <a:rPr lang="en-US" sz="1100" dirty="0">
                <a:solidFill>
                  <a:srgbClr val="8A96B3"/>
                </a:solidFill>
                <a:latin typeface="Arial" pitchFamily="34" charset="0"/>
                <a:ea typeface="Arial" pitchFamily="34" charset="-122"/>
                <a:cs typeface="Arial" pitchFamily="34" charset="-120"/>
              </a:rPr>
              <a:t>Outer 5.4″ display</a:t>
            </a:r>
            <a:endParaRPr lang="en-US" sz="1100" dirty="0"/>
          </a:p>
        </p:txBody>
      </p:sp>
      <p:sp>
        <p:nvSpPr>
          <p:cNvPr id="8" name="Text 5"/>
          <p:cNvSpPr txBox="1"/>
          <p:nvPr/>
        </p:nvSpPr>
        <p:spPr>
          <a:xfrm>
            <a:off x="512064" y="3840480"/>
            <a:ext cx="1463040" cy="685800"/>
          </a:xfrm>
          <a:prstGeom prst="rect">
            <a:avLst/>
          </a:prstGeom>
          <a:noFill/>
          <a:ln/>
        </p:spPr>
        <p:txBody>
          <a:bodyPr wrap="square" lIns="0" tIns="0" rIns="0" bIns="0" rtlCol="0" anchor="t"/>
          <a:lstStyle/>
          <a:p>
            <a:pPr indent="0" marL="0">
              <a:buNone/>
            </a:pPr>
            <a:r>
              <a:rPr lang="en-US" sz="1150" b="1" dirty="0">
                <a:solidFill>
                  <a:srgbClr val="FFB238"/>
                </a:solidFill>
                <a:latin typeface="Arial" pitchFamily="34" charset="0"/>
                <a:ea typeface="Arial" pitchFamily="34" charset="-122"/>
                <a:cs typeface="Arial" pitchFamily="34" charset="-120"/>
              </a:rPr>
              <a:t>Docked, or in transit: FOLDING SPACE · 4.24 ly</a:t>
            </a:r>
            <a:endParaRPr lang="en-US" sz="1150" dirty="0"/>
          </a:p>
        </p:txBody>
      </p:sp>
      <p:pic>
        <p:nvPicPr>
          <p:cNvPr id="9" name="Image 1" descr="/private/tmp/claude-501/-Users-moorthy-Downloads-Projects-Bitrig-Hackathon/9cc55efd-258b-4603-a2ab-dd50fe68f596/scratchpad/deck/png/posture-squeezed.png">    </p:cNvPr>
          <p:cNvPicPr>
            <a:picLocks noChangeAspect="1"/>
          </p:cNvPicPr>
          <p:nvPr/>
        </p:nvPicPr>
        <p:blipFill>
          <a:blip r:embed="rId3"/>
          <a:stretch>
            <a:fillRect/>
          </a:stretch>
        </p:blipFill>
        <p:spPr>
          <a:xfrm>
            <a:off x="2176272" y="1371600"/>
            <a:ext cx="1463040" cy="1218895"/>
          </a:xfrm>
          <a:prstGeom prst="rect">
            <a:avLst/>
          </a:prstGeom>
        </p:spPr>
      </p:pic>
      <p:sp>
        <p:nvSpPr>
          <p:cNvPr id="10" name="Text 6"/>
          <p:cNvSpPr txBox="1"/>
          <p:nvPr/>
        </p:nvSpPr>
        <p:spPr>
          <a:xfrm>
            <a:off x="2176272" y="2697480"/>
            <a:ext cx="1463040" cy="228600"/>
          </a:xfrm>
          <a:prstGeom prst="rect">
            <a:avLst/>
          </a:prstGeom>
          <a:noFill/>
          <a:ln/>
        </p:spPr>
        <p:txBody>
          <a:bodyPr wrap="square" lIns="0" tIns="0" rIns="0" bIns="0" rtlCol="0" anchor="t"/>
          <a:lstStyle/>
          <a:p>
            <a:pPr indent="0" marL="0">
              <a:buNone/>
            </a:pPr>
            <a:r>
              <a:rPr lang="en-US" sz="1100" spc="150" kern="0" dirty="0">
                <a:solidFill>
                  <a:srgbClr val="3DF2FF"/>
                </a:solidFill>
                <a:latin typeface="Courier New" pitchFamily="34" charset="0"/>
                <a:ea typeface="Courier New" pitchFamily="34" charset="-122"/>
                <a:cs typeface="Courier New" pitchFamily="34" charset="-120"/>
              </a:rPr>
              <a:t>12–45°</a:t>
            </a:r>
            <a:endParaRPr lang="en-US" sz="1100" dirty="0"/>
          </a:p>
        </p:txBody>
      </p:sp>
      <p:sp>
        <p:nvSpPr>
          <p:cNvPr id="11" name="Text 7"/>
          <p:cNvSpPr txBox="1"/>
          <p:nvPr/>
        </p:nvSpPr>
        <p:spPr>
          <a:xfrm>
            <a:off x="2176272" y="2926080"/>
            <a:ext cx="146304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SQUEEZED</a:t>
            </a:r>
            <a:endParaRPr lang="en-US" sz="1500" dirty="0"/>
          </a:p>
        </p:txBody>
      </p:sp>
      <p:sp>
        <p:nvSpPr>
          <p:cNvPr id="12" name="Text 8"/>
          <p:cNvSpPr txBox="1"/>
          <p:nvPr/>
        </p:nvSpPr>
        <p:spPr>
          <a:xfrm>
            <a:off x="2176272" y="3246120"/>
            <a:ext cx="1463040" cy="548640"/>
          </a:xfrm>
          <a:prstGeom prst="rect">
            <a:avLst/>
          </a:prstGeom>
          <a:noFill/>
          <a:ln/>
        </p:spPr>
        <p:txBody>
          <a:bodyPr wrap="square" lIns="0" tIns="0" rIns="0" bIns="0" rtlCol="0" anchor="t"/>
          <a:lstStyle/>
          <a:p>
            <a:pPr indent="0" marL="0">
              <a:buNone/>
            </a:pPr>
            <a:r>
              <a:rPr lang="en-US" sz="1100" dirty="0">
                <a:solidFill>
                  <a:srgbClr val="8A96B3"/>
                </a:solidFill>
                <a:latin typeface="Arial" pitchFamily="34" charset="0"/>
                <a:ea typeface="Arial" pitchFamily="34" charset="-122"/>
                <a:cs typeface="Arial" pitchFamily="34" charset="-120"/>
              </a:rPr>
              <a:t>The crease glows</a:t>
            </a:r>
            <a:endParaRPr lang="en-US" sz="1100" dirty="0"/>
          </a:p>
        </p:txBody>
      </p:sp>
      <p:sp>
        <p:nvSpPr>
          <p:cNvPr id="13" name="Text 9"/>
          <p:cNvSpPr txBox="1"/>
          <p:nvPr/>
        </p:nvSpPr>
        <p:spPr>
          <a:xfrm>
            <a:off x="2176272" y="3840480"/>
            <a:ext cx="1463040" cy="685800"/>
          </a:xfrm>
          <a:prstGeom prst="rect">
            <a:avLst/>
          </a:prstGeom>
          <a:noFill/>
          <a:ln/>
        </p:spPr>
        <p:txBody>
          <a:bodyPr wrap="square" lIns="0" tIns="0" rIns="0" bIns="0" rtlCol="0" anchor="t"/>
          <a:lstStyle/>
          <a:p>
            <a:pPr indent="0" marL="0">
              <a:buNone/>
            </a:pPr>
            <a:r>
              <a:rPr lang="en-US" sz="1150" b="1" dirty="0">
                <a:solidFill>
                  <a:srgbClr val="FFB238"/>
                </a:solidFill>
                <a:latin typeface="Arial" pitchFamily="34" charset="0"/>
                <a:ea typeface="Arial" pitchFamily="34" charset="-122"/>
                <a:cs typeface="Arial" pitchFamily="34" charset="-120"/>
              </a:rPr>
              <a:t>Nova Lance charging</a:t>
            </a:r>
            <a:endParaRPr lang="en-US" sz="1150" dirty="0"/>
          </a:p>
        </p:txBody>
      </p:sp>
      <p:pic>
        <p:nvPicPr>
          <p:cNvPr id="14" name="Image 2" descr="/private/tmp/claude-501/-Users-moorthy-Downloads-Projects-Bitrig-Hackathon/9cc55efd-258b-4603-a2ab-dd50fe68f596/scratchpad/deck/png/posture-cockpit.png">    </p:cNvPr>
          <p:cNvPicPr>
            <a:picLocks noChangeAspect="1"/>
          </p:cNvPicPr>
          <p:nvPr/>
        </p:nvPicPr>
        <p:blipFill>
          <a:blip r:embed="rId4"/>
          <a:stretch>
            <a:fillRect/>
          </a:stretch>
        </p:blipFill>
        <p:spPr>
          <a:xfrm>
            <a:off x="3840480" y="1371600"/>
            <a:ext cx="1463040" cy="1218895"/>
          </a:xfrm>
          <a:prstGeom prst="rect">
            <a:avLst/>
          </a:prstGeom>
        </p:spPr>
      </p:pic>
      <p:sp>
        <p:nvSpPr>
          <p:cNvPr id="15" name="Text 10"/>
          <p:cNvSpPr txBox="1"/>
          <p:nvPr/>
        </p:nvSpPr>
        <p:spPr>
          <a:xfrm>
            <a:off x="3840480" y="2697480"/>
            <a:ext cx="1463040" cy="228600"/>
          </a:xfrm>
          <a:prstGeom prst="rect">
            <a:avLst/>
          </a:prstGeom>
          <a:noFill/>
          <a:ln/>
        </p:spPr>
        <p:txBody>
          <a:bodyPr wrap="square" lIns="0" tIns="0" rIns="0" bIns="0" rtlCol="0" anchor="t"/>
          <a:lstStyle/>
          <a:p>
            <a:pPr indent="0" marL="0">
              <a:buNone/>
            </a:pPr>
            <a:r>
              <a:rPr lang="en-US" sz="1100" spc="150" kern="0" dirty="0">
                <a:solidFill>
                  <a:srgbClr val="3DF2FF"/>
                </a:solidFill>
                <a:latin typeface="Courier New" pitchFamily="34" charset="0"/>
                <a:ea typeface="Courier New" pitchFamily="34" charset="-122"/>
                <a:cs typeface="Courier New" pitchFamily="34" charset="-120"/>
              </a:rPr>
              <a:t>45–135°</a:t>
            </a:r>
            <a:endParaRPr lang="en-US" sz="1100" dirty="0"/>
          </a:p>
        </p:txBody>
      </p:sp>
      <p:sp>
        <p:nvSpPr>
          <p:cNvPr id="16" name="Text 11"/>
          <p:cNvSpPr txBox="1"/>
          <p:nvPr/>
        </p:nvSpPr>
        <p:spPr>
          <a:xfrm>
            <a:off x="3840480" y="2926080"/>
            <a:ext cx="146304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COCKPIT</a:t>
            </a:r>
            <a:endParaRPr lang="en-US" sz="1500" dirty="0"/>
          </a:p>
        </p:txBody>
      </p:sp>
      <p:sp>
        <p:nvSpPr>
          <p:cNvPr id="17" name="Text 12"/>
          <p:cNvSpPr txBox="1"/>
          <p:nvPr/>
        </p:nvSpPr>
        <p:spPr>
          <a:xfrm>
            <a:off x="3840480" y="3246120"/>
            <a:ext cx="1463040" cy="548640"/>
          </a:xfrm>
          <a:prstGeom prst="rect">
            <a:avLst/>
          </a:prstGeom>
          <a:noFill/>
          <a:ln/>
        </p:spPr>
        <p:txBody>
          <a:bodyPr wrap="square" lIns="0" tIns="0" rIns="0" bIns="0" rtlCol="0" anchor="t"/>
          <a:lstStyle/>
          <a:p>
            <a:pPr indent="0" marL="0">
              <a:buNone/>
            </a:pPr>
            <a:r>
              <a:rPr lang="en-US" sz="1100" dirty="0">
                <a:solidFill>
                  <a:srgbClr val="8A96B3"/>
                </a:solidFill>
                <a:latin typeface="Arial" pitchFamily="34" charset="0"/>
                <a:ea typeface="Arial" pitchFamily="34" charset="-122"/>
                <a:cs typeface="Arial" pitchFamily="34" charset="-120"/>
              </a:rPr>
              <a:t>Windshield above the fold, console below</a:t>
            </a:r>
            <a:endParaRPr lang="en-US" sz="1100" dirty="0"/>
          </a:p>
        </p:txBody>
      </p:sp>
      <p:sp>
        <p:nvSpPr>
          <p:cNvPr id="18" name="Text 13"/>
          <p:cNvSpPr txBox="1"/>
          <p:nvPr/>
        </p:nvSpPr>
        <p:spPr>
          <a:xfrm>
            <a:off x="3840480" y="3840480"/>
            <a:ext cx="1463040" cy="685800"/>
          </a:xfrm>
          <a:prstGeom prst="rect">
            <a:avLst/>
          </a:prstGeom>
          <a:noFill/>
          <a:ln/>
        </p:spPr>
        <p:txBody>
          <a:bodyPr wrap="square" lIns="0" tIns="0" rIns="0" bIns="0" rtlCol="0" anchor="t"/>
          <a:lstStyle/>
          <a:p>
            <a:pPr indent="0" marL="0">
              <a:buNone/>
            </a:pPr>
            <a:r>
              <a:rPr lang="en-US" sz="1150" b="1" dirty="0">
                <a:solidFill>
                  <a:srgbClr val="FFB238"/>
                </a:solidFill>
                <a:latin typeface="Arial" pitchFamily="34" charset="0"/>
                <a:ea typeface="Arial" pitchFamily="34" charset="-122"/>
                <a:cs typeface="Arial" pitchFamily="34" charset="-120"/>
              </a:rPr>
              <a:t>Flying. The hologram sits in the fold</a:t>
            </a:r>
            <a:endParaRPr lang="en-US" sz="1150" dirty="0"/>
          </a:p>
        </p:txBody>
      </p:sp>
      <p:pic>
        <p:nvPicPr>
          <p:cNvPr id="19" name="Image 3" descr="/private/tmp/claude-501/-Users-moorthy-Downloads-Projects-Bitrig-Hackathon/9cc55efd-258b-4603-a2ab-dd50fe68f596/scratchpad/deck/png/posture-open.png">    </p:cNvPr>
          <p:cNvPicPr>
            <a:picLocks noChangeAspect="1"/>
          </p:cNvPicPr>
          <p:nvPr/>
        </p:nvPicPr>
        <p:blipFill>
          <a:blip r:embed="rId5"/>
          <a:stretch>
            <a:fillRect/>
          </a:stretch>
        </p:blipFill>
        <p:spPr>
          <a:xfrm>
            <a:off x="5504688" y="1371600"/>
            <a:ext cx="1463040" cy="1218895"/>
          </a:xfrm>
          <a:prstGeom prst="rect">
            <a:avLst/>
          </a:prstGeom>
        </p:spPr>
      </p:pic>
      <p:sp>
        <p:nvSpPr>
          <p:cNvPr id="20" name="Text 14"/>
          <p:cNvSpPr txBox="1"/>
          <p:nvPr/>
        </p:nvSpPr>
        <p:spPr>
          <a:xfrm>
            <a:off x="5504688" y="2697480"/>
            <a:ext cx="1463040" cy="228600"/>
          </a:xfrm>
          <a:prstGeom prst="rect">
            <a:avLst/>
          </a:prstGeom>
          <a:noFill/>
          <a:ln/>
        </p:spPr>
        <p:txBody>
          <a:bodyPr wrap="square" lIns="0" tIns="0" rIns="0" bIns="0" rtlCol="0" anchor="t"/>
          <a:lstStyle/>
          <a:p>
            <a:pPr indent="0" marL="0">
              <a:buNone/>
            </a:pPr>
            <a:r>
              <a:rPr lang="en-US" sz="1100" spc="150" kern="0" dirty="0">
                <a:solidFill>
                  <a:srgbClr val="3DF2FF"/>
                </a:solidFill>
                <a:latin typeface="Courier New" pitchFamily="34" charset="0"/>
                <a:ea typeface="Courier New" pitchFamily="34" charset="-122"/>
                <a:cs typeface="Courier New" pitchFamily="34" charset="-120"/>
              </a:rPr>
              <a:t>135–170°</a:t>
            </a:r>
            <a:endParaRPr lang="en-US" sz="1100" dirty="0"/>
          </a:p>
        </p:txBody>
      </p:sp>
      <p:sp>
        <p:nvSpPr>
          <p:cNvPr id="21" name="Text 15"/>
          <p:cNvSpPr txBox="1"/>
          <p:nvPr/>
        </p:nvSpPr>
        <p:spPr>
          <a:xfrm>
            <a:off x="5504688" y="2926080"/>
            <a:ext cx="146304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OPEN</a:t>
            </a:r>
            <a:endParaRPr lang="en-US" sz="1500" dirty="0"/>
          </a:p>
        </p:txBody>
      </p:sp>
      <p:sp>
        <p:nvSpPr>
          <p:cNvPr id="22" name="Text 16"/>
          <p:cNvSpPr txBox="1"/>
          <p:nvPr/>
        </p:nvSpPr>
        <p:spPr>
          <a:xfrm>
            <a:off x="5504688" y="3246120"/>
            <a:ext cx="1463040" cy="548640"/>
          </a:xfrm>
          <a:prstGeom prst="rect">
            <a:avLst/>
          </a:prstGeom>
          <a:noFill/>
          <a:ln/>
        </p:spPr>
        <p:txBody>
          <a:bodyPr wrap="square" lIns="0" tIns="0" rIns="0" bIns="0" rtlCol="0" anchor="t"/>
          <a:lstStyle/>
          <a:p>
            <a:pPr indent="0" marL="0">
              <a:buNone/>
            </a:pPr>
            <a:r>
              <a:rPr lang="en-US" sz="1100" dirty="0">
                <a:solidFill>
                  <a:srgbClr val="8A96B3"/>
                </a:solidFill>
                <a:latin typeface="Arial" pitchFamily="34" charset="0"/>
                <a:ea typeface="Arial" pitchFamily="34" charset="-122"/>
                <a:cs typeface="Arial" pitchFamily="34" charset="-120"/>
              </a:rPr>
              <a:t>Wide cockpit</a:t>
            </a:r>
            <a:endParaRPr lang="en-US" sz="1100" dirty="0"/>
          </a:p>
        </p:txBody>
      </p:sp>
      <p:sp>
        <p:nvSpPr>
          <p:cNvPr id="23" name="Text 17"/>
          <p:cNvSpPr txBox="1"/>
          <p:nvPr/>
        </p:nvSpPr>
        <p:spPr>
          <a:xfrm>
            <a:off x="5504688" y="3840480"/>
            <a:ext cx="1463040" cy="685800"/>
          </a:xfrm>
          <a:prstGeom prst="rect">
            <a:avLst/>
          </a:prstGeom>
          <a:noFill/>
          <a:ln/>
        </p:spPr>
        <p:txBody>
          <a:bodyPr wrap="square" lIns="0" tIns="0" rIns="0" bIns="0" rtlCol="0" anchor="t"/>
          <a:lstStyle/>
          <a:p>
            <a:pPr indent="0" marL="0">
              <a:buNone/>
            </a:pPr>
            <a:r>
              <a:rPr lang="en-US" sz="1150" b="1" dirty="0">
                <a:solidFill>
                  <a:srgbClr val="FFB238"/>
                </a:solidFill>
                <a:latin typeface="Arial" pitchFamily="34" charset="0"/>
                <a:ea typeface="Arial" pitchFamily="34" charset="-122"/>
                <a:cs typeface="Arial" pitchFamily="34" charset="-120"/>
              </a:rPr>
              <a:t>Flying</a:t>
            </a:r>
            <a:endParaRPr lang="en-US" sz="1150" dirty="0"/>
          </a:p>
        </p:txBody>
      </p:sp>
      <p:pic>
        <p:nvPicPr>
          <p:cNvPr id="24" name="Image 4" descr="/private/tmp/claude-501/-Users-moorthy-Downloads-Projects-Bitrig-Hackathon/9cc55efd-258b-4603-a2ab-dd50fe68f596/scratchpad/deck/png/posture-flat.png">    </p:cNvPr>
          <p:cNvPicPr>
            <a:picLocks noChangeAspect="1"/>
          </p:cNvPicPr>
          <p:nvPr/>
        </p:nvPicPr>
        <p:blipFill>
          <a:blip r:embed="rId6"/>
          <a:stretch>
            <a:fillRect/>
          </a:stretch>
        </p:blipFill>
        <p:spPr>
          <a:xfrm>
            <a:off x="7168896" y="1371600"/>
            <a:ext cx="1463040" cy="1218895"/>
          </a:xfrm>
          <a:prstGeom prst="rect">
            <a:avLst/>
          </a:prstGeom>
        </p:spPr>
      </p:pic>
      <p:sp>
        <p:nvSpPr>
          <p:cNvPr id="25" name="Text 18"/>
          <p:cNvSpPr txBox="1"/>
          <p:nvPr/>
        </p:nvSpPr>
        <p:spPr>
          <a:xfrm>
            <a:off x="7168896" y="2697480"/>
            <a:ext cx="1463040" cy="228600"/>
          </a:xfrm>
          <a:prstGeom prst="rect">
            <a:avLst/>
          </a:prstGeom>
          <a:noFill/>
          <a:ln/>
        </p:spPr>
        <p:txBody>
          <a:bodyPr wrap="square" lIns="0" tIns="0" rIns="0" bIns="0" rtlCol="0" anchor="t"/>
          <a:lstStyle/>
          <a:p>
            <a:pPr indent="0" marL="0">
              <a:buNone/>
            </a:pPr>
            <a:r>
              <a:rPr lang="en-US" sz="1100" spc="150" kern="0" dirty="0">
                <a:solidFill>
                  <a:srgbClr val="3DF2FF"/>
                </a:solidFill>
                <a:latin typeface="Courier New" pitchFamily="34" charset="0"/>
                <a:ea typeface="Courier New" pitchFamily="34" charset="-122"/>
                <a:cs typeface="Courier New" pitchFamily="34" charset="-120"/>
              </a:rPr>
              <a:t>170–180°</a:t>
            </a:r>
            <a:endParaRPr lang="en-US" sz="1100" dirty="0"/>
          </a:p>
        </p:txBody>
      </p:sp>
      <p:sp>
        <p:nvSpPr>
          <p:cNvPr id="26" name="Text 19"/>
          <p:cNvSpPr txBox="1"/>
          <p:nvPr/>
        </p:nvSpPr>
        <p:spPr>
          <a:xfrm>
            <a:off x="7168896" y="2926080"/>
            <a:ext cx="146304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FLAT</a:t>
            </a:r>
            <a:endParaRPr lang="en-US" sz="1500" dirty="0"/>
          </a:p>
        </p:txBody>
      </p:sp>
      <p:sp>
        <p:nvSpPr>
          <p:cNvPr id="27" name="Text 20"/>
          <p:cNvSpPr txBox="1"/>
          <p:nvPr/>
        </p:nvSpPr>
        <p:spPr>
          <a:xfrm>
            <a:off x="7168896" y="3246120"/>
            <a:ext cx="1463040" cy="548640"/>
          </a:xfrm>
          <a:prstGeom prst="rect">
            <a:avLst/>
          </a:prstGeom>
          <a:noFill/>
          <a:ln/>
        </p:spPr>
        <p:txBody>
          <a:bodyPr wrap="square" lIns="0" tIns="0" rIns="0" bIns="0" rtlCol="0" anchor="t"/>
          <a:lstStyle/>
          <a:p>
            <a:pPr indent="0" marL="0">
              <a:buNone/>
            </a:pPr>
            <a:r>
              <a:rPr lang="en-US" sz="1100" dirty="0">
                <a:solidFill>
                  <a:srgbClr val="8A96B3"/>
                </a:solidFill>
                <a:latin typeface="Arial" pitchFamily="34" charset="0"/>
                <a:ea typeface="Arial" pitchFamily="34" charset="-122"/>
                <a:cs typeface="Arial" pitchFamily="34" charset="-120"/>
              </a:rPr>
              <a:t>Whole 7.6″ inner display</a:t>
            </a:r>
            <a:endParaRPr lang="en-US" sz="1100" dirty="0"/>
          </a:p>
        </p:txBody>
      </p:sp>
      <p:sp>
        <p:nvSpPr>
          <p:cNvPr id="28" name="Text 21"/>
          <p:cNvSpPr txBox="1"/>
          <p:nvPr/>
        </p:nvSpPr>
        <p:spPr>
          <a:xfrm>
            <a:off x="7168896" y="3840480"/>
            <a:ext cx="1463040" cy="685800"/>
          </a:xfrm>
          <a:prstGeom prst="rect">
            <a:avLst/>
          </a:prstGeom>
          <a:noFill/>
          <a:ln/>
        </p:spPr>
        <p:txBody>
          <a:bodyPr wrap="square" lIns="0" tIns="0" rIns="0" bIns="0" rtlCol="0" anchor="t"/>
          <a:lstStyle/>
          <a:p>
            <a:pPr indent="0" marL="0">
              <a:buNone/>
            </a:pPr>
            <a:r>
              <a:rPr lang="en-US" sz="1150" b="1" dirty="0">
                <a:solidFill>
                  <a:srgbClr val="FFB238"/>
                </a:solidFill>
                <a:latin typeface="Arial" pitchFamily="34" charset="0"/>
                <a:ea typeface="Arial" pitchFamily="34" charset="-122"/>
                <a:cs typeface="Arial" pitchFamily="34" charset="-120"/>
              </a:rPr>
              <a:t>Galaxy map</a:t>
            </a:r>
            <a:endParaRPr lang="en-US" sz="1150" dirty="0"/>
          </a:p>
        </p:txBody>
      </p:sp>
      <p:sp>
        <p:nvSpPr>
          <p:cNvPr id="29" name="Text 22"/>
          <p:cNvSpPr txBox="1"/>
          <p:nvPr/>
        </p:nvSpPr>
        <p:spPr>
          <a:xfrm>
            <a:off x="548640" y="4590288"/>
            <a:ext cx="8046720" cy="365760"/>
          </a:xfrm>
          <a:prstGeom prst="rect">
            <a:avLst/>
          </a:prstGeom>
          <a:noFill/>
          <a:ln/>
        </p:spPr>
        <p:txBody>
          <a:bodyPr wrap="square" lIns="0" tIns="0" rIns="0" bIns="0" rtlCol="0" anchor="t"/>
          <a:lstStyle/>
          <a:p>
            <a:pPr indent="0" marL="0">
              <a:buNone/>
            </a:pPr>
            <a:r>
              <a:rPr lang="en-US" sz="950" dirty="0">
                <a:solidFill>
                  <a:srgbClr val="6B7A99"/>
                </a:solidFill>
                <a:latin typeface="Courier New" pitchFamily="34" charset="0"/>
                <a:ea typeface="Courier New" pitchFamily="34" charset="-122"/>
                <a:cs typeface="Courier New" pitchFamily="34" charset="-120"/>
              </a:rPr>
              <a:t>The angle arrives continuously through onHingeChange. The same engine also runs from an on-screen hinge control or CoreMotion tilt (DUO_SDK flag).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11480"/>
            <a:ext cx="8046720" cy="502920"/>
          </a:xfrm>
          <a:prstGeom prst="rect">
            <a:avLst/>
          </a:prstGeom>
          <a:noFill/>
          <a:ln/>
        </p:spPr>
        <p:txBody>
          <a:bodyPr wrap="square" lIns="0" tIns="0" rIns="0" bIns="0" rtlCol="0" anchor="t"/>
          <a:lstStyle/>
          <a:p>
            <a:pPr indent="0" marL="0">
              <a:buNone/>
            </a:pPr>
            <a:r>
              <a:rPr lang="en-US" sz="2600" b="1" dirty="0">
                <a:solidFill>
                  <a:srgbClr val="FFFFFF"/>
                </a:solidFill>
                <a:latin typeface="Courier New" pitchFamily="34" charset="0"/>
                <a:ea typeface="Courier New" pitchFamily="34" charset="-122"/>
                <a:cs typeface="Courier New" pitchFamily="34" charset="-120"/>
              </a:rPr>
              <a:t>Six gestures. Six verbs.</a:t>
            </a:r>
            <a:endParaRPr lang="en-US" sz="2600" dirty="0"/>
          </a:p>
        </p:txBody>
      </p:sp>
      <p:sp>
        <p:nvSpPr>
          <p:cNvPr id="3" name="Text 1"/>
          <p:cNvSpPr txBox="1"/>
          <p:nvPr/>
        </p:nvSpPr>
        <p:spPr>
          <a:xfrm>
            <a:off x="548640" y="932688"/>
            <a:ext cx="8046720" cy="502920"/>
          </a:xfrm>
          <a:prstGeom prst="rect">
            <a:avLst/>
          </a:prstGeom>
          <a:noFill/>
          <a:ln/>
        </p:spPr>
        <p:txBody>
          <a:bodyPr wrap="square" lIns="0" tIns="0" rIns="0" bIns="0" rtlCol="0" anchor="t"/>
          <a:lstStyle/>
          <a:p>
            <a:pPr indent="0" marL="0">
              <a:buNone/>
            </a:pPr>
            <a:r>
              <a:rPr lang="en-US" sz="1250" dirty="0">
                <a:solidFill>
                  <a:srgbClr val="8A96B3"/>
                </a:solidFill>
                <a:latin typeface="Arial" pitchFamily="34" charset="0"/>
                <a:ea typeface="Arial" pitchFamily="34" charset="-122"/>
                <a:cs typeface="Arial" pitchFamily="34" charset="-120"/>
              </a:rPr>
              <a:t>HingeEngine keeps a 2.5-second ring of (angle, velocity, t) samples and turns motion into discrete gestures, with hysteresis: a squeeze never reads as a warp, a hop never reads as a close.</a:t>
            </a:r>
            <a:endParaRPr lang="en-US" sz="1250" dirty="0"/>
          </a:p>
        </p:txBody>
      </p:sp>
      <p:sp>
        <p:nvSpPr>
          <p:cNvPr id="4" name="Shape 2"/>
          <p:cNvSpPr/>
          <p:nvPr/>
        </p:nvSpPr>
        <p:spPr>
          <a:xfrm>
            <a:off x="457200" y="1508760"/>
            <a:ext cx="2651760" cy="1417320"/>
          </a:xfrm>
          <a:prstGeom prst="roundRect">
            <a:avLst>
              <a:gd name="adj" fmla="val 5161"/>
            </a:avLst>
          </a:prstGeom>
          <a:solidFill>
            <a:srgbClr val="0B1020">
              <a:alpha val="80000"/>
            </a:srgbClr>
          </a:solidFill>
          <a:ln w="9525">
            <a:solidFill>
              <a:srgbClr val="2A3A66"/>
            </a:solidFill>
            <a:prstDash val="solid"/>
          </a:ln>
        </p:spPr>
      </p:sp>
      <p:pic>
        <p:nvPicPr>
          <p:cNvPr id="5" name="Image 0" descr="/private/tmp/claude-501/-Users-moorthy-Downloads-Projects-Bitrig-Hackathon/9cc55efd-258b-4603-a2ab-dd50fe68f596/scratchpad/deck/png/g-hop.png">    </p:cNvPr>
          <p:cNvPicPr>
            <a:picLocks noChangeAspect="1"/>
          </p:cNvPicPr>
          <p:nvPr/>
        </p:nvPicPr>
        <p:blipFill>
          <a:blip r:embed="rId2"/>
          <a:stretch>
            <a:fillRect/>
          </a:stretch>
        </p:blipFill>
        <p:spPr>
          <a:xfrm>
            <a:off x="566928" y="1618488"/>
            <a:ext cx="868680" cy="868680"/>
          </a:xfrm>
          <a:prstGeom prst="rect">
            <a:avLst/>
          </a:prstGeom>
        </p:spPr>
      </p:pic>
      <p:sp>
        <p:nvSpPr>
          <p:cNvPr id="6" name="Text 3"/>
          <p:cNvSpPr txBox="1"/>
          <p:nvPr/>
        </p:nvSpPr>
        <p:spPr>
          <a:xfrm>
            <a:off x="530352" y="2532888"/>
            <a:ext cx="1005840" cy="320040"/>
          </a:xfrm>
          <a:prstGeom prst="rect">
            <a:avLst/>
          </a:prstGeom>
          <a:noFill/>
          <a:ln/>
        </p:spPr>
        <p:txBody>
          <a:bodyPr wrap="square" lIns="0" tIns="0" rIns="0" bIns="0" rtlCol="0" anchor="t"/>
          <a:lstStyle/>
          <a:p>
            <a:pPr indent="0" marL="0">
              <a:buNone/>
            </a:pPr>
            <a:r>
              <a:rPr lang="en-US" sz="750" dirty="0">
                <a:solidFill>
                  <a:srgbClr val="3DF2FF"/>
                </a:solidFill>
                <a:latin typeface="Courier New" pitchFamily="34" charset="0"/>
                <a:ea typeface="Courier New" pitchFamily="34" charset="-122"/>
                <a:cs typeface="Courier New" pitchFamily="34" charset="-120"/>
              </a:rPr>
              <a:t>.hop</a:t>
            </a:r>
            <a:endParaRPr lang="en-US" sz="750" dirty="0"/>
          </a:p>
        </p:txBody>
      </p:sp>
      <p:sp>
        <p:nvSpPr>
          <p:cNvPr id="7" name="Text 4"/>
          <p:cNvSpPr txBox="1"/>
          <p:nvPr/>
        </p:nvSpPr>
        <p:spPr>
          <a:xfrm>
            <a:off x="1508760" y="1645920"/>
            <a:ext cx="1508760" cy="274320"/>
          </a:xfrm>
          <a:prstGeom prst="rect">
            <a:avLst/>
          </a:prstGeom>
          <a:noFill/>
          <a:ln/>
        </p:spPr>
        <p:txBody>
          <a:bodyPr wrap="square" lIns="0" tIns="0" rIns="0" bIns="0" rtlCol="0" anchor="t"/>
          <a:lstStyle/>
          <a:p>
            <a:pPr indent="0" marL="0">
              <a:buNone/>
            </a:pPr>
            <a:r>
              <a:rPr lang="en-US" sz="1500" b="1" dirty="0">
                <a:solidFill>
                  <a:srgbClr val="FFB238"/>
                </a:solidFill>
                <a:latin typeface="Courier New" pitchFamily="34" charset="0"/>
                <a:ea typeface="Courier New" pitchFamily="34" charset="-122"/>
                <a:cs typeface="Courier New" pitchFamily="34" charset="-120"/>
              </a:rPr>
              <a:t>HOP</a:t>
            </a:r>
            <a:endParaRPr lang="en-US" sz="1500" dirty="0"/>
          </a:p>
        </p:txBody>
      </p:sp>
      <p:sp>
        <p:nvSpPr>
          <p:cNvPr id="8" name="Text 5"/>
          <p:cNvSpPr txBox="1"/>
          <p:nvPr/>
        </p:nvSpPr>
        <p:spPr>
          <a:xfrm>
            <a:off x="1508760" y="1947672"/>
            <a:ext cx="150876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Dip the lid and bring it back</a:t>
            </a:r>
            <a:endParaRPr lang="en-US" sz="1100" dirty="0"/>
          </a:p>
        </p:txBody>
      </p:sp>
      <p:sp>
        <p:nvSpPr>
          <p:cNvPr id="9" name="Text 6"/>
          <p:cNvSpPr txBox="1"/>
          <p:nvPr/>
        </p:nvSpPr>
        <p:spPr>
          <a:xfrm>
            <a:off x="1508760" y="2404872"/>
            <a:ext cx="1508760" cy="502920"/>
          </a:xfrm>
          <a:prstGeom prst="rect">
            <a:avLst/>
          </a:prstGeom>
          <a:noFill/>
          <a:ln/>
        </p:spPr>
        <p:txBody>
          <a:bodyPr wrap="square" lIns="0" tIns="0" rIns="0" bIns="0" rtlCol="0" anchor="t"/>
          <a:lstStyle/>
          <a:p>
            <a:pPr indent="0" marL="0">
              <a:buNone/>
            </a:pPr>
            <a:r>
              <a:rPr lang="en-US" sz="1000" dirty="0">
                <a:solidFill>
                  <a:srgbClr val="8A96B3"/>
                </a:solidFill>
                <a:latin typeface="Arial" pitchFamily="34" charset="0"/>
                <a:ea typeface="Arial" pitchFamily="34" charset="-122"/>
                <a:cs typeface="Arial" pitchFamily="34" charset="-120"/>
              </a:rPr>
              <a:t>Hop to the next planet in the system</a:t>
            </a:r>
            <a:endParaRPr lang="en-US" sz="1000" dirty="0"/>
          </a:p>
        </p:txBody>
      </p:sp>
      <p:sp>
        <p:nvSpPr>
          <p:cNvPr id="10" name="Shape 7"/>
          <p:cNvSpPr/>
          <p:nvPr/>
        </p:nvSpPr>
        <p:spPr>
          <a:xfrm>
            <a:off x="3246120" y="1508760"/>
            <a:ext cx="2651760" cy="1417320"/>
          </a:xfrm>
          <a:prstGeom prst="roundRect">
            <a:avLst>
              <a:gd name="adj" fmla="val 5161"/>
            </a:avLst>
          </a:prstGeom>
          <a:solidFill>
            <a:srgbClr val="0B1020">
              <a:alpha val="80000"/>
            </a:srgbClr>
          </a:solidFill>
          <a:ln w="9525">
            <a:solidFill>
              <a:srgbClr val="2A3A66"/>
            </a:solidFill>
            <a:prstDash val="solid"/>
          </a:ln>
        </p:spPr>
      </p:sp>
      <p:pic>
        <p:nvPicPr>
          <p:cNvPr id="11" name="Image 1" descr="/private/tmp/claude-501/-Users-moorthy-Downloads-Projects-Bitrig-Hackathon/9cc55efd-258b-4603-a2ab-dd50fe68f596/scratchpad/deck/png/g-warp.png">    </p:cNvPr>
          <p:cNvPicPr>
            <a:picLocks noChangeAspect="1"/>
          </p:cNvPicPr>
          <p:nvPr/>
        </p:nvPicPr>
        <p:blipFill>
          <a:blip r:embed="rId3"/>
          <a:stretch>
            <a:fillRect/>
          </a:stretch>
        </p:blipFill>
        <p:spPr>
          <a:xfrm>
            <a:off x="3355848" y="1618488"/>
            <a:ext cx="868680" cy="868680"/>
          </a:xfrm>
          <a:prstGeom prst="rect">
            <a:avLst/>
          </a:prstGeom>
        </p:spPr>
      </p:pic>
      <p:sp>
        <p:nvSpPr>
          <p:cNvPr id="12" name="Text 8"/>
          <p:cNvSpPr txBox="1"/>
          <p:nvPr/>
        </p:nvSpPr>
        <p:spPr>
          <a:xfrm>
            <a:off x="3319272" y="2532888"/>
            <a:ext cx="1005840" cy="320040"/>
          </a:xfrm>
          <a:prstGeom prst="rect">
            <a:avLst/>
          </a:prstGeom>
          <a:noFill/>
          <a:ln/>
        </p:spPr>
        <p:txBody>
          <a:bodyPr wrap="square" lIns="0" tIns="0" rIns="0" bIns="0" rtlCol="0" anchor="t"/>
          <a:lstStyle/>
          <a:p>
            <a:pPr indent="0" marL="0">
              <a:buNone/>
            </a:pPr>
            <a:r>
              <a:rPr lang="en-US" sz="750" dirty="0">
                <a:solidFill>
                  <a:srgbClr val="3DF2FF"/>
                </a:solidFill>
                <a:latin typeface="Courier New" pitchFamily="34" charset="0"/>
                <a:ea typeface="Courier New" pitchFamily="34" charset="-122"/>
                <a:cs typeface="Courier New" pitchFamily="34" charset="-120"/>
              </a:rPr>
              <a:t>.warpClose</a:t>
            </a:r>
            <a:endParaRPr lang="en-US" sz="750" dirty="0"/>
          </a:p>
        </p:txBody>
      </p:sp>
      <p:sp>
        <p:nvSpPr>
          <p:cNvPr id="13" name="Text 9"/>
          <p:cNvSpPr txBox="1"/>
          <p:nvPr/>
        </p:nvSpPr>
        <p:spPr>
          <a:xfrm>
            <a:off x="4297680" y="1645920"/>
            <a:ext cx="1508760" cy="274320"/>
          </a:xfrm>
          <a:prstGeom prst="rect">
            <a:avLst/>
          </a:prstGeom>
          <a:noFill/>
          <a:ln/>
        </p:spPr>
        <p:txBody>
          <a:bodyPr wrap="square" lIns="0" tIns="0" rIns="0" bIns="0" rtlCol="0" anchor="t"/>
          <a:lstStyle/>
          <a:p>
            <a:pPr indent="0" marL="0">
              <a:buNone/>
            </a:pPr>
            <a:r>
              <a:rPr lang="en-US" sz="1500" b="1" dirty="0">
                <a:solidFill>
                  <a:srgbClr val="FFB238"/>
                </a:solidFill>
                <a:latin typeface="Courier New" pitchFamily="34" charset="0"/>
                <a:ea typeface="Courier New" pitchFamily="34" charset="-122"/>
                <a:cs typeface="Courier New" pitchFamily="34" charset="-120"/>
              </a:rPr>
              <a:t>WARP</a:t>
            </a:r>
            <a:endParaRPr lang="en-US" sz="1500" dirty="0"/>
          </a:p>
        </p:txBody>
      </p:sp>
      <p:sp>
        <p:nvSpPr>
          <p:cNvPr id="14" name="Text 10"/>
          <p:cNvSpPr txBox="1"/>
          <p:nvPr/>
        </p:nvSpPr>
        <p:spPr>
          <a:xfrm>
            <a:off x="4297680" y="1947672"/>
            <a:ext cx="150876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Close the phone smoothly, 60–160°/s</a:t>
            </a:r>
            <a:endParaRPr lang="en-US" sz="1100" dirty="0"/>
          </a:p>
        </p:txBody>
      </p:sp>
      <p:sp>
        <p:nvSpPr>
          <p:cNvPr id="15" name="Text 11"/>
          <p:cNvSpPr txBox="1"/>
          <p:nvPr/>
        </p:nvSpPr>
        <p:spPr>
          <a:xfrm>
            <a:off x="4297680" y="2404872"/>
            <a:ext cx="1508760" cy="502920"/>
          </a:xfrm>
          <a:prstGeom prst="rect">
            <a:avLst/>
          </a:prstGeom>
          <a:noFill/>
          <a:ln/>
        </p:spPr>
        <p:txBody>
          <a:bodyPr wrap="square" lIns="0" tIns="0" rIns="0" bIns="0" rtlCol="0" anchor="t"/>
          <a:lstStyle/>
          <a:p>
            <a:pPr indent="0" marL="0">
              <a:buNone/>
            </a:pPr>
            <a:r>
              <a:rPr lang="en-US" sz="1000" dirty="0">
                <a:solidFill>
                  <a:srgbClr val="8A96B3"/>
                </a:solidFill>
                <a:latin typeface="Arial" pitchFamily="34" charset="0"/>
                <a:ea typeface="Arial" pitchFamily="34" charset="-122"/>
                <a:cs typeface="Arial" pitchFamily="34" charset="-120"/>
              </a:rPr>
              <a:t>Fold space to the targeted star. Slam or crawl and the bubble collapses</a:t>
            </a:r>
            <a:endParaRPr lang="en-US" sz="1000" dirty="0"/>
          </a:p>
        </p:txBody>
      </p:sp>
      <p:sp>
        <p:nvSpPr>
          <p:cNvPr id="16" name="Shape 12"/>
          <p:cNvSpPr/>
          <p:nvPr/>
        </p:nvSpPr>
        <p:spPr>
          <a:xfrm>
            <a:off x="6035040" y="1508760"/>
            <a:ext cx="2651760" cy="1417320"/>
          </a:xfrm>
          <a:prstGeom prst="roundRect">
            <a:avLst>
              <a:gd name="adj" fmla="val 5161"/>
            </a:avLst>
          </a:prstGeom>
          <a:solidFill>
            <a:srgbClr val="0B1020">
              <a:alpha val="80000"/>
            </a:srgbClr>
          </a:solidFill>
          <a:ln w="9525">
            <a:solidFill>
              <a:srgbClr val="2A3A66"/>
            </a:solidFill>
            <a:prstDash val="solid"/>
          </a:ln>
        </p:spPr>
      </p:sp>
      <p:pic>
        <p:nvPicPr>
          <p:cNvPr id="17" name="Image 2" descr="/private/tmp/claude-501/-Users-moorthy-Downloads-Projects-Bitrig-Hackathon/9cc55efd-258b-4603-a2ab-dd50fe68f596/scratchpad/deck/png/g-charge.png">    </p:cNvPr>
          <p:cNvPicPr>
            <a:picLocks noChangeAspect="1"/>
          </p:cNvPicPr>
          <p:nvPr/>
        </p:nvPicPr>
        <p:blipFill>
          <a:blip r:embed="rId4"/>
          <a:stretch>
            <a:fillRect/>
          </a:stretch>
        </p:blipFill>
        <p:spPr>
          <a:xfrm>
            <a:off x="6144768" y="1618488"/>
            <a:ext cx="868680" cy="868680"/>
          </a:xfrm>
          <a:prstGeom prst="rect">
            <a:avLst/>
          </a:prstGeom>
        </p:spPr>
      </p:pic>
      <p:sp>
        <p:nvSpPr>
          <p:cNvPr id="18" name="Text 13"/>
          <p:cNvSpPr txBox="1"/>
          <p:nvPr/>
        </p:nvSpPr>
        <p:spPr>
          <a:xfrm>
            <a:off x="6108192" y="2532888"/>
            <a:ext cx="1005840" cy="320040"/>
          </a:xfrm>
          <a:prstGeom prst="rect">
            <a:avLst/>
          </a:prstGeom>
          <a:noFill/>
          <a:ln/>
        </p:spPr>
        <p:txBody>
          <a:bodyPr wrap="square" lIns="0" tIns="0" rIns="0" bIns="0" rtlCol="0" anchor="t"/>
          <a:lstStyle/>
          <a:p>
            <a:pPr indent="0" marL="0">
              <a:buNone/>
            </a:pPr>
            <a:r>
              <a:rPr lang="en-US" sz="750" dirty="0">
                <a:solidFill>
                  <a:srgbClr val="3DF2FF"/>
                </a:solidFill>
                <a:latin typeface="Courier New" pitchFamily="34" charset="0"/>
                <a:ea typeface="Courier New" pitchFamily="34" charset="-122"/>
                <a:cs typeface="Courier New" pitchFamily="34" charset="-120"/>
              </a:rPr>
              <a:t>.squeezeBegan</a:t>
            </a:r>
            <a:endParaRPr lang="en-US" sz="750" dirty="0"/>
          </a:p>
        </p:txBody>
      </p:sp>
      <p:sp>
        <p:nvSpPr>
          <p:cNvPr id="19" name="Text 14"/>
          <p:cNvSpPr txBox="1"/>
          <p:nvPr/>
        </p:nvSpPr>
        <p:spPr>
          <a:xfrm>
            <a:off x="7086600" y="1645920"/>
            <a:ext cx="1508760" cy="274320"/>
          </a:xfrm>
          <a:prstGeom prst="rect">
            <a:avLst/>
          </a:prstGeom>
          <a:noFill/>
          <a:ln/>
        </p:spPr>
        <p:txBody>
          <a:bodyPr wrap="square" lIns="0" tIns="0" rIns="0" bIns="0" rtlCol="0" anchor="t"/>
          <a:lstStyle/>
          <a:p>
            <a:pPr indent="0" marL="0">
              <a:buNone/>
            </a:pPr>
            <a:r>
              <a:rPr lang="en-US" sz="1500" b="1" dirty="0">
                <a:solidFill>
                  <a:srgbClr val="FFB238"/>
                </a:solidFill>
                <a:latin typeface="Courier New" pitchFamily="34" charset="0"/>
                <a:ea typeface="Courier New" pitchFamily="34" charset="-122"/>
                <a:cs typeface="Courier New" pitchFamily="34" charset="-120"/>
              </a:rPr>
              <a:t>CHARGE</a:t>
            </a:r>
            <a:endParaRPr lang="en-US" sz="1500" dirty="0"/>
          </a:p>
        </p:txBody>
      </p:sp>
      <p:sp>
        <p:nvSpPr>
          <p:cNvPr id="20" name="Text 15"/>
          <p:cNvSpPr txBox="1"/>
          <p:nvPr/>
        </p:nvSpPr>
        <p:spPr>
          <a:xfrm>
            <a:off x="7086600" y="1947672"/>
            <a:ext cx="150876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Squeeze below 45° and hold</a:t>
            </a:r>
            <a:endParaRPr lang="en-US" sz="1100" dirty="0"/>
          </a:p>
        </p:txBody>
      </p:sp>
      <p:sp>
        <p:nvSpPr>
          <p:cNvPr id="21" name="Text 16"/>
          <p:cNvSpPr txBox="1"/>
          <p:nvPr/>
        </p:nvSpPr>
        <p:spPr>
          <a:xfrm>
            <a:off x="7086600" y="2404872"/>
            <a:ext cx="1508760" cy="502920"/>
          </a:xfrm>
          <a:prstGeom prst="rect">
            <a:avLst/>
          </a:prstGeom>
          <a:noFill/>
          <a:ln/>
        </p:spPr>
        <p:txBody>
          <a:bodyPr wrap="square" lIns="0" tIns="0" rIns="0" bIns="0" rtlCol="0" anchor="t"/>
          <a:lstStyle/>
          <a:p>
            <a:pPr indent="0" marL="0">
              <a:buNone/>
            </a:pPr>
            <a:r>
              <a:rPr lang="en-US" sz="1000" dirty="0">
                <a:solidFill>
                  <a:srgbClr val="8A96B3"/>
                </a:solidFill>
                <a:latin typeface="Arial" pitchFamily="34" charset="0"/>
                <a:ea typeface="Arial" pitchFamily="34" charset="-122"/>
                <a:cs typeface="Arial" pitchFamily="34" charset="-120"/>
              </a:rPr>
              <a:t>The Nova Lance charges in the crease</a:t>
            </a:r>
            <a:endParaRPr lang="en-US" sz="1000" dirty="0"/>
          </a:p>
        </p:txBody>
      </p:sp>
      <p:sp>
        <p:nvSpPr>
          <p:cNvPr id="22" name="Shape 17"/>
          <p:cNvSpPr/>
          <p:nvPr/>
        </p:nvSpPr>
        <p:spPr>
          <a:xfrm>
            <a:off x="457200" y="3063240"/>
            <a:ext cx="2651760" cy="1417320"/>
          </a:xfrm>
          <a:prstGeom prst="roundRect">
            <a:avLst>
              <a:gd name="adj" fmla="val 5161"/>
            </a:avLst>
          </a:prstGeom>
          <a:solidFill>
            <a:srgbClr val="0B1020">
              <a:alpha val="80000"/>
            </a:srgbClr>
          </a:solidFill>
          <a:ln w="9525">
            <a:solidFill>
              <a:srgbClr val="2A3A66"/>
            </a:solidFill>
            <a:prstDash val="solid"/>
          </a:ln>
        </p:spPr>
      </p:sp>
      <p:pic>
        <p:nvPicPr>
          <p:cNvPr id="23" name="Image 3" descr="/private/tmp/claude-501/-Users-moorthy-Downloads-Projects-Bitrig-Hackathon/9cc55efd-258b-4603-a2ab-dd50fe68f596/scratchpad/deck/png/g-fire.png">    </p:cNvPr>
          <p:cNvPicPr>
            <a:picLocks noChangeAspect="1"/>
          </p:cNvPicPr>
          <p:nvPr/>
        </p:nvPicPr>
        <p:blipFill>
          <a:blip r:embed="rId5"/>
          <a:stretch>
            <a:fillRect/>
          </a:stretch>
        </p:blipFill>
        <p:spPr>
          <a:xfrm>
            <a:off x="566928" y="3172968"/>
            <a:ext cx="868680" cy="868680"/>
          </a:xfrm>
          <a:prstGeom prst="rect">
            <a:avLst/>
          </a:prstGeom>
        </p:spPr>
      </p:pic>
      <p:sp>
        <p:nvSpPr>
          <p:cNvPr id="24" name="Text 18"/>
          <p:cNvSpPr txBox="1"/>
          <p:nvPr/>
        </p:nvSpPr>
        <p:spPr>
          <a:xfrm>
            <a:off x="530352" y="4087368"/>
            <a:ext cx="1005840" cy="320040"/>
          </a:xfrm>
          <a:prstGeom prst="rect">
            <a:avLst/>
          </a:prstGeom>
          <a:noFill/>
          <a:ln/>
        </p:spPr>
        <p:txBody>
          <a:bodyPr wrap="square" lIns="0" tIns="0" rIns="0" bIns="0" rtlCol="0" anchor="t"/>
          <a:lstStyle/>
          <a:p>
            <a:pPr indent="0" marL="0">
              <a:buNone/>
            </a:pPr>
            <a:r>
              <a:rPr lang="en-US" sz="750" dirty="0">
                <a:solidFill>
                  <a:srgbClr val="3DF2FF"/>
                </a:solidFill>
                <a:latin typeface="Courier New" pitchFamily="34" charset="0"/>
                <a:ea typeface="Courier New" pitchFamily="34" charset="-122"/>
                <a:cs typeface="Courier New" pitchFamily="34" charset="-120"/>
              </a:rPr>
              <a:t>.snapOpen</a:t>
            </a:r>
            <a:endParaRPr lang="en-US" sz="750" dirty="0"/>
          </a:p>
        </p:txBody>
      </p:sp>
      <p:sp>
        <p:nvSpPr>
          <p:cNvPr id="25" name="Text 19"/>
          <p:cNvSpPr txBox="1"/>
          <p:nvPr/>
        </p:nvSpPr>
        <p:spPr>
          <a:xfrm>
            <a:off x="1508760" y="3200400"/>
            <a:ext cx="1508760" cy="274320"/>
          </a:xfrm>
          <a:prstGeom prst="rect">
            <a:avLst/>
          </a:prstGeom>
          <a:noFill/>
          <a:ln/>
        </p:spPr>
        <p:txBody>
          <a:bodyPr wrap="square" lIns="0" tIns="0" rIns="0" bIns="0" rtlCol="0" anchor="t"/>
          <a:lstStyle/>
          <a:p>
            <a:pPr indent="0" marL="0">
              <a:buNone/>
            </a:pPr>
            <a:r>
              <a:rPr lang="en-US" sz="1500" b="1" dirty="0">
                <a:solidFill>
                  <a:srgbClr val="FFB238"/>
                </a:solidFill>
                <a:latin typeface="Courier New" pitchFamily="34" charset="0"/>
                <a:ea typeface="Courier New" pitchFamily="34" charset="-122"/>
                <a:cs typeface="Courier New" pitchFamily="34" charset="-120"/>
              </a:rPr>
              <a:t>FIRE</a:t>
            </a:r>
            <a:endParaRPr lang="en-US" sz="1500" dirty="0"/>
          </a:p>
        </p:txBody>
      </p:sp>
      <p:sp>
        <p:nvSpPr>
          <p:cNvPr id="26" name="Text 20"/>
          <p:cNvSpPr txBox="1"/>
          <p:nvPr/>
        </p:nvSpPr>
        <p:spPr>
          <a:xfrm>
            <a:off x="1508760" y="3502152"/>
            <a:ext cx="150876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Snap it open, faster than 250°/s</a:t>
            </a:r>
            <a:endParaRPr lang="en-US" sz="1100" dirty="0"/>
          </a:p>
        </p:txBody>
      </p:sp>
      <p:sp>
        <p:nvSpPr>
          <p:cNvPr id="27" name="Text 21"/>
          <p:cNvSpPr txBox="1"/>
          <p:nvPr/>
        </p:nvSpPr>
        <p:spPr>
          <a:xfrm>
            <a:off x="1508760" y="3959352"/>
            <a:ext cx="1508760" cy="502920"/>
          </a:xfrm>
          <a:prstGeom prst="rect">
            <a:avLst/>
          </a:prstGeom>
          <a:noFill/>
          <a:ln/>
        </p:spPr>
        <p:txBody>
          <a:bodyPr wrap="square" lIns="0" tIns="0" rIns="0" bIns="0" rtlCol="0" anchor="t"/>
          <a:lstStyle/>
          <a:p>
            <a:pPr indent="0" marL="0">
              <a:buNone/>
            </a:pPr>
            <a:r>
              <a:rPr lang="en-US" sz="1000" dirty="0">
                <a:solidFill>
                  <a:srgbClr val="8A96B3"/>
                </a:solidFill>
                <a:latin typeface="Arial" pitchFamily="34" charset="0"/>
                <a:ea typeface="Arial" pitchFamily="34" charset="-122"/>
                <a:cs typeface="Arial" pitchFamily="34" charset="-120"/>
              </a:rPr>
              <a:t>The planet shatters in 3D in the corner</a:t>
            </a:r>
            <a:endParaRPr lang="en-US" sz="1000" dirty="0"/>
          </a:p>
        </p:txBody>
      </p:sp>
      <p:sp>
        <p:nvSpPr>
          <p:cNvPr id="28" name="Shape 22"/>
          <p:cNvSpPr/>
          <p:nvPr/>
        </p:nvSpPr>
        <p:spPr>
          <a:xfrm>
            <a:off x="3246120" y="3063240"/>
            <a:ext cx="2651760" cy="1417320"/>
          </a:xfrm>
          <a:prstGeom prst="roundRect">
            <a:avLst>
              <a:gd name="adj" fmla="val 5161"/>
            </a:avLst>
          </a:prstGeom>
          <a:solidFill>
            <a:srgbClr val="0B1020">
              <a:alpha val="80000"/>
            </a:srgbClr>
          </a:solidFill>
          <a:ln w="9525">
            <a:solidFill>
              <a:srgbClr val="2A3A66"/>
            </a:solidFill>
            <a:prstDash val="solid"/>
          </a:ln>
        </p:spPr>
      </p:sp>
      <p:pic>
        <p:nvPicPr>
          <p:cNvPr id="29" name="Image 4" descr="/private/tmp/claude-501/-Users-moorthy-Downloads-Projects-Bitrig-Hackathon/9cc55efd-258b-4603-a2ab-dd50fe68f596/scratchpad/deck/png/g-pump.png">    </p:cNvPr>
          <p:cNvPicPr>
            <a:picLocks noChangeAspect="1"/>
          </p:cNvPicPr>
          <p:nvPr/>
        </p:nvPicPr>
        <p:blipFill>
          <a:blip r:embed="rId6"/>
          <a:stretch>
            <a:fillRect/>
          </a:stretch>
        </p:blipFill>
        <p:spPr>
          <a:xfrm>
            <a:off x="3355848" y="3172968"/>
            <a:ext cx="868680" cy="868680"/>
          </a:xfrm>
          <a:prstGeom prst="rect">
            <a:avLst/>
          </a:prstGeom>
        </p:spPr>
      </p:pic>
      <p:sp>
        <p:nvSpPr>
          <p:cNvPr id="30" name="Text 23"/>
          <p:cNvSpPr txBox="1"/>
          <p:nvPr/>
        </p:nvSpPr>
        <p:spPr>
          <a:xfrm>
            <a:off x="3319272" y="4087368"/>
            <a:ext cx="1005840" cy="320040"/>
          </a:xfrm>
          <a:prstGeom prst="rect">
            <a:avLst/>
          </a:prstGeom>
          <a:noFill/>
          <a:ln/>
        </p:spPr>
        <p:txBody>
          <a:bodyPr wrap="square" lIns="0" tIns="0" rIns="0" bIns="0" rtlCol="0" anchor="t"/>
          <a:lstStyle/>
          <a:p>
            <a:pPr indent="0" marL="0">
              <a:buNone/>
            </a:pPr>
            <a:r>
              <a:rPr lang="en-US" sz="750" dirty="0">
                <a:solidFill>
                  <a:srgbClr val="3DF2FF"/>
                </a:solidFill>
                <a:latin typeface="Courier New" pitchFamily="34" charset="0"/>
                <a:ea typeface="Courier New" pitchFamily="34" charset="-122"/>
                <a:cs typeface="Courier New" pitchFamily="34" charset="-120"/>
              </a:rPr>
              <a:t>.pumpComplete</a:t>
            </a:r>
            <a:endParaRPr lang="en-US" sz="750" dirty="0"/>
          </a:p>
        </p:txBody>
      </p:sp>
      <p:sp>
        <p:nvSpPr>
          <p:cNvPr id="31" name="Text 24"/>
          <p:cNvSpPr txBox="1"/>
          <p:nvPr/>
        </p:nvSpPr>
        <p:spPr>
          <a:xfrm>
            <a:off x="4297680" y="3200400"/>
            <a:ext cx="1508760" cy="274320"/>
          </a:xfrm>
          <a:prstGeom prst="rect">
            <a:avLst/>
          </a:prstGeom>
          <a:noFill/>
          <a:ln/>
        </p:spPr>
        <p:txBody>
          <a:bodyPr wrap="square" lIns="0" tIns="0" rIns="0" bIns="0" rtlCol="0" anchor="t"/>
          <a:lstStyle/>
          <a:p>
            <a:pPr indent="0" marL="0">
              <a:buNone/>
            </a:pPr>
            <a:r>
              <a:rPr lang="en-US" sz="1500" b="1" dirty="0">
                <a:solidFill>
                  <a:srgbClr val="FFB238"/>
                </a:solidFill>
                <a:latin typeface="Courier New" pitchFamily="34" charset="0"/>
                <a:ea typeface="Courier New" pitchFamily="34" charset="-122"/>
                <a:cs typeface="Courier New" pitchFamily="34" charset="-120"/>
              </a:rPr>
              <a:t>PUMP</a:t>
            </a:r>
            <a:endParaRPr lang="en-US" sz="1500" dirty="0"/>
          </a:p>
        </p:txBody>
      </p:sp>
      <p:sp>
        <p:nvSpPr>
          <p:cNvPr id="32" name="Text 25"/>
          <p:cNvSpPr txBox="1"/>
          <p:nvPr/>
        </p:nvSpPr>
        <p:spPr>
          <a:xfrm>
            <a:off x="4297680" y="3502152"/>
            <a:ext cx="150876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Open and shut four times, then slam</a:t>
            </a:r>
            <a:endParaRPr lang="en-US" sz="1100" dirty="0"/>
          </a:p>
        </p:txBody>
      </p:sp>
      <p:sp>
        <p:nvSpPr>
          <p:cNvPr id="33" name="Text 26"/>
          <p:cNvSpPr txBox="1"/>
          <p:nvPr/>
        </p:nvSpPr>
        <p:spPr>
          <a:xfrm>
            <a:off x="4297680" y="3959352"/>
            <a:ext cx="1508760" cy="502920"/>
          </a:xfrm>
          <a:prstGeom prst="rect">
            <a:avLst/>
          </a:prstGeom>
          <a:noFill/>
          <a:ln/>
        </p:spPr>
        <p:txBody>
          <a:bodyPr wrap="square" lIns="0" tIns="0" rIns="0" bIns="0" rtlCol="0" anchor="t"/>
          <a:lstStyle/>
          <a:p>
            <a:pPr indent="0" marL="0">
              <a:buNone/>
            </a:pPr>
            <a:r>
              <a:rPr lang="en-US" sz="1000" dirty="0">
                <a:solidFill>
                  <a:srgbClr val="8A96B3"/>
                </a:solidFill>
                <a:latin typeface="Arial" pitchFamily="34" charset="0"/>
                <a:ea typeface="Arial" pitchFamily="34" charset="-122"/>
                <a:cs typeface="Arial" pitchFamily="34" charset="-120"/>
              </a:rPr>
              <a:t>Charge the Fold Core for the 2.5-million-light-year jump</a:t>
            </a:r>
            <a:endParaRPr lang="en-US" sz="1000" dirty="0"/>
          </a:p>
        </p:txBody>
      </p:sp>
      <p:sp>
        <p:nvSpPr>
          <p:cNvPr id="34" name="Shape 27"/>
          <p:cNvSpPr/>
          <p:nvPr/>
        </p:nvSpPr>
        <p:spPr>
          <a:xfrm>
            <a:off x="6035040" y="3063240"/>
            <a:ext cx="2651760" cy="1417320"/>
          </a:xfrm>
          <a:prstGeom prst="roundRect">
            <a:avLst>
              <a:gd name="adj" fmla="val 5161"/>
            </a:avLst>
          </a:prstGeom>
          <a:solidFill>
            <a:srgbClr val="0B1020">
              <a:alpha val="80000"/>
            </a:srgbClr>
          </a:solidFill>
          <a:ln w="9525">
            <a:solidFill>
              <a:srgbClr val="2A3A66"/>
            </a:solidFill>
            <a:prstDash val="solid"/>
          </a:ln>
        </p:spPr>
      </p:sp>
      <p:pic>
        <p:nvPicPr>
          <p:cNvPr id="35" name="Image 5" descr="/private/tmp/claude-501/-Users-moorthy-Downloads-Projects-Bitrig-Hackathon/9cc55efd-258b-4603-a2ab-dd50fe68f596/scratchpad/deck/png/g-dive.png">    </p:cNvPr>
          <p:cNvPicPr>
            <a:picLocks noChangeAspect="1"/>
          </p:cNvPicPr>
          <p:nvPr/>
        </p:nvPicPr>
        <p:blipFill>
          <a:blip r:embed="rId7"/>
          <a:stretch>
            <a:fillRect/>
          </a:stretch>
        </p:blipFill>
        <p:spPr>
          <a:xfrm>
            <a:off x="6144768" y="3172968"/>
            <a:ext cx="868680" cy="868680"/>
          </a:xfrm>
          <a:prstGeom prst="rect">
            <a:avLst/>
          </a:prstGeom>
        </p:spPr>
      </p:pic>
      <p:sp>
        <p:nvSpPr>
          <p:cNvPr id="36" name="Text 28"/>
          <p:cNvSpPr txBox="1"/>
          <p:nvPr/>
        </p:nvSpPr>
        <p:spPr>
          <a:xfrm>
            <a:off x="6108192" y="4087368"/>
            <a:ext cx="1005840" cy="320040"/>
          </a:xfrm>
          <a:prstGeom prst="rect">
            <a:avLst/>
          </a:prstGeom>
          <a:noFill/>
          <a:ln/>
        </p:spPr>
        <p:txBody>
          <a:bodyPr wrap="square" lIns="0" tIns="0" rIns="0" bIns="0" rtlCol="0" anchor="t"/>
          <a:lstStyle/>
          <a:p>
            <a:pPr indent="0" marL="0">
              <a:buNone/>
            </a:pPr>
            <a:r>
              <a:rPr lang="en-US" sz="750" dirty="0">
                <a:solidFill>
                  <a:srgbClr val="3DF2FF"/>
                </a:solidFill>
                <a:latin typeface="Courier New" pitchFamily="34" charset="0"/>
                <a:ea typeface="Courier New" pitchFamily="34" charset="-122"/>
                <a:cs typeface="Courier New" pitchFamily="34" charset="-120"/>
              </a:rPr>
              <a:t>continuous angle</a:t>
            </a:r>
            <a:endParaRPr lang="en-US" sz="750" dirty="0"/>
          </a:p>
        </p:txBody>
      </p:sp>
      <p:sp>
        <p:nvSpPr>
          <p:cNvPr id="37" name="Text 29"/>
          <p:cNvSpPr txBox="1"/>
          <p:nvPr/>
        </p:nvSpPr>
        <p:spPr>
          <a:xfrm>
            <a:off x="7086600" y="3200400"/>
            <a:ext cx="1508760" cy="274320"/>
          </a:xfrm>
          <a:prstGeom prst="rect">
            <a:avLst/>
          </a:prstGeom>
          <a:noFill/>
          <a:ln/>
        </p:spPr>
        <p:txBody>
          <a:bodyPr wrap="square" lIns="0" tIns="0" rIns="0" bIns="0" rtlCol="0" anchor="t"/>
          <a:lstStyle/>
          <a:p>
            <a:pPr indent="0" marL="0">
              <a:buNone/>
            </a:pPr>
            <a:r>
              <a:rPr lang="en-US" sz="1500" b="1" dirty="0">
                <a:solidFill>
                  <a:srgbClr val="FFB238"/>
                </a:solidFill>
                <a:latin typeface="Courier New" pitchFamily="34" charset="0"/>
                <a:ea typeface="Courier New" pitchFamily="34" charset="-122"/>
                <a:cs typeface="Courier New" pitchFamily="34" charset="-120"/>
              </a:rPr>
              <a:t>DIVE</a:t>
            </a:r>
            <a:endParaRPr lang="en-US" sz="1500" dirty="0"/>
          </a:p>
        </p:txBody>
      </p:sp>
      <p:sp>
        <p:nvSpPr>
          <p:cNvPr id="38" name="Text 30"/>
          <p:cNvSpPr txBox="1"/>
          <p:nvPr/>
        </p:nvSpPr>
        <p:spPr>
          <a:xfrm>
            <a:off x="7086600" y="3502152"/>
            <a:ext cx="150876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Close slowly while orbiting the Sun</a:t>
            </a:r>
            <a:endParaRPr lang="en-US" sz="1100" dirty="0"/>
          </a:p>
        </p:txBody>
      </p:sp>
      <p:sp>
        <p:nvSpPr>
          <p:cNvPr id="39" name="Text 31"/>
          <p:cNvSpPr txBox="1"/>
          <p:nvPr/>
        </p:nvSpPr>
        <p:spPr>
          <a:xfrm>
            <a:off x="7086600" y="3959352"/>
            <a:ext cx="1508760" cy="502920"/>
          </a:xfrm>
          <a:prstGeom prst="rect">
            <a:avLst/>
          </a:prstGeom>
          <a:noFill/>
          <a:ln/>
        </p:spPr>
        <p:txBody>
          <a:bodyPr wrap="square" lIns="0" tIns="0" rIns="0" bIns="0" rtlCol="0" anchor="t"/>
          <a:lstStyle/>
          <a:p>
            <a:pPr indent="0" marL="0">
              <a:buNone/>
            </a:pPr>
            <a:r>
              <a:rPr lang="en-US" sz="1000" dirty="0">
                <a:solidFill>
                  <a:srgbClr val="8A96B3"/>
                </a:solidFill>
                <a:latin typeface="Arial" pitchFamily="34" charset="0"/>
                <a:ea typeface="Arial" pitchFamily="34" charset="-122"/>
                <a:cs typeface="Arial" pitchFamily="34" charset="-120"/>
              </a:rPr>
              <a:t>Depth = fold amount. Open the phone to climb out</a:t>
            </a:r>
            <a:endParaRPr lang="en-US" sz="1000" dirty="0"/>
          </a:p>
        </p:txBody>
      </p:sp>
      <p:sp>
        <p:nvSpPr>
          <p:cNvPr id="40" name="Text 32"/>
          <p:cNvSpPr txBox="1"/>
          <p:nvPr/>
        </p:nvSpPr>
        <p:spPr>
          <a:xfrm>
            <a:off x="548640" y="4645152"/>
            <a:ext cx="8046720" cy="274320"/>
          </a:xfrm>
          <a:prstGeom prst="rect">
            <a:avLst/>
          </a:prstGeom>
          <a:noFill/>
          <a:ln/>
        </p:spPr>
        <p:txBody>
          <a:bodyPr wrap="square" lIns="0" tIns="0" rIns="0" bIns="0" rtlCol="0" anchor="t"/>
          <a:lstStyle/>
          <a:p>
            <a:pPr indent="0" marL="0">
              <a:buNone/>
            </a:pPr>
            <a:r>
              <a:rPr lang="en-US" sz="950" dirty="0">
                <a:solidFill>
                  <a:srgbClr val="6B7A99"/>
                </a:solidFill>
                <a:latin typeface="Courier New" pitchFamily="34" charset="0"/>
                <a:ea typeface="Courier New" pitchFamily="34" charset="-122"/>
                <a:cs typeface="Courier New" pitchFamily="34" charset="-120"/>
              </a:rPr>
              <a:t>Every gesture pairs with a haptic and a HUD line · Foldspace/Hinge/HingeEngine.swift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moorthy-Downloads-Projects-Bitrig-Hackathon/9cc55efd-258b-4603-a2ab-dd50fe68f596/scratchpad/deck/png/hologram.png">    </p:cNvPr>
          <p:cNvPicPr>
            <a:picLocks noChangeAspect="1"/>
          </p:cNvPicPr>
          <p:nvPr/>
        </p:nvPicPr>
        <p:blipFill>
          <a:blip r:embed="rId2"/>
          <a:stretch>
            <a:fillRect/>
          </a:stretch>
        </p:blipFill>
        <p:spPr>
          <a:xfrm>
            <a:off x="228600" y="868680"/>
            <a:ext cx="4572000" cy="3657600"/>
          </a:xfrm>
          <a:prstGeom prst="rect">
            <a:avLst/>
          </a:prstGeom>
        </p:spPr>
      </p:pic>
      <p:sp>
        <p:nvSpPr>
          <p:cNvPr id="3" name="Text 0"/>
          <p:cNvSpPr txBox="1"/>
          <p:nvPr/>
        </p:nvSpPr>
        <p:spPr>
          <a:xfrm>
            <a:off x="5029200" y="457200"/>
            <a:ext cx="3749040" cy="822960"/>
          </a:xfrm>
          <a:prstGeom prst="rect">
            <a:avLst/>
          </a:prstGeom>
          <a:noFill/>
          <a:ln/>
        </p:spPr>
        <p:txBody>
          <a:bodyPr wrap="square" lIns="0" tIns="0" rIns="0" bIns="0" rtlCol="0" anchor="t"/>
          <a:lstStyle/>
          <a:p>
            <a:pPr indent="0" marL="0">
              <a:buNone/>
            </a:pPr>
            <a:r>
              <a:rPr lang="en-US" sz="2400" b="1" dirty="0">
                <a:solidFill>
                  <a:srgbClr val="FFFFFF"/>
                </a:solidFill>
                <a:latin typeface="Courier New" pitchFamily="34" charset="0"/>
                <a:ea typeface="Courier New" pitchFamily="34" charset="-122"/>
                <a:cs typeface="Courier New" pitchFamily="34" charset="-120"/>
              </a:rPr>
              <a:t>The hologram in the fold</a:t>
            </a:r>
            <a:endParaRPr lang="en-US" sz="2400" dirty="0"/>
          </a:p>
        </p:txBody>
      </p:sp>
      <p:sp>
        <p:nvSpPr>
          <p:cNvPr id="4" name="Text 1"/>
          <p:cNvSpPr txBox="1"/>
          <p:nvPr/>
        </p:nvSpPr>
        <p:spPr>
          <a:xfrm>
            <a:off x="5029200" y="1371600"/>
            <a:ext cx="3749040" cy="1051560"/>
          </a:xfrm>
          <a:prstGeom prst="rect">
            <a:avLst/>
          </a:prstGeom>
          <a:noFill/>
          <a:ln/>
        </p:spPr>
        <p:txBody>
          <a:bodyPr wrap="square" lIns="0" tIns="0" rIns="0" bIns="0" rtlCol="0" anchor="t"/>
          <a:lstStyle/>
          <a:p>
            <a:pPr indent="0" marL="0">
              <a:buNone/>
            </a:pPr>
            <a:r>
              <a:rPr lang="en-US" sz="1250" dirty="0">
                <a:solidFill>
                  <a:srgbClr val="C9D2E6"/>
                </a:solidFill>
                <a:latin typeface="Arial" pitchFamily="34" charset="0"/>
                <a:ea typeface="Arial" pitchFamily="34" charset="-122"/>
                <a:cs typeface="Arial" pitchFamily="34" charset="-120"/>
              </a:rPr>
              <a:t>The 3D-corner billboards (the Seoul wave) draw one scene across two surfaces that meet at an angle. iPhone Duo is exactly that, and it knows its own angle.</a:t>
            </a:r>
            <a:endParaRPr lang="en-US" sz="1250" dirty="0"/>
          </a:p>
        </p:txBody>
      </p:sp>
      <p:sp>
        <p:nvSpPr>
          <p:cNvPr id="5" name="Text 2"/>
          <p:cNvSpPr txBox="1"/>
          <p:nvPr/>
        </p:nvSpPr>
        <p:spPr>
          <a:xfrm>
            <a:off x="5029200" y="2468880"/>
            <a:ext cx="3749040" cy="201168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C9D2E6"/>
                </a:solidFill>
                <a:latin typeface="Arial" pitchFamily="34" charset="0"/>
                <a:ea typeface="Arial" pitchFamily="34" charset="-122"/>
                <a:cs typeface="Arial" pitchFamily="34" charset="-120"/>
              </a:rPr>
              <a:t>SpaceScene drives the SceneKit camera from the live hinge angle</a:t>
            </a:r>
            <a:endParaRPr lang="en-US" sz="1150" dirty="0"/>
          </a:p>
          <a:p>
            <a:pPr marL="152400" indent="-152400">
              <a:spcAft>
                <a:spcPts val="700"/>
              </a:spcAft>
              <a:buSzPct val="100000"/>
              <a:buChar char="•"/>
            </a:pPr>
            <a:r>
              <a:rPr lang="en-US" sz="1150" dirty="0">
                <a:solidFill>
                  <a:srgbClr val="C9D2E6"/>
                </a:solidFill>
                <a:latin typeface="Arial" pitchFamily="34" charset="0"/>
                <a:ea typeface="Arial" pitchFamily="34" charset="-122"/>
                <a:cs typeface="Arial" pitchFamily="34" charset="-120"/>
              </a:rPr>
              <a:t>The planet stands on the console half and rises into the windshield half</a:t>
            </a:r>
            <a:endParaRPr lang="en-US" sz="1150" dirty="0"/>
          </a:p>
          <a:p>
            <a:pPr marL="152400" indent="-152400">
              <a:spcAft>
                <a:spcPts val="700"/>
              </a:spcAft>
              <a:buSzPct val="100000"/>
              <a:buChar char="•"/>
            </a:pPr>
            <a:r>
              <a:rPr lang="en-US" sz="1150" dirty="0">
                <a:solidFill>
                  <a:srgbClr val="C9D2E6"/>
                </a:solidFill>
                <a:latin typeface="Arial" pitchFamily="34" charset="0"/>
                <a:ea typeface="Arial" pitchFamily="34" charset="-122"/>
                <a:cs typeface="Arial" pitchFamily="34" charset="-120"/>
              </a:rPr>
              <a:t>Open or close the phone: the object stays put in space while the screens move around it</a:t>
            </a:r>
            <a:endParaRPr lang="en-US" sz="1150" dirty="0"/>
          </a:p>
          <a:p>
            <a:pPr marL="152400" indent="-152400">
              <a:spcAft>
                <a:spcPts val="700"/>
              </a:spcAft>
              <a:buSzPct val="100000"/>
              <a:buChar char="•"/>
            </a:pPr>
            <a:r>
              <a:rPr lang="en-US" sz="1150" dirty="0">
                <a:solidFill>
                  <a:srgbClr val="C9D2E6"/>
                </a:solidFill>
                <a:latin typeface="Arial" pitchFamily="34" charset="0"/>
                <a:ea typeface="Arial" pitchFamily="34" charset="-122"/>
                <a:cs typeface="Arial" pitchFamily="34" charset="-120"/>
              </a:rPr>
              <a:t>Nothing interactive crosses .division, except the probe drag, on purpose: pull it across the fold into the hologram to plant a beacon</a:t>
            </a:r>
            <a:endParaRPr lang="en-US" sz="1150" dirty="0"/>
          </a:p>
        </p:txBody>
      </p:sp>
      <p:sp>
        <p:nvSpPr>
          <p:cNvPr id="6" name="Text 3"/>
          <p:cNvSpPr txBox="1"/>
          <p:nvPr/>
        </p:nvSpPr>
        <p:spPr>
          <a:xfrm>
            <a:off x="5029200" y="4617720"/>
            <a:ext cx="3749040" cy="274320"/>
          </a:xfrm>
          <a:prstGeom prst="rect">
            <a:avLst/>
          </a:prstGeom>
          <a:noFill/>
          <a:ln/>
        </p:spPr>
        <p:txBody>
          <a:bodyPr wrap="square" lIns="0" tIns="0" rIns="0" bIns="0" rtlCol="0" anchor="t"/>
          <a:lstStyle/>
          <a:p>
            <a:pPr indent="0" marL="0">
              <a:buNone/>
            </a:pPr>
            <a:r>
              <a:rPr lang="en-US" sz="900" dirty="0">
                <a:solidFill>
                  <a:srgbClr val="6B7A99"/>
                </a:solidFill>
                <a:latin typeface="Courier New" pitchFamily="34" charset="0"/>
                <a:ea typeface="Courier New" pitchFamily="34" charset="-122"/>
                <a:cs typeface="Courier New" pitchFamily="34" charset="-120"/>
              </a:rPr>
              <a:t>Foldspace/Scene/SpaceScene.swift · camera ← hinge angle, every frame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11480"/>
            <a:ext cx="8046720" cy="502920"/>
          </a:xfrm>
          <a:prstGeom prst="rect">
            <a:avLst/>
          </a:prstGeom>
          <a:noFill/>
          <a:ln/>
        </p:spPr>
        <p:txBody>
          <a:bodyPr wrap="square" lIns="0" tIns="0" rIns="0" bIns="0" rtlCol="0" anchor="t"/>
          <a:lstStyle/>
          <a:p>
            <a:pPr indent="0" marL="0">
              <a:buNone/>
            </a:pPr>
            <a:r>
              <a:rPr lang="en-US" sz="2600" b="1" dirty="0">
                <a:solidFill>
                  <a:srgbClr val="FFFFFF"/>
                </a:solidFill>
                <a:latin typeface="Courier New" pitchFamily="34" charset="0"/>
                <a:ea typeface="Courier New" pitchFamily="34" charset="-122"/>
                <a:cs typeface="Courier New" pitchFamily="34" charset="-120"/>
              </a:rPr>
              <a:t>Fold space.</a:t>
            </a:r>
            <a:endParaRPr lang="en-US" sz="2600" dirty="0"/>
          </a:p>
        </p:txBody>
      </p:sp>
      <p:sp>
        <p:nvSpPr>
          <p:cNvPr id="3" name="Text 1"/>
          <p:cNvSpPr txBox="1"/>
          <p:nvPr/>
        </p:nvSpPr>
        <p:spPr>
          <a:xfrm>
            <a:off x="548640" y="932688"/>
            <a:ext cx="8046720" cy="411480"/>
          </a:xfrm>
          <a:prstGeom prst="rect">
            <a:avLst/>
          </a:prstGeom>
          <a:noFill/>
          <a:ln/>
        </p:spPr>
        <p:txBody>
          <a:bodyPr wrap="square" lIns="0" tIns="0" rIns="0" bIns="0" rtlCol="0" anchor="t"/>
          <a:lstStyle/>
          <a:p>
            <a:pPr indent="0" marL="0">
              <a:buNone/>
            </a:pPr>
            <a:r>
              <a:rPr lang="en-US" sz="1300" dirty="0">
                <a:solidFill>
                  <a:srgbClr val="8A96B3"/>
                </a:solidFill>
                <a:latin typeface="Arial" pitchFamily="34" charset="0"/>
                <a:ea typeface="Arial" pitchFamily="34" charset="-122"/>
                <a:cs typeface="Arial" pitchFamily="34" charset="-120"/>
              </a:rPr>
              <a:t>Alcubierre, taken literally: squeeze space ahead of the ship, stretch it behind, and ride the bubble that sits in the crease.</a:t>
            </a:r>
            <a:endParaRPr lang="en-US" sz="1300" dirty="0"/>
          </a:p>
        </p:txBody>
      </p:sp>
      <p:pic>
        <p:nvPicPr>
          <p:cNvPr id="4" name="Image 0" descr="/private/tmp/claude-501/-Users-moorthy-Downloads-Projects-Bitrig-Hackathon/9cc55efd-258b-4603-a2ab-dd50fe68f596/scratchpad/deck/png/warp.png">    </p:cNvPr>
          <p:cNvPicPr>
            <a:picLocks noChangeAspect="1"/>
          </p:cNvPicPr>
          <p:nvPr/>
        </p:nvPicPr>
        <p:blipFill>
          <a:blip r:embed="rId2"/>
          <a:stretch>
            <a:fillRect/>
          </a:stretch>
        </p:blipFill>
        <p:spPr>
          <a:xfrm>
            <a:off x="274320" y="1371600"/>
            <a:ext cx="4572000" cy="3200400"/>
          </a:xfrm>
          <a:prstGeom prst="rect">
            <a:avLst/>
          </a:prstGeom>
        </p:spPr>
      </p:pic>
      <p:sp>
        <p:nvSpPr>
          <p:cNvPr id="5" name="Text 2"/>
          <p:cNvSpPr txBox="1"/>
          <p:nvPr/>
        </p:nvSpPr>
        <p:spPr>
          <a:xfrm>
            <a:off x="411480" y="4617720"/>
            <a:ext cx="2194560" cy="228600"/>
          </a:xfrm>
          <a:prstGeom prst="rect">
            <a:avLst/>
          </a:prstGeom>
          <a:noFill/>
          <a:ln/>
        </p:spPr>
        <p:txBody>
          <a:bodyPr wrap="square" lIns="0" tIns="0" rIns="0" bIns="0" rtlCol="0" anchor="t"/>
          <a:lstStyle/>
          <a:p>
            <a:pPr indent="0" marL="0">
              <a:buNone/>
            </a:pPr>
            <a:r>
              <a:rPr lang="en-US" sz="900" spc="100" kern="0" dirty="0">
                <a:solidFill>
                  <a:srgbClr val="3DF2FF"/>
                </a:solidFill>
                <a:latin typeface="Courier New" pitchFamily="34" charset="0"/>
                <a:ea typeface="Courier New" pitchFamily="34" charset="-122"/>
                <a:cs typeface="Courier New" pitchFamily="34" charset="-120"/>
              </a:rPr>
              <a:t>BEHIND: STRETCHED</a:t>
            </a:r>
            <a:endParaRPr lang="en-US" sz="900" dirty="0"/>
          </a:p>
        </p:txBody>
      </p:sp>
      <p:sp>
        <p:nvSpPr>
          <p:cNvPr id="6" name="Text 3"/>
          <p:cNvSpPr txBox="1"/>
          <p:nvPr/>
        </p:nvSpPr>
        <p:spPr>
          <a:xfrm>
            <a:off x="2651760" y="4617720"/>
            <a:ext cx="2103120" cy="228600"/>
          </a:xfrm>
          <a:prstGeom prst="rect">
            <a:avLst/>
          </a:prstGeom>
          <a:noFill/>
          <a:ln/>
        </p:spPr>
        <p:txBody>
          <a:bodyPr wrap="square" lIns="0" tIns="0" rIns="0" bIns="0" rtlCol="0" anchor="t"/>
          <a:lstStyle/>
          <a:p>
            <a:pPr algn="r" indent="0" marL="0">
              <a:buNone/>
            </a:pPr>
            <a:r>
              <a:rPr lang="en-US" sz="900" spc="100" kern="0" dirty="0">
                <a:solidFill>
                  <a:srgbClr val="3DF2FF"/>
                </a:solidFill>
                <a:latin typeface="Courier New" pitchFamily="34" charset="0"/>
                <a:ea typeface="Courier New" pitchFamily="34" charset="-122"/>
                <a:cs typeface="Courier New" pitchFamily="34" charset="-120"/>
              </a:rPr>
              <a:t>AHEAD: SQUEEZED</a:t>
            </a:r>
            <a:endParaRPr lang="en-US" sz="900" dirty="0"/>
          </a:p>
        </p:txBody>
      </p:sp>
      <p:sp>
        <p:nvSpPr>
          <p:cNvPr id="7" name="Text 4"/>
          <p:cNvSpPr txBox="1"/>
          <p:nvPr/>
        </p:nvSpPr>
        <p:spPr>
          <a:xfrm>
            <a:off x="5212080" y="1371600"/>
            <a:ext cx="3474720" cy="228600"/>
          </a:xfrm>
          <a:prstGeom prst="rect">
            <a:avLst/>
          </a:prstGeom>
          <a:noFill/>
          <a:ln/>
        </p:spPr>
        <p:txBody>
          <a:bodyPr wrap="square" lIns="0" tIns="0" rIns="0" bIns="0" rtlCol="0" anchor="t"/>
          <a:lstStyle/>
          <a:p>
            <a:pPr indent="0" marL="0">
              <a:buNone/>
            </a:pPr>
            <a:r>
              <a:rPr lang="en-US" sz="1050" spc="150" kern="0" dirty="0">
                <a:solidFill>
                  <a:srgbClr val="3DF2FF"/>
                </a:solidFill>
                <a:latin typeface="Courier New" pitchFamily="34" charset="0"/>
                <a:ea typeface="Courier New" pitchFamily="34" charset="-122"/>
                <a:cs typeface="Courier New" pitchFamily="34" charset="-120"/>
              </a:rPr>
              <a:t>BUBBLE STABILITY = CLOSE SPEED</a:t>
            </a:r>
            <a:endParaRPr lang="en-US" sz="1050" dirty="0"/>
          </a:p>
        </p:txBody>
      </p:sp>
      <p:sp>
        <p:nvSpPr>
          <p:cNvPr id="8" name="Shape 5"/>
          <p:cNvSpPr/>
          <p:nvPr/>
        </p:nvSpPr>
        <p:spPr>
          <a:xfrm>
            <a:off x="5212080" y="1691640"/>
            <a:ext cx="914400" cy="182880"/>
          </a:xfrm>
          <a:prstGeom prst="rect">
            <a:avLst/>
          </a:prstGeom>
          <a:solidFill>
            <a:srgbClr val="2A3A66"/>
          </a:solidFill>
          <a:ln w="12700">
            <a:solidFill>
              <a:srgbClr val="2A3A66"/>
            </a:solidFill>
            <a:prstDash val="solid"/>
          </a:ln>
        </p:spPr>
      </p:sp>
      <p:sp>
        <p:nvSpPr>
          <p:cNvPr id="9" name="Shape 6"/>
          <p:cNvSpPr/>
          <p:nvPr/>
        </p:nvSpPr>
        <p:spPr>
          <a:xfrm>
            <a:off x="6126480" y="1691640"/>
            <a:ext cx="1645920" cy="182880"/>
          </a:xfrm>
          <a:prstGeom prst="rect">
            <a:avLst/>
          </a:prstGeom>
          <a:solidFill>
            <a:srgbClr val="3DF2FF"/>
          </a:solidFill>
          <a:ln w="12700">
            <a:solidFill>
              <a:srgbClr val="3DF2FF"/>
            </a:solidFill>
            <a:prstDash val="solid"/>
          </a:ln>
        </p:spPr>
      </p:sp>
      <p:sp>
        <p:nvSpPr>
          <p:cNvPr id="10" name="Shape 7"/>
          <p:cNvSpPr/>
          <p:nvPr/>
        </p:nvSpPr>
        <p:spPr>
          <a:xfrm>
            <a:off x="7772400" y="1691640"/>
            <a:ext cx="914400" cy="182880"/>
          </a:xfrm>
          <a:prstGeom prst="rect">
            <a:avLst/>
          </a:prstGeom>
          <a:solidFill>
            <a:srgbClr val="2A3A66"/>
          </a:solidFill>
          <a:ln w="12700">
            <a:solidFill>
              <a:srgbClr val="2A3A66"/>
            </a:solidFill>
            <a:prstDash val="solid"/>
          </a:ln>
        </p:spPr>
      </p:sp>
      <p:sp>
        <p:nvSpPr>
          <p:cNvPr id="11" name="Text 8"/>
          <p:cNvSpPr txBox="1"/>
          <p:nvPr/>
        </p:nvSpPr>
        <p:spPr>
          <a:xfrm>
            <a:off x="5212080" y="1920240"/>
            <a:ext cx="914400" cy="228600"/>
          </a:xfrm>
          <a:prstGeom prst="rect">
            <a:avLst/>
          </a:prstGeom>
          <a:noFill/>
          <a:ln/>
        </p:spPr>
        <p:txBody>
          <a:bodyPr wrap="square" lIns="0" tIns="0" rIns="0" bIns="0" rtlCol="0" anchor="t"/>
          <a:lstStyle/>
          <a:p>
            <a:pPr indent="0" marL="0">
              <a:buNone/>
            </a:pPr>
            <a:r>
              <a:rPr lang="en-US" sz="800" dirty="0">
                <a:solidFill>
                  <a:srgbClr val="6B7A99"/>
                </a:solidFill>
                <a:latin typeface="Courier New" pitchFamily="34" charset="0"/>
                <a:ea typeface="Courier New" pitchFamily="34" charset="-122"/>
                <a:cs typeface="Courier New" pitchFamily="34" charset="-120"/>
              </a:rPr>
              <a:t>&lt; 60°/s CRAWL</a:t>
            </a:r>
            <a:endParaRPr lang="en-US" sz="800" dirty="0"/>
          </a:p>
        </p:txBody>
      </p:sp>
      <p:sp>
        <p:nvSpPr>
          <p:cNvPr id="12" name="Text 9"/>
          <p:cNvSpPr txBox="1"/>
          <p:nvPr/>
        </p:nvSpPr>
        <p:spPr>
          <a:xfrm>
            <a:off x="6126480" y="1920240"/>
            <a:ext cx="1645920" cy="228600"/>
          </a:xfrm>
          <a:prstGeom prst="rect">
            <a:avLst/>
          </a:prstGeom>
          <a:noFill/>
          <a:ln/>
        </p:spPr>
        <p:txBody>
          <a:bodyPr wrap="square" lIns="0" tIns="0" rIns="0" bIns="0" rtlCol="0" anchor="t"/>
          <a:lstStyle/>
          <a:p>
            <a:pPr algn="ctr" indent="0" marL="0">
              <a:buNone/>
            </a:pPr>
            <a:r>
              <a:rPr lang="en-US" sz="800" dirty="0">
                <a:solidFill>
                  <a:srgbClr val="3DF2FF"/>
                </a:solidFill>
                <a:latin typeface="Courier New" pitchFamily="34" charset="0"/>
                <a:ea typeface="Courier New" pitchFamily="34" charset="-122"/>
                <a:cs typeface="Courier New" pitchFamily="34" charset="-120"/>
              </a:rPr>
              <a:t>60–160°/s STABLE</a:t>
            </a:r>
            <a:endParaRPr lang="en-US" sz="800" dirty="0"/>
          </a:p>
        </p:txBody>
      </p:sp>
      <p:sp>
        <p:nvSpPr>
          <p:cNvPr id="13" name="Text 10"/>
          <p:cNvSpPr txBox="1"/>
          <p:nvPr/>
        </p:nvSpPr>
        <p:spPr>
          <a:xfrm>
            <a:off x="7772400" y="1920240"/>
            <a:ext cx="914400" cy="228600"/>
          </a:xfrm>
          <a:prstGeom prst="rect">
            <a:avLst/>
          </a:prstGeom>
          <a:noFill/>
          <a:ln/>
        </p:spPr>
        <p:txBody>
          <a:bodyPr wrap="square" lIns="0" tIns="0" rIns="0" bIns="0" rtlCol="0" anchor="t"/>
          <a:lstStyle/>
          <a:p>
            <a:pPr algn="r" indent="0" marL="0">
              <a:buNone/>
            </a:pPr>
            <a:r>
              <a:rPr lang="en-US" sz="800" dirty="0">
                <a:solidFill>
                  <a:srgbClr val="6B7A99"/>
                </a:solidFill>
                <a:latin typeface="Courier New" pitchFamily="34" charset="0"/>
                <a:ea typeface="Courier New" pitchFamily="34" charset="-122"/>
                <a:cs typeface="Courier New" pitchFamily="34" charset="-120"/>
              </a:rPr>
              <a:t>&gt; 160°/s SLAM</a:t>
            </a:r>
            <a:endParaRPr lang="en-US" sz="800" dirty="0"/>
          </a:p>
        </p:txBody>
      </p:sp>
      <p:sp>
        <p:nvSpPr>
          <p:cNvPr id="14" name="Text 11"/>
          <p:cNvSpPr txBox="1"/>
          <p:nvPr/>
        </p:nvSpPr>
        <p:spPr>
          <a:xfrm>
            <a:off x="5212080" y="2240280"/>
            <a:ext cx="3474720" cy="868680"/>
          </a:xfrm>
          <a:prstGeom prst="rect">
            <a:avLst/>
          </a:prstGeom>
          <a:noFill/>
          <a:ln/>
        </p:spPr>
        <p:txBody>
          <a:bodyPr wrap="square" lIns="0" tIns="0" rIns="0" bIns="0" rtlCol="0" anchor="t"/>
          <a:lstStyle/>
          <a:p>
            <a:pPr indent="0" marL="0">
              <a:buNone/>
            </a:pPr>
            <a:r>
              <a:rPr lang="en-US" sz="1200" dirty="0">
                <a:solidFill>
                  <a:srgbClr val="C9D2E6"/>
                </a:solidFill>
                <a:latin typeface="Arial" pitchFamily="34" charset="0"/>
                <a:ea typeface="Arial" pitchFamily="34" charset="-122"/>
                <a:cs typeface="Arial" pitchFamily="34" charset="-120"/>
              </a:rPr>
              <a:t>Close at a steady 60–160°/s and the bubble holds. Slam it or crawl and stability drops below 45%: COLLAPSING. You drop out short of the star.</a:t>
            </a:r>
            <a:endParaRPr lang="en-US" sz="1200" dirty="0"/>
          </a:p>
        </p:txBody>
      </p:sp>
      <p:pic>
        <p:nvPicPr>
          <p:cNvPr id="15" name="Image 1" descr="/private/tmp/claude-501/-Users-moorthy-Downloads-Projects-Bitrig-Hackathon/9cc55efd-258b-4603-a2ab-dd50fe68f596/scratchpad/deck/png/outer.png">    </p:cNvPr>
          <p:cNvPicPr>
            <a:picLocks noChangeAspect="1"/>
          </p:cNvPicPr>
          <p:nvPr/>
        </p:nvPicPr>
        <p:blipFill>
          <a:blip r:embed="rId3"/>
          <a:stretch>
            <a:fillRect/>
          </a:stretch>
        </p:blipFill>
        <p:spPr>
          <a:xfrm>
            <a:off x="5212080" y="3127248"/>
            <a:ext cx="960120" cy="1570939"/>
          </a:xfrm>
          <a:prstGeom prst="rect">
            <a:avLst/>
          </a:prstGeom>
        </p:spPr>
      </p:pic>
      <p:sp>
        <p:nvSpPr>
          <p:cNvPr id="16" name="Text 12"/>
          <p:cNvSpPr txBox="1"/>
          <p:nvPr/>
        </p:nvSpPr>
        <p:spPr>
          <a:xfrm>
            <a:off x="6309360" y="3154680"/>
            <a:ext cx="2377440" cy="228600"/>
          </a:xfrm>
          <a:prstGeom prst="rect">
            <a:avLst/>
          </a:prstGeom>
          <a:noFill/>
          <a:ln/>
        </p:spPr>
        <p:txBody>
          <a:bodyPr wrap="square" lIns="0" tIns="0" rIns="0" bIns="0" rtlCol="0" anchor="t"/>
          <a:lstStyle/>
          <a:p>
            <a:pPr indent="0" marL="0">
              <a:buNone/>
            </a:pPr>
            <a:r>
              <a:rPr lang="en-US" sz="1050" spc="150" kern="0" dirty="0">
                <a:solidFill>
                  <a:srgbClr val="3DF2FF"/>
                </a:solidFill>
                <a:latin typeface="Courier New" pitchFamily="34" charset="0"/>
                <a:ea typeface="Courier New" pitchFamily="34" charset="-122"/>
                <a:cs typeface="Courier New" pitchFamily="34" charset="-120"/>
              </a:rPr>
              <a:t>OUTER DISPLAY IN TRANSIT</a:t>
            </a:r>
            <a:endParaRPr lang="en-US" sz="1050" dirty="0"/>
          </a:p>
        </p:txBody>
      </p:sp>
      <p:sp>
        <p:nvSpPr>
          <p:cNvPr id="17" name="Text 13"/>
          <p:cNvSpPr txBox="1"/>
          <p:nvPr/>
        </p:nvSpPr>
        <p:spPr>
          <a:xfrm>
            <a:off x="6309360" y="3429000"/>
            <a:ext cx="2468880" cy="1234440"/>
          </a:xfrm>
          <a:prstGeom prst="rect">
            <a:avLst/>
          </a:prstGeom>
          <a:noFill/>
          <a:ln/>
        </p:spPr>
        <p:txBody>
          <a:bodyPr wrap="square" lIns="0" tIns="0" rIns="0" bIns="0" rtlCol="0" anchor="t"/>
          <a:lstStyle/>
          <a:p>
            <a:pPr indent="0" marL="0">
              <a:buNone/>
            </a:pPr>
            <a:r>
              <a:rPr lang="en-US" sz="1100" dirty="0">
                <a:solidFill>
                  <a:srgbClr val="C9D2E6"/>
                </a:solidFill>
                <a:latin typeface="Arial" pitchFamily="34" charset="0"/>
                <a:ea typeface="Arial" pitchFamily="34" charset="-122"/>
                <a:cs typeface="Arial" pitchFamily="34" charset="-120"/>
              </a:rPr>
              <a:t>While the phone is closed the outer 5.4″ display faces the world: FOLDING SPACE, the destination, a light-year counter. Open the phone and the cockpit resumes at Proxima b.</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411480"/>
            <a:ext cx="4023360" cy="411480"/>
          </a:xfrm>
          <a:prstGeom prst="rect">
            <a:avLst/>
          </a:prstGeom>
          <a:noFill/>
          <a:ln/>
        </p:spPr>
        <p:txBody>
          <a:bodyPr wrap="square" lIns="0" tIns="0" rIns="0" bIns="0" rtlCol="0" anchor="t"/>
          <a:lstStyle/>
          <a:p>
            <a:pPr indent="0" marL="0">
              <a:buNone/>
            </a:pPr>
            <a:r>
              <a:rPr lang="en-US" sz="2200" b="1" dirty="0">
                <a:solidFill>
                  <a:srgbClr val="FFFFFF"/>
                </a:solidFill>
                <a:latin typeface="Courier New" pitchFamily="34" charset="0"/>
                <a:ea typeface="Courier New" pitchFamily="34" charset="-122"/>
                <a:cs typeface="Courier New" pitchFamily="34" charset="-120"/>
              </a:rPr>
              <a:t>Dive into the Sun</a:t>
            </a:r>
            <a:endParaRPr lang="en-US" sz="2200" dirty="0"/>
          </a:p>
        </p:txBody>
      </p:sp>
      <p:pic>
        <p:nvPicPr>
          <p:cNvPr id="3" name="Image 0" descr="/private/tmp/claude-501/-Users-moorthy-Downloads-Projects-Bitrig-Hackathon/9cc55efd-258b-4603-a2ab-dd50fe68f596/scratchpad/deck/png/sun.png">    </p:cNvPr>
          <p:cNvPicPr>
            <a:picLocks noChangeAspect="1"/>
          </p:cNvPicPr>
          <p:nvPr/>
        </p:nvPicPr>
        <p:blipFill>
          <a:blip r:embed="rId2"/>
          <a:stretch>
            <a:fillRect/>
          </a:stretch>
        </p:blipFill>
        <p:spPr>
          <a:xfrm>
            <a:off x="274320" y="914400"/>
            <a:ext cx="2560320" cy="2560320"/>
          </a:xfrm>
          <a:prstGeom prst="rect">
            <a:avLst/>
          </a:prstGeom>
        </p:spPr>
      </p:pic>
      <p:sp>
        <p:nvSpPr>
          <p:cNvPr id="4" name="Text 1"/>
          <p:cNvSpPr txBox="1"/>
          <p:nvPr/>
        </p:nvSpPr>
        <p:spPr>
          <a:xfrm>
            <a:off x="2971800" y="1097280"/>
            <a:ext cx="1645920" cy="201168"/>
          </a:xfrm>
          <a:prstGeom prst="rect">
            <a:avLst/>
          </a:prstGeom>
          <a:noFill/>
          <a:ln/>
        </p:spPr>
        <p:txBody>
          <a:bodyPr wrap="square" lIns="0" tIns="0" rIns="0" bIns="0" rtlCol="0" anchor="t"/>
          <a:lstStyle/>
          <a:p>
            <a:pPr indent="0" marL="0">
              <a:buNone/>
            </a:pPr>
            <a:r>
              <a:rPr lang="en-US" sz="950" spc="150" kern="0" dirty="0">
                <a:solidFill>
                  <a:srgbClr val="3DF2FF"/>
                </a:solidFill>
                <a:latin typeface="Courier New" pitchFamily="34" charset="0"/>
                <a:ea typeface="Courier New" pitchFamily="34" charset="-122"/>
                <a:cs typeface="Courier New" pitchFamily="34" charset="-120"/>
              </a:rPr>
              <a:t>CORONA</a:t>
            </a:r>
            <a:endParaRPr lang="en-US" sz="950" dirty="0"/>
          </a:p>
        </p:txBody>
      </p:sp>
      <p:sp>
        <p:nvSpPr>
          <p:cNvPr id="5" name="Text 2"/>
          <p:cNvSpPr txBox="1"/>
          <p:nvPr/>
        </p:nvSpPr>
        <p:spPr>
          <a:xfrm>
            <a:off x="2971800" y="1298448"/>
            <a:ext cx="164592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~1,000,000 K</a:t>
            </a:r>
            <a:endParaRPr lang="en-US" sz="1500" dirty="0"/>
          </a:p>
        </p:txBody>
      </p:sp>
      <p:sp>
        <p:nvSpPr>
          <p:cNvPr id="6" name="Text 3"/>
          <p:cNvSpPr txBox="1"/>
          <p:nvPr/>
        </p:nvSpPr>
        <p:spPr>
          <a:xfrm>
            <a:off x="2971800" y="1572768"/>
            <a:ext cx="1645920" cy="274320"/>
          </a:xfrm>
          <a:prstGeom prst="rect">
            <a:avLst/>
          </a:prstGeom>
          <a:noFill/>
          <a:ln/>
        </p:spPr>
        <p:txBody>
          <a:bodyPr wrap="square" lIns="0" tIns="0" rIns="0" bIns="0" rtlCol="0" anchor="t"/>
          <a:lstStyle/>
          <a:p>
            <a:pPr indent="0" marL="0">
              <a:buNone/>
            </a:pPr>
            <a:r>
              <a:rPr lang="en-US" sz="950" dirty="0">
                <a:solidFill>
                  <a:srgbClr val="8A96B3"/>
                </a:solidFill>
                <a:latin typeface="Arial" pitchFamily="34" charset="0"/>
                <a:ea typeface="Arial" pitchFamily="34" charset="-122"/>
                <a:cs typeface="Arial" pitchFamily="34" charset="-120"/>
              </a:rPr>
              <a:t>angle 120° · depth 0</a:t>
            </a:r>
            <a:endParaRPr lang="en-US" sz="950" dirty="0"/>
          </a:p>
        </p:txBody>
      </p:sp>
      <p:sp>
        <p:nvSpPr>
          <p:cNvPr id="7" name="Text 4"/>
          <p:cNvSpPr txBox="1"/>
          <p:nvPr/>
        </p:nvSpPr>
        <p:spPr>
          <a:xfrm>
            <a:off x="2971800" y="1901952"/>
            <a:ext cx="1645920" cy="201168"/>
          </a:xfrm>
          <a:prstGeom prst="rect">
            <a:avLst/>
          </a:prstGeom>
          <a:noFill/>
          <a:ln/>
        </p:spPr>
        <p:txBody>
          <a:bodyPr wrap="square" lIns="0" tIns="0" rIns="0" bIns="0" rtlCol="0" anchor="t"/>
          <a:lstStyle/>
          <a:p>
            <a:pPr indent="0" marL="0">
              <a:buNone/>
            </a:pPr>
            <a:r>
              <a:rPr lang="en-US" sz="950" spc="150" kern="0" dirty="0">
                <a:solidFill>
                  <a:srgbClr val="3DF2FF"/>
                </a:solidFill>
                <a:latin typeface="Courier New" pitchFamily="34" charset="0"/>
                <a:ea typeface="Courier New" pitchFamily="34" charset="-122"/>
                <a:cs typeface="Courier New" pitchFamily="34" charset="-120"/>
              </a:rPr>
              <a:t>PHOTOSPHERE</a:t>
            </a:r>
            <a:endParaRPr lang="en-US" sz="950" dirty="0"/>
          </a:p>
        </p:txBody>
      </p:sp>
      <p:sp>
        <p:nvSpPr>
          <p:cNvPr id="8" name="Text 5"/>
          <p:cNvSpPr txBox="1"/>
          <p:nvPr/>
        </p:nvSpPr>
        <p:spPr>
          <a:xfrm>
            <a:off x="2971800" y="2103120"/>
            <a:ext cx="164592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5,800 K</a:t>
            </a:r>
            <a:endParaRPr lang="en-US" sz="1500" dirty="0"/>
          </a:p>
        </p:txBody>
      </p:sp>
      <p:sp>
        <p:nvSpPr>
          <p:cNvPr id="9" name="Text 6"/>
          <p:cNvSpPr txBox="1"/>
          <p:nvPr/>
        </p:nvSpPr>
        <p:spPr>
          <a:xfrm>
            <a:off x="2971800" y="2377440"/>
            <a:ext cx="1645920" cy="274320"/>
          </a:xfrm>
          <a:prstGeom prst="rect">
            <a:avLst/>
          </a:prstGeom>
          <a:noFill/>
          <a:ln/>
        </p:spPr>
        <p:txBody>
          <a:bodyPr wrap="square" lIns="0" tIns="0" rIns="0" bIns="0" rtlCol="0" anchor="t"/>
          <a:lstStyle/>
          <a:p>
            <a:pPr indent="0" marL="0">
              <a:buNone/>
            </a:pPr>
            <a:r>
              <a:rPr lang="en-US" sz="950" dirty="0">
                <a:solidFill>
                  <a:srgbClr val="8A96B3"/>
                </a:solidFill>
                <a:latin typeface="Arial" pitchFamily="34" charset="0"/>
                <a:ea typeface="Arial" pitchFamily="34" charset="-122"/>
                <a:cs typeface="Arial" pitchFamily="34" charset="-120"/>
              </a:rPr>
              <a:t>the surface you dive through</a:t>
            </a:r>
            <a:endParaRPr lang="en-US" sz="950" dirty="0"/>
          </a:p>
        </p:txBody>
      </p:sp>
      <p:sp>
        <p:nvSpPr>
          <p:cNvPr id="10" name="Text 7"/>
          <p:cNvSpPr txBox="1"/>
          <p:nvPr/>
        </p:nvSpPr>
        <p:spPr>
          <a:xfrm>
            <a:off x="2971800" y="2706624"/>
            <a:ext cx="1645920" cy="201168"/>
          </a:xfrm>
          <a:prstGeom prst="rect">
            <a:avLst/>
          </a:prstGeom>
          <a:noFill/>
          <a:ln/>
        </p:spPr>
        <p:txBody>
          <a:bodyPr wrap="square" lIns="0" tIns="0" rIns="0" bIns="0" rtlCol="0" anchor="t"/>
          <a:lstStyle/>
          <a:p>
            <a:pPr indent="0" marL="0">
              <a:buNone/>
            </a:pPr>
            <a:r>
              <a:rPr lang="en-US" sz="950" spc="150" kern="0" dirty="0">
                <a:solidFill>
                  <a:srgbClr val="3DF2FF"/>
                </a:solidFill>
                <a:latin typeface="Courier New" pitchFamily="34" charset="0"/>
                <a:ea typeface="Courier New" pitchFamily="34" charset="-122"/>
                <a:cs typeface="Courier New" pitchFamily="34" charset="-120"/>
              </a:rPr>
              <a:t>CORE</a:t>
            </a:r>
            <a:endParaRPr lang="en-US" sz="950" dirty="0"/>
          </a:p>
        </p:txBody>
      </p:sp>
      <p:sp>
        <p:nvSpPr>
          <p:cNvPr id="11" name="Text 8"/>
          <p:cNvSpPr txBox="1"/>
          <p:nvPr/>
        </p:nvSpPr>
        <p:spPr>
          <a:xfrm>
            <a:off x="2971800" y="2907792"/>
            <a:ext cx="164592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15,000,000 K</a:t>
            </a:r>
            <a:endParaRPr lang="en-US" sz="1500" dirty="0"/>
          </a:p>
        </p:txBody>
      </p:sp>
      <p:sp>
        <p:nvSpPr>
          <p:cNvPr id="12" name="Text 9"/>
          <p:cNvSpPr txBox="1"/>
          <p:nvPr/>
        </p:nvSpPr>
        <p:spPr>
          <a:xfrm>
            <a:off x="2971800" y="3182112"/>
            <a:ext cx="1645920" cy="274320"/>
          </a:xfrm>
          <a:prstGeom prst="rect">
            <a:avLst/>
          </a:prstGeom>
          <a:noFill/>
          <a:ln/>
        </p:spPr>
        <p:txBody>
          <a:bodyPr wrap="square" lIns="0" tIns="0" rIns="0" bIns="0" rtlCol="0" anchor="t"/>
          <a:lstStyle/>
          <a:p>
            <a:pPr indent="0" marL="0">
              <a:buNone/>
            </a:pPr>
            <a:r>
              <a:rPr lang="en-US" sz="950" dirty="0">
                <a:solidFill>
                  <a:srgbClr val="8A96B3"/>
                </a:solidFill>
                <a:latin typeface="Arial" pitchFamily="34" charset="0"/>
                <a:ea typeface="Arial" pitchFamily="34" charset="-122"/>
                <a:cs typeface="Arial" pitchFamily="34" charset="-120"/>
              </a:rPr>
              <a:t>angle 12° · depth 1</a:t>
            </a:r>
            <a:endParaRPr lang="en-US" sz="950" dirty="0"/>
          </a:p>
        </p:txBody>
      </p:sp>
      <p:sp>
        <p:nvSpPr>
          <p:cNvPr id="13" name="Text 10"/>
          <p:cNvSpPr txBox="1"/>
          <p:nvPr/>
        </p:nvSpPr>
        <p:spPr>
          <a:xfrm>
            <a:off x="457200" y="3611880"/>
            <a:ext cx="4114800" cy="1097280"/>
          </a:xfrm>
          <a:prstGeom prst="rect">
            <a:avLst/>
          </a:prstGeom>
          <a:noFill/>
          <a:ln/>
        </p:spPr>
        <p:txBody>
          <a:bodyPr wrap="square" lIns="0" tIns="0" rIns="0" bIns="0" rtlCol="0" anchor="t"/>
          <a:lstStyle/>
          <a:p>
            <a:pPr indent="0" marL="0">
              <a:buNone/>
            </a:pPr>
            <a:r>
              <a:rPr lang="en-US" sz="1150" dirty="0">
                <a:solidFill>
                  <a:srgbClr val="C9D2E6"/>
                </a:solidFill>
                <a:latin typeface="Arial" pitchFamily="34" charset="0"/>
                <a:ea typeface="Arial" pitchFamily="34" charset="-122"/>
                <a:cs typeface="Arial" pitchFamily="34" charset="-120"/>
              </a:rPr>
              <a:t>Close the phone slowly while orbiting the Sun: depth = fold amount. Open it to climb out. Survive the core and you bring back the Stellar Core Sample, which unlocks the Nova Lance.</a:t>
            </a:r>
            <a:endParaRPr lang="en-US" sz="1150" dirty="0"/>
          </a:p>
        </p:txBody>
      </p:sp>
      <p:sp>
        <p:nvSpPr>
          <p:cNvPr id="14" name="Text 11"/>
          <p:cNvSpPr txBox="1"/>
          <p:nvPr/>
        </p:nvSpPr>
        <p:spPr>
          <a:xfrm>
            <a:off x="4846320" y="411480"/>
            <a:ext cx="3840480" cy="411480"/>
          </a:xfrm>
          <a:prstGeom prst="rect">
            <a:avLst/>
          </a:prstGeom>
          <a:noFill/>
          <a:ln/>
        </p:spPr>
        <p:txBody>
          <a:bodyPr wrap="square" lIns="0" tIns="0" rIns="0" bIns="0" rtlCol="0" anchor="t"/>
          <a:lstStyle/>
          <a:p>
            <a:pPr indent="0" marL="0">
              <a:buNone/>
            </a:pPr>
            <a:r>
              <a:rPr lang="en-US" sz="2200" b="1" dirty="0">
                <a:solidFill>
                  <a:srgbClr val="FFB238"/>
                </a:solidFill>
                <a:latin typeface="Courier New" pitchFamily="34" charset="0"/>
                <a:ea typeface="Courier New" pitchFamily="34" charset="-122"/>
                <a:cs typeface="Courier New" pitchFamily="34" charset="-120"/>
              </a:rPr>
              <a:t>Nova Lance</a:t>
            </a:r>
            <a:endParaRPr lang="en-US" sz="2200" dirty="0"/>
          </a:p>
        </p:txBody>
      </p:sp>
      <p:pic>
        <p:nvPicPr>
          <p:cNvPr id="15" name="Image 1" descr="/private/tmp/claude-501/-Users-moorthy-Downloads-Projects-Bitrig-Hackathon/9cc55efd-258b-4603-a2ab-dd50fe68f596/scratchpad/deck/png/nova.png">    </p:cNvPr>
          <p:cNvPicPr>
            <a:picLocks noChangeAspect="1"/>
          </p:cNvPicPr>
          <p:nvPr/>
        </p:nvPicPr>
        <p:blipFill>
          <a:blip r:embed="rId3"/>
          <a:stretch>
            <a:fillRect/>
          </a:stretch>
        </p:blipFill>
        <p:spPr>
          <a:xfrm>
            <a:off x="4846320" y="914400"/>
            <a:ext cx="3840480" cy="2386584"/>
          </a:xfrm>
          <a:prstGeom prst="rect">
            <a:avLst/>
          </a:prstGeom>
        </p:spPr>
      </p:pic>
      <p:sp>
        <p:nvSpPr>
          <p:cNvPr id="16" name="Text 12"/>
          <p:cNvSpPr txBox="1"/>
          <p:nvPr/>
        </p:nvSpPr>
        <p:spPr>
          <a:xfrm>
            <a:off x="4846320" y="3401568"/>
            <a:ext cx="274320" cy="365760"/>
          </a:xfrm>
          <a:prstGeom prst="rect">
            <a:avLst/>
          </a:prstGeom>
          <a:noFill/>
          <a:ln/>
        </p:spPr>
        <p:txBody>
          <a:bodyPr wrap="square" lIns="0" tIns="0" rIns="0" bIns="0" rtlCol="0" anchor="t"/>
          <a:lstStyle/>
          <a:p>
            <a:pPr indent="0" marL="0">
              <a:buNone/>
            </a:pPr>
            <a:r>
              <a:rPr lang="en-US" sz="1500" b="1" dirty="0">
                <a:solidFill>
                  <a:srgbClr val="FFB238"/>
                </a:solidFill>
                <a:latin typeface="Courier New" pitchFamily="34" charset="0"/>
                <a:ea typeface="Courier New" pitchFamily="34" charset="-122"/>
                <a:cs typeface="Courier New" pitchFamily="34" charset="-120"/>
              </a:rPr>
              <a:t>1</a:t>
            </a:r>
            <a:endParaRPr lang="en-US" sz="1500" dirty="0"/>
          </a:p>
        </p:txBody>
      </p:sp>
      <p:sp>
        <p:nvSpPr>
          <p:cNvPr id="17" name="Text 13"/>
          <p:cNvSpPr txBox="1"/>
          <p:nvPr/>
        </p:nvSpPr>
        <p:spPr>
          <a:xfrm>
            <a:off x="5166360" y="3419856"/>
            <a:ext cx="3520440" cy="411480"/>
          </a:xfrm>
          <a:prstGeom prst="rect">
            <a:avLst/>
          </a:prstGeom>
          <a:noFill/>
          <a:ln/>
        </p:spPr>
        <p:txBody>
          <a:bodyPr wrap="square" lIns="0" tIns="0" rIns="0" bIns="0" rtlCol="0" anchor="t"/>
          <a:lstStyle/>
          <a:p>
            <a:pPr indent="0" marL="0">
              <a:buNone/>
            </a:pPr>
            <a:r>
              <a:rPr lang="en-US" sz="1100" dirty="0">
                <a:solidFill>
                  <a:srgbClr val="C9D2E6"/>
                </a:solidFill>
                <a:latin typeface="Arial" pitchFamily="34" charset="0"/>
                <a:ea typeface="Arial" pitchFamily="34" charset="-122"/>
                <a:cs typeface="Arial" pitchFamily="34" charset="-120"/>
              </a:rPr>
              <a:t>Squeeze below 45° and hold. The crease glows orange: the Lance is charging.</a:t>
            </a:r>
            <a:endParaRPr lang="en-US" sz="1100" dirty="0"/>
          </a:p>
        </p:txBody>
      </p:sp>
      <p:sp>
        <p:nvSpPr>
          <p:cNvPr id="18" name="Text 14"/>
          <p:cNvSpPr txBox="1"/>
          <p:nvPr/>
        </p:nvSpPr>
        <p:spPr>
          <a:xfrm>
            <a:off x="4846320" y="3831336"/>
            <a:ext cx="274320" cy="365760"/>
          </a:xfrm>
          <a:prstGeom prst="rect">
            <a:avLst/>
          </a:prstGeom>
          <a:noFill/>
          <a:ln/>
        </p:spPr>
        <p:txBody>
          <a:bodyPr wrap="square" lIns="0" tIns="0" rIns="0" bIns="0" rtlCol="0" anchor="t"/>
          <a:lstStyle/>
          <a:p>
            <a:pPr indent="0" marL="0">
              <a:buNone/>
            </a:pPr>
            <a:r>
              <a:rPr lang="en-US" sz="1500" b="1" dirty="0">
                <a:solidFill>
                  <a:srgbClr val="FFB238"/>
                </a:solidFill>
                <a:latin typeface="Courier New" pitchFamily="34" charset="0"/>
                <a:ea typeface="Courier New" pitchFamily="34" charset="-122"/>
                <a:cs typeface="Courier New" pitchFamily="34" charset="-120"/>
              </a:rPr>
              <a:t>2</a:t>
            </a:r>
            <a:endParaRPr lang="en-US" sz="1500" dirty="0"/>
          </a:p>
        </p:txBody>
      </p:sp>
      <p:sp>
        <p:nvSpPr>
          <p:cNvPr id="19" name="Text 15"/>
          <p:cNvSpPr txBox="1"/>
          <p:nvPr/>
        </p:nvSpPr>
        <p:spPr>
          <a:xfrm>
            <a:off x="5166360" y="3849624"/>
            <a:ext cx="3520440" cy="411480"/>
          </a:xfrm>
          <a:prstGeom prst="rect">
            <a:avLst/>
          </a:prstGeom>
          <a:noFill/>
          <a:ln/>
        </p:spPr>
        <p:txBody>
          <a:bodyPr wrap="square" lIns="0" tIns="0" rIns="0" bIns="0" rtlCol="0" anchor="t"/>
          <a:lstStyle/>
          <a:p>
            <a:pPr indent="0" marL="0">
              <a:buNone/>
            </a:pPr>
            <a:r>
              <a:rPr lang="en-US" sz="1100" dirty="0">
                <a:solidFill>
                  <a:srgbClr val="C9D2E6"/>
                </a:solidFill>
                <a:latin typeface="Arial" pitchFamily="34" charset="0"/>
                <a:ea typeface="Arial" pitchFamily="34" charset="-122"/>
                <a:cs typeface="Arial" pitchFamily="34" charset="-120"/>
              </a:rPr>
              <a:t>Snap the phone open faster than 250°/s. Fire.</a:t>
            </a:r>
            <a:endParaRPr lang="en-US" sz="1100" dirty="0"/>
          </a:p>
        </p:txBody>
      </p:sp>
      <p:sp>
        <p:nvSpPr>
          <p:cNvPr id="20" name="Text 16"/>
          <p:cNvSpPr txBox="1"/>
          <p:nvPr/>
        </p:nvSpPr>
        <p:spPr>
          <a:xfrm>
            <a:off x="4846320" y="4261104"/>
            <a:ext cx="274320" cy="365760"/>
          </a:xfrm>
          <a:prstGeom prst="rect">
            <a:avLst/>
          </a:prstGeom>
          <a:noFill/>
          <a:ln/>
        </p:spPr>
        <p:txBody>
          <a:bodyPr wrap="square" lIns="0" tIns="0" rIns="0" bIns="0" rtlCol="0" anchor="t"/>
          <a:lstStyle/>
          <a:p>
            <a:pPr indent="0" marL="0">
              <a:buNone/>
            </a:pPr>
            <a:r>
              <a:rPr lang="en-US" sz="1500" b="1" dirty="0">
                <a:solidFill>
                  <a:srgbClr val="FFB238"/>
                </a:solidFill>
                <a:latin typeface="Courier New" pitchFamily="34" charset="0"/>
                <a:ea typeface="Courier New" pitchFamily="34" charset="-122"/>
                <a:cs typeface="Courier New" pitchFamily="34" charset="-120"/>
              </a:rPr>
              <a:t>3</a:t>
            </a:r>
            <a:endParaRPr lang="en-US" sz="1500" dirty="0"/>
          </a:p>
        </p:txBody>
      </p:sp>
      <p:sp>
        <p:nvSpPr>
          <p:cNvPr id="21" name="Text 17"/>
          <p:cNvSpPr txBox="1"/>
          <p:nvPr/>
        </p:nvSpPr>
        <p:spPr>
          <a:xfrm>
            <a:off x="5166360" y="4279392"/>
            <a:ext cx="3520440" cy="411480"/>
          </a:xfrm>
          <a:prstGeom prst="rect">
            <a:avLst/>
          </a:prstGeom>
          <a:noFill/>
          <a:ln/>
        </p:spPr>
        <p:txBody>
          <a:bodyPr wrap="square" lIns="0" tIns="0" rIns="0" bIns="0" rtlCol="0" anchor="t"/>
          <a:lstStyle/>
          <a:p>
            <a:pPr indent="0" marL="0">
              <a:buNone/>
            </a:pPr>
            <a:r>
              <a:rPr lang="en-US" sz="1100" dirty="0">
                <a:solidFill>
                  <a:srgbClr val="C9D2E6"/>
                </a:solidFill>
                <a:latin typeface="Arial" pitchFamily="34" charset="0"/>
                <a:ea typeface="Arial" pitchFamily="34" charset="-122"/>
                <a:cs typeface="Arial" pitchFamily="34" charset="-120"/>
              </a:rPr>
              <a:t>The planet shatters in 3D in the corner. More energy, but you lose whatever you might have found there.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384048"/>
            <a:ext cx="3657600" cy="411480"/>
          </a:xfrm>
          <a:prstGeom prst="rect">
            <a:avLst/>
          </a:prstGeom>
          <a:noFill/>
          <a:ln/>
        </p:spPr>
        <p:txBody>
          <a:bodyPr wrap="square" lIns="0" tIns="0" rIns="0" bIns="0" rtlCol="0" anchor="t"/>
          <a:lstStyle/>
          <a:p>
            <a:pPr indent="0" marL="0">
              <a:buNone/>
            </a:pPr>
            <a:r>
              <a:rPr lang="en-US" sz="2400" b="1" dirty="0">
                <a:solidFill>
                  <a:srgbClr val="FFFFFF"/>
                </a:solidFill>
                <a:latin typeface="Courier New" pitchFamily="34" charset="0"/>
                <a:ea typeface="Courier New" pitchFamily="34" charset="-122"/>
                <a:cs typeface="Courier New" pitchFamily="34" charset="-120"/>
              </a:rPr>
              <a:t>Act III: the Core</a:t>
            </a:r>
            <a:endParaRPr lang="en-US" sz="2400" dirty="0"/>
          </a:p>
        </p:txBody>
      </p:sp>
      <p:pic>
        <p:nvPicPr>
          <p:cNvPr id="3" name="Image 0" descr="/private/tmp/claude-501/-Users-moorthy-Downloads-Projects-Bitrig-Hackathon/9cc55efd-258b-4603-a2ab-dd50fe68f596/scratchpad/deck/png/blackhole.png">    </p:cNvPr>
          <p:cNvPicPr>
            <a:picLocks noChangeAspect="1"/>
          </p:cNvPicPr>
          <p:nvPr/>
        </p:nvPicPr>
        <p:blipFill>
          <a:blip r:embed="rId2"/>
          <a:stretch>
            <a:fillRect/>
          </a:stretch>
        </p:blipFill>
        <p:spPr>
          <a:xfrm>
            <a:off x="45720" y="822960"/>
            <a:ext cx="3931920" cy="3931920"/>
          </a:xfrm>
          <a:prstGeom prst="rect">
            <a:avLst/>
          </a:prstGeom>
        </p:spPr>
      </p:pic>
      <p:sp>
        <p:nvSpPr>
          <p:cNvPr id="4" name="Text 1"/>
          <p:cNvSpPr txBox="1"/>
          <p:nvPr/>
        </p:nvSpPr>
        <p:spPr>
          <a:xfrm>
            <a:off x="4114800" y="457200"/>
            <a:ext cx="4663440" cy="228600"/>
          </a:xfrm>
          <a:prstGeom prst="rect">
            <a:avLst/>
          </a:prstGeom>
          <a:noFill/>
          <a:ln/>
        </p:spPr>
        <p:txBody>
          <a:bodyPr wrap="square" lIns="0" tIns="0" rIns="0" bIns="0" rtlCol="0" anchor="t"/>
          <a:lstStyle/>
          <a:p>
            <a:pPr indent="0" marL="0">
              <a:buNone/>
            </a:pPr>
            <a:r>
              <a:rPr lang="en-US" sz="950" spc="100" kern="0" dirty="0">
                <a:solidFill>
                  <a:srgbClr val="3DF2FF"/>
                </a:solidFill>
                <a:latin typeface="Courier New" pitchFamily="34" charset="0"/>
                <a:ea typeface="Courier New" pitchFamily="34" charset="-122"/>
                <a:cs typeface="Courier New" pitchFamily="34" charset="-120"/>
              </a:rPr>
              <a:t>SAGITTARIUS A* · 26,670 LY · 4M SOLAR MASSES</a:t>
            </a:r>
            <a:endParaRPr lang="en-US" sz="950" dirty="0"/>
          </a:p>
        </p:txBody>
      </p:sp>
      <p:sp>
        <p:nvSpPr>
          <p:cNvPr id="5" name="Text 2"/>
          <p:cNvSpPr txBox="1"/>
          <p:nvPr/>
        </p:nvSpPr>
        <p:spPr>
          <a:xfrm>
            <a:off x="4114800" y="777240"/>
            <a:ext cx="4572000" cy="164592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C9D2E6"/>
                </a:solidFill>
                <a:latin typeface="Arial" pitchFamily="34" charset="0"/>
                <a:ea typeface="Arial" pitchFamily="34" charset="-122"/>
                <a:cs typeface="Arial" pitchFamily="34" charset="-120"/>
              </a:rPr>
              <a:t>Fold = gravity. Close the phone to fall toward the horizon, open it to climb out. The slingshot is a hinge motion.</a:t>
            </a:r>
            <a:endParaRPr lang="en-US" sz="1200" dirty="0"/>
          </a:p>
          <a:p>
            <a:pPr marL="152400" indent="-152400">
              <a:spcAft>
                <a:spcPts val="700"/>
              </a:spcAft>
              <a:buSzPct val="100000"/>
              <a:buChar char="•"/>
            </a:pPr>
            <a:r>
              <a:rPr lang="en-US" sz="1200" dirty="0">
                <a:solidFill>
                  <a:srgbClr val="C9D2E6"/>
                </a:solidFill>
                <a:latin typeface="Arial" pitchFamily="34" charset="0"/>
                <a:ea typeface="Arial" pitchFamily="34" charset="-122"/>
                <a:cs typeface="Arial" pitchFamily="34" charset="-120"/>
              </a:rPr>
              <a:t>Time dilation on the HUD: Earth's clock races while yours crawls.</a:t>
            </a:r>
            <a:endParaRPr lang="en-US" sz="1200" dirty="0"/>
          </a:p>
          <a:p>
            <a:pPr marL="152400" indent="-152400">
              <a:spcAft>
                <a:spcPts val="700"/>
              </a:spcAft>
              <a:buSzPct val="100000"/>
              <a:buChar char="•"/>
            </a:pPr>
            <a:r>
              <a:rPr lang="en-US" sz="1200" dirty="0">
                <a:solidFill>
                  <a:srgbClr val="C9D2E6"/>
                </a:solidFill>
                <a:latin typeface="Arial" pitchFamily="34" charset="0"/>
                <a:ea typeface="Arial" pitchFamily="34" charset="-122"/>
                <a:cs typeface="Arial" pitchFamily="34" charset="-120"/>
              </a:rPr>
              <a:t>Fire the Nova Lance at it and the beam simply vanishes.</a:t>
            </a:r>
            <a:endParaRPr lang="en-US" sz="1200" dirty="0"/>
          </a:p>
        </p:txBody>
      </p:sp>
      <p:sp>
        <p:nvSpPr>
          <p:cNvPr id="6" name="Text 3"/>
          <p:cNvSpPr txBox="1"/>
          <p:nvPr/>
        </p:nvSpPr>
        <p:spPr>
          <a:xfrm>
            <a:off x="4114800" y="2606040"/>
            <a:ext cx="3108960" cy="228600"/>
          </a:xfrm>
          <a:prstGeom prst="rect">
            <a:avLst/>
          </a:prstGeom>
          <a:noFill/>
          <a:ln/>
        </p:spPr>
        <p:txBody>
          <a:bodyPr wrap="square" lIns="0" tIns="0" rIns="0" bIns="0" rtlCol="0" anchor="t"/>
          <a:lstStyle/>
          <a:p>
            <a:pPr indent="0" marL="0">
              <a:buNone/>
            </a:pPr>
            <a:r>
              <a:rPr lang="en-US" sz="1000" spc="150" kern="0" dirty="0">
                <a:solidFill>
                  <a:srgbClr val="FFB238"/>
                </a:solidFill>
                <a:latin typeface="Courier New" pitchFamily="34" charset="0"/>
                <a:ea typeface="Courier New" pitchFamily="34" charset="-122"/>
                <a:cs typeface="Courier New" pitchFamily="34" charset="-120"/>
              </a:rPr>
              <a:t>ANDROMEDA · 2,537,000 LY</a:t>
            </a:r>
            <a:endParaRPr lang="en-US" sz="1000" dirty="0"/>
          </a:p>
        </p:txBody>
      </p:sp>
      <p:pic>
        <p:nvPicPr>
          <p:cNvPr id="7" name="Image 1" descr="/private/tmp/claude-501/-Users-moorthy-Downloads-Projects-Bitrig-Hackathon/9cc55efd-258b-4603-a2ab-dd50fe68f596/scratchpad/deck/png/andromeda.png">    </p:cNvPr>
          <p:cNvPicPr>
            <a:picLocks noChangeAspect="1"/>
          </p:cNvPicPr>
          <p:nvPr/>
        </p:nvPicPr>
        <p:blipFill>
          <a:blip r:embed="rId3"/>
          <a:stretch>
            <a:fillRect/>
          </a:stretch>
        </p:blipFill>
        <p:spPr>
          <a:xfrm>
            <a:off x="7178040" y="2560320"/>
            <a:ext cx="1600200" cy="1600200"/>
          </a:xfrm>
          <a:prstGeom prst="rect">
            <a:avLst/>
          </a:prstGeom>
        </p:spPr>
      </p:pic>
      <p:sp>
        <p:nvSpPr>
          <p:cNvPr id="8" name="Text 4"/>
          <p:cNvSpPr txBox="1"/>
          <p:nvPr/>
        </p:nvSpPr>
        <p:spPr>
          <a:xfrm>
            <a:off x="4114800" y="2926080"/>
            <a:ext cx="3017520" cy="192024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C9D2E6"/>
                </a:solidFill>
                <a:latin typeface="Arial" pitchFamily="34" charset="0"/>
                <a:ea typeface="Arial" pitchFamily="34" charset="-122"/>
                <a:cs typeface="Arial" pitchFamily="34" charset="-120"/>
              </a:rPr>
              <a:t>Slingshot around the black hole, then pump the hinge open and shut four times. Each pump charges the Fold Core.</a:t>
            </a:r>
            <a:endParaRPr lang="en-US" sz="1200" dirty="0"/>
          </a:p>
          <a:p>
            <a:pPr marL="152400" indent="-152400">
              <a:spcAft>
                <a:spcPts val="700"/>
              </a:spcAft>
              <a:buSzPct val="100000"/>
              <a:buChar char="•"/>
            </a:pPr>
            <a:r>
              <a:rPr lang="en-US" sz="1200" dirty="0">
                <a:solidFill>
                  <a:srgbClr val="C9D2E6"/>
                </a:solidFill>
                <a:latin typeface="Arial" pitchFamily="34" charset="0"/>
                <a:ea typeface="Arial" pitchFamily="34" charset="-122"/>
                <a:cs typeface="Arial" pitchFamily="34" charset="-120"/>
              </a:rPr>
              <a:t>Slam it shut: 2.5 million light-years.</a:t>
            </a:r>
            <a:endParaRPr lang="en-US" sz="1200" dirty="0"/>
          </a:p>
          <a:p>
            <a:pPr marL="152400" indent="-152400">
              <a:spcAft>
                <a:spcPts val="700"/>
              </a:spcAft>
              <a:buSzPct val="100000"/>
              <a:buChar char="•"/>
            </a:pPr>
            <a:r>
              <a:rPr lang="en-US" sz="1200" dirty="0">
                <a:solidFill>
                  <a:srgbClr val="C9D2E6"/>
                </a:solidFill>
                <a:latin typeface="Arial" pitchFamily="34" charset="0"/>
                <a:ea typeface="Arial" pitchFamily="34" charset="-122"/>
                <a:cs typeface="Arial" pitchFamily="34" charset="-120"/>
              </a:rPr>
              <a:t>Open it: the Milky Way behind you, Andromeda rising out of the corner.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457200"/>
          </a:xfrm>
          <a:prstGeom prst="rect">
            <a:avLst/>
          </a:prstGeom>
          <a:noFill/>
          <a:ln/>
        </p:spPr>
        <p:txBody>
          <a:bodyPr wrap="square" lIns="0" tIns="0" rIns="0" bIns="0" rtlCol="0" anchor="t"/>
          <a:lstStyle/>
          <a:p>
            <a:pPr indent="0" marL="0">
              <a:buNone/>
            </a:pPr>
            <a:r>
              <a:rPr lang="en-US" sz="2600" b="1" dirty="0">
                <a:solidFill>
                  <a:srgbClr val="FFFFFF"/>
                </a:solidFill>
                <a:latin typeface="Courier New" pitchFamily="34" charset="0"/>
                <a:ea typeface="Courier New" pitchFamily="34" charset="-122"/>
                <a:cs typeface="Courier New" pitchFamily="34" charset="-120"/>
              </a:rPr>
              <a:t>Built with</a:t>
            </a:r>
            <a:endParaRPr lang="en-US" sz="2600" dirty="0"/>
          </a:p>
        </p:txBody>
      </p:sp>
      <p:sp>
        <p:nvSpPr>
          <p:cNvPr id="3" name="Text 1"/>
          <p:cNvSpPr txBox="1"/>
          <p:nvPr/>
        </p:nvSpPr>
        <p:spPr>
          <a:xfrm>
            <a:off x="548640" y="914400"/>
            <a:ext cx="2514600" cy="228600"/>
          </a:xfrm>
          <a:prstGeom prst="rect">
            <a:avLst/>
          </a:prstGeom>
          <a:noFill/>
          <a:ln/>
        </p:spPr>
        <p:txBody>
          <a:bodyPr wrap="square" lIns="0" tIns="0" rIns="0" bIns="0" rtlCol="0" anchor="t"/>
          <a:lstStyle/>
          <a:p>
            <a:pPr indent="0" marL="0">
              <a:buNone/>
            </a:pPr>
            <a:r>
              <a:rPr lang="en-US" sz="1050" spc="150" kern="0" dirty="0">
                <a:solidFill>
                  <a:srgbClr val="3DF2FF"/>
                </a:solidFill>
                <a:latin typeface="Courier New" pitchFamily="34" charset="0"/>
                <a:ea typeface="Courier New" pitchFamily="34" charset="-122"/>
                <a:cs typeface="Courier New" pitchFamily="34" charset="-120"/>
              </a:rPr>
              <a:t>IPHONE DUO APIS</a:t>
            </a:r>
            <a:endParaRPr lang="en-US" sz="1050" dirty="0"/>
          </a:p>
        </p:txBody>
      </p:sp>
      <p:sp>
        <p:nvSpPr>
          <p:cNvPr id="4" name="Text 2"/>
          <p:cNvSpPr txBox="1"/>
          <p:nvPr/>
        </p:nvSpPr>
        <p:spPr>
          <a:xfrm>
            <a:off x="548640" y="1188720"/>
            <a:ext cx="2514600" cy="178308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C9D2E6"/>
                </a:solidFill>
                <a:latin typeface="Arial" pitchFamily="34" charset="0"/>
                <a:ea typeface="Arial" pitchFamily="34" charset="-122"/>
                <a:cs typeface="Arial" pitchFamily="34" charset="-120"/>
              </a:rPr>
              <a:t>onHingeChange: hinge status + continuous angle</a:t>
            </a:r>
            <a:endParaRPr lang="en-US" sz="1050" dirty="0"/>
          </a:p>
          <a:p>
            <a:pPr marL="152400" indent="-152400">
              <a:spcAft>
                <a:spcPts val="700"/>
              </a:spcAft>
              <a:buSzPct val="100000"/>
              <a:buChar char="•"/>
            </a:pPr>
            <a:r>
              <a:rPr lang="en-US" sz="1050" dirty="0">
                <a:solidFill>
                  <a:srgbClr val="C9D2E6"/>
                </a:solidFill>
                <a:latin typeface="Arial" pitchFamily="34" charset="0"/>
                <a:ea typeface="Arial" pitchFamily="34" charset="-122"/>
                <a:cs typeface="Arial" pitchFamily="34" charset="-120"/>
              </a:rPr>
              <a:t>Reserved regions .division (the fold) and .occlusion (camera)</a:t>
            </a:r>
            <a:endParaRPr lang="en-US" sz="1050" dirty="0"/>
          </a:p>
          <a:p>
            <a:pPr marL="152400" indent="-152400">
              <a:spcAft>
                <a:spcPts val="700"/>
              </a:spcAft>
              <a:buSzPct val="100000"/>
              <a:buChar char="•"/>
            </a:pPr>
            <a:r>
              <a:rPr lang="en-US" sz="1050" dirty="0">
                <a:solidFill>
                  <a:srgbClr val="C9D2E6"/>
                </a:solidFill>
                <a:latin typeface="Arial" pitchFamily="34" charset="0"/>
                <a:ea typeface="Arial" pitchFamily="34" charset="-122"/>
                <a:cs typeface="Arial" pitchFamily="34" charset="-120"/>
              </a:rPr>
              <a:t>Outer ↔ inner display continuity</a:t>
            </a:r>
            <a:endParaRPr lang="en-US" sz="1050" dirty="0"/>
          </a:p>
          <a:p>
            <a:pPr marL="152400" indent="-152400">
              <a:spcAft>
                <a:spcPts val="700"/>
              </a:spcAft>
              <a:buSzPct val="100000"/>
              <a:buChar char="•"/>
            </a:pPr>
            <a:r>
              <a:rPr lang="en-US" sz="1050" dirty="0">
                <a:solidFill>
                  <a:srgbClr val="C9D2E6"/>
                </a:solidFill>
                <a:latin typeface="Arial" pitchFamily="34" charset="0"/>
                <a:ea typeface="Arial" pitchFamily="34" charset="-122"/>
                <a:cs typeface="Arial" pitchFamily="34" charset="-120"/>
              </a:rPr>
              <a:t>Size classes, never orientation locks</a:t>
            </a:r>
            <a:endParaRPr lang="en-US" sz="1050" dirty="0"/>
          </a:p>
          <a:p>
            <a:pPr marL="152400" indent="-152400">
              <a:spcAft>
                <a:spcPts val="700"/>
              </a:spcAft>
              <a:buSzPct val="100000"/>
              <a:buChar char="•"/>
            </a:pPr>
            <a:r>
              <a:rPr lang="en-US" sz="1050" dirty="0">
                <a:solidFill>
                  <a:srgbClr val="C9D2E6"/>
                </a:solidFill>
                <a:latin typeface="Arial" pitchFamily="34" charset="0"/>
                <a:ea typeface="Arial" pitchFamily="34" charset="-122"/>
                <a:cs typeface="Arial" pitchFamily="34" charset="-120"/>
              </a:rPr>
              <a:t>Multiple scenes: the galaxy map as a second window</a:t>
            </a:r>
            <a:endParaRPr lang="en-US" sz="1050" dirty="0"/>
          </a:p>
        </p:txBody>
      </p:sp>
      <p:sp>
        <p:nvSpPr>
          <p:cNvPr id="5" name="Text 3"/>
          <p:cNvSpPr txBox="1"/>
          <p:nvPr/>
        </p:nvSpPr>
        <p:spPr>
          <a:xfrm>
            <a:off x="3291840" y="914400"/>
            <a:ext cx="2514600" cy="228600"/>
          </a:xfrm>
          <a:prstGeom prst="rect">
            <a:avLst/>
          </a:prstGeom>
          <a:noFill/>
          <a:ln/>
        </p:spPr>
        <p:txBody>
          <a:bodyPr wrap="square" lIns="0" tIns="0" rIns="0" bIns="0" rtlCol="0" anchor="t"/>
          <a:lstStyle/>
          <a:p>
            <a:pPr indent="0" marL="0">
              <a:buNone/>
            </a:pPr>
            <a:r>
              <a:rPr lang="en-US" sz="1050" spc="150" kern="0" dirty="0">
                <a:solidFill>
                  <a:srgbClr val="3DF2FF"/>
                </a:solidFill>
                <a:latin typeface="Courier New" pitchFamily="34" charset="0"/>
                <a:ea typeface="Courier New" pitchFamily="34" charset="-122"/>
                <a:cs typeface="Courier New" pitchFamily="34" charset="-120"/>
              </a:rPr>
              <a:t>RENDERING + SCIENCE</a:t>
            </a:r>
            <a:endParaRPr lang="en-US" sz="1050" dirty="0"/>
          </a:p>
        </p:txBody>
      </p:sp>
      <p:sp>
        <p:nvSpPr>
          <p:cNvPr id="6" name="Text 4"/>
          <p:cNvSpPr txBox="1"/>
          <p:nvPr/>
        </p:nvSpPr>
        <p:spPr>
          <a:xfrm>
            <a:off x="3291840" y="1188720"/>
            <a:ext cx="2514600" cy="178308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C9D2E6"/>
                </a:solidFill>
                <a:latin typeface="Arial" pitchFamily="34" charset="0"/>
                <a:ea typeface="Arial" pitchFamily="34" charset="-122"/>
                <a:cs typeface="Arial" pitchFamily="34" charset="-120"/>
              </a:rPr>
              <a:t>SceneKit: procedural planets, hologram camera, warp particles, shatter</a:t>
            </a:r>
            <a:endParaRPr lang="en-US" sz="1050" dirty="0"/>
          </a:p>
          <a:p>
            <a:pPr marL="152400" indent="-152400">
              <a:spcAft>
                <a:spcPts val="700"/>
              </a:spcAft>
              <a:buSzPct val="100000"/>
              <a:buChar char="•"/>
            </a:pPr>
            <a:r>
              <a:rPr lang="en-US" sz="1050" dirty="0">
                <a:solidFill>
                  <a:srgbClr val="C9D2E6"/>
                </a:solidFill>
                <a:latin typeface="Arial" pitchFamily="34" charset="0"/>
                <a:ea typeface="Arial" pitchFamily="34" charset="-122"/>
                <a:cs typeface="Arial" pitchFamily="34" charset="-120"/>
              </a:rPr>
              <a:t>SwiftUI + @Observable store, 60 Hz flight loop</a:t>
            </a:r>
            <a:endParaRPr lang="en-US" sz="1050" dirty="0"/>
          </a:p>
          <a:p>
            <a:pPr marL="152400" indent="-152400">
              <a:spcAft>
                <a:spcPts val="700"/>
              </a:spcAft>
              <a:buSzPct val="100000"/>
              <a:buChar char="•"/>
            </a:pPr>
            <a:r>
              <a:rPr lang="en-US" sz="1050" dirty="0">
                <a:solidFill>
                  <a:srgbClr val="C9D2E6"/>
                </a:solidFill>
                <a:latin typeface="Arial" pitchFamily="34" charset="0"/>
                <a:ea typeface="Arial" pitchFamily="34" charset="-122"/>
                <a:cs typeface="Arial" pitchFamily="34" charset="-120"/>
              </a:rPr>
              <a:t>Real catalog: NASA Exoplanet Archive, EHT, NASA Sun fact sheets</a:t>
            </a:r>
            <a:endParaRPr lang="en-US" sz="1050" dirty="0"/>
          </a:p>
          <a:p>
            <a:pPr marL="152400" indent="-152400">
              <a:spcAft>
                <a:spcPts val="700"/>
              </a:spcAft>
              <a:buSzPct val="100000"/>
              <a:buChar char="•"/>
            </a:pPr>
            <a:r>
              <a:rPr lang="en-US" sz="1050" dirty="0">
                <a:solidFill>
                  <a:srgbClr val="C9D2E6"/>
                </a:solidFill>
                <a:latin typeface="Arial" pitchFamily="34" charset="0"/>
                <a:ea typeface="Arial" pitchFamily="34" charset="-122"/>
                <a:cs typeface="Arial" pitchFamily="34" charset="-120"/>
              </a:rPr>
              <a:t>Proxima b, Barnard's Star, TRAPPIST-1, Sgr A*, Andromeda</a:t>
            </a:r>
            <a:endParaRPr lang="en-US" sz="1050" dirty="0"/>
          </a:p>
        </p:txBody>
      </p:sp>
      <p:sp>
        <p:nvSpPr>
          <p:cNvPr id="7" name="Text 5"/>
          <p:cNvSpPr txBox="1"/>
          <p:nvPr/>
        </p:nvSpPr>
        <p:spPr>
          <a:xfrm>
            <a:off x="6035040" y="914400"/>
            <a:ext cx="2651760" cy="228600"/>
          </a:xfrm>
          <a:prstGeom prst="rect">
            <a:avLst/>
          </a:prstGeom>
          <a:noFill/>
          <a:ln/>
        </p:spPr>
        <p:txBody>
          <a:bodyPr wrap="square" lIns="0" tIns="0" rIns="0" bIns="0" rtlCol="0" anchor="t"/>
          <a:lstStyle/>
          <a:p>
            <a:pPr indent="0" marL="0">
              <a:buNone/>
            </a:pPr>
            <a:r>
              <a:rPr lang="en-US" sz="1050" spc="150" kern="0" dirty="0">
                <a:solidFill>
                  <a:srgbClr val="FFB238"/>
                </a:solidFill>
                <a:latin typeface="Courier New" pitchFamily="34" charset="0"/>
                <a:ea typeface="Courier New" pitchFamily="34" charset="-122"/>
                <a:cs typeface="Courier New" pitchFamily="34" charset="-120"/>
              </a:rPr>
              <a:t>SPONSOR STACK</a:t>
            </a:r>
            <a:endParaRPr lang="en-US" sz="1050" dirty="0"/>
          </a:p>
        </p:txBody>
      </p:sp>
      <p:sp>
        <p:nvSpPr>
          <p:cNvPr id="8" name="Text 6"/>
          <p:cNvSpPr txBox="1"/>
          <p:nvPr/>
        </p:nvSpPr>
        <p:spPr>
          <a:xfrm>
            <a:off x="6035040" y="1188720"/>
            <a:ext cx="2651760" cy="178308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C9D2E6"/>
                </a:solidFill>
                <a:latin typeface="Arial" pitchFamily="34" charset="0"/>
                <a:ea typeface="Arial" pitchFamily="34" charset="-122"/>
                <a:cs typeface="Arial" pitchFamily="34" charset="-120"/>
              </a:rPr>
              <a:t>Supabase: the Galactic Registry. Every beacon, warp, shattered world and Andromeda arrival, fire-and-forget. The game plays offline.</a:t>
            </a:r>
            <a:endParaRPr lang="en-US" sz="1050" dirty="0"/>
          </a:p>
          <a:p>
            <a:pPr marL="152400" indent="-152400">
              <a:spcAft>
                <a:spcPts val="700"/>
              </a:spcAft>
              <a:buSzPct val="100000"/>
              <a:buChar char="•"/>
            </a:pPr>
            <a:r>
              <a:rPr lang="en-US" sz="1050" dirty="0">
                <a:solidFill>
                  <a:srgbClr val="C9D2E6"/>
                </a:solidFill>
                <a:latin typeface="Arial" pitchFamily="34" charset="0"/>
                <a:ea typeface="Arial" pitchFamily="34" charset="-122"/>
                <a:cs typeface="Arial" pitchFamily="34" charset="-120"/>
              </a:rPr>
              <a:t>OpenAI: the ship computer. Narrates each system, grounded in the real catalog.</a:t>
            </a:r>
            <a:endParaRPr lang="en-US" sz="1050" dirty="0"/>
          </a:p>
          <a:p>
            <a:pPr marL="152400" indent="-152400">
              <a:spcAft>
                <a:spcPts val="700"/>
              </a:spcAft>
              <a:buSzPct val="100000"/>
              <a:buChar char="•"/>
            </a:pPr>
            <a:r>
              <a:rPr lang="en-US" sz="1050" dirty="0">
                <a:solidFill>
                  <a:srgbClr val="C9D2E6"/>
                </a:solidFill>
                <a:latin typeface="Arial" pitchFamily="34" charset="0"/>
                <a:ea typeface="Arial" pitchFamily="34" charset="-122"/>
                <a:cs typeface="Arial" pitchFamily="34" charset="-120"/>
              </a:rPr>
              <a:t>Sentry: crashes and hinge-loop performance.</a:t>
            </a:r>
            <a:endParaRPr lang="en-US" sz="1050" dirty="0"/>
          </a:p>
        </p:txBody>
      </p:sp>
      <p:sp>
        <p:nvSpPr>
          <p:cNvPr id="9" name="Text 7"/>
          <p:cNvSpPr txBox="1"/>
          <p:nvPr/>
        </p:nvSpPr>
        <p:spPr>
          <a:xfrm>
            <a:off x="548640" y="3035808"/>
            <a:ext cx="2743200" cy="228600"/>
          </a:xfrm>
          <a:prstGeom prst="rect">
            <a:avLst/>
          </a:prstGeom>
          <a:noFill/>
          <a:ln/>
        </p:spPr>
        <p:txBody>
          <a:bodyPr wrap="square" lIns="0" tIns="0" rIns="0" bIns="0" rtlCol="0" anchor="t"/>
          <a:lstStyle/>
          <a:p>
            <a:pPr indent="0" marL="0">
              <a:buNone/>
            </a:pPr>
            <a:r>
              <a:rPr lang="en-US" sz="950" spc="150" kern="0" dirty="0">
                <a:solidFill>
                  <a:srgbClr val="6B7A99"/>
                </a:solidFill>
                <a:latin typeface="Courier New" pitchFamily="34" charset="0"/>
                <a:ea typeface="Courier New" pitchFamily="34" charset="-122"/>
                <a:cs typeface="Courier New" pitchFamily="34" charset="-120"/>
              </a:rPr>
              <a:t>ARCHITECTURE</a:t>
            </a:r>
            <a:endParaRPr lang="en-US" sz="950" dirty="0"/>
          </a:p>
        </p:txBody>
      </p:sp>
      <p:sp>
        <p:nvSpPr>
          <p:cNvPr id="10" name="Shape 8"/>
          <p:cNvSpPr/>
          <p:nvPr/>
        </p:nvSpPr>
        <p:spPr>
          <a:xfrm>
            <a:off x="457200" y="3291840"/>
            <a:ext cx="1298448" cy="566928"/>
          </a:xfrm>
          <a:prstGeom prst="roundRect">
            <a:avLst>
              <a:gd name="adj" fmla="val 9677"/>
            </a:avLst>
          </a:prstGeom>
          <a:solidFill>
            <a:srgbClr val="0B1020"/>
          </a:solidFill>
          <a:ln w="9525">
            <a:solidFill>
              <a:srgbClr val="2A3A66"/>
            </a:solidFill>
            <a:prstDash val="solid"/>
          </a:ln>
        </p:spPr>
      </p:sp>
      <p:sp>
        <p:nvSpPr>
          <p:cNvPr id="11" name="Text 9"/>
          <p:cNvSpPr txBox="1"/>
          <p:nvPr/>
        </p:nvSpPr>
        <p:spPr>
          <a:xfrm>
            <a:off x="512064" y="3291840"/>
            <a:ext cx="1188720" cy="566928"/>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HINGE SOURCES</a:t>
            </a:r>
            <a:endParaRPr lang="en-US" sz="800" dirty="0"/>
          </a:p>
          <a:p>
            <a:pPr algn="ctr" indent="0" marL="0">
              <a:buNone/>
            </a:pPr>
            <a:r>
              <a:rPr lang="en-US" sz="700" dirty="0">
                <a:solidFill>
                  <a:srgbClr val="8A96B3"/>
                </a:solidFill>
                <a:latin typeface="Courier New" pitchFamily="34" charset="0"/>
                <a:ea typeface="Courier New" pitchFamily="34" charset="-122"/>
                <a:cs typeface="Courier New" pitchFamily="34" charset="-120"/>
              </a:rPr>
              <a:t>Duo · simulator · tilt</a:t>
            </a:r>
            <a:endParaRPr lang="en-US" sz="800" dirty="0"/>
          </a:p>
        </p:txBody>
      </p:sp>
      <p:sp>
        <p:nvSpPr>
          <p:cNvPr id="12" name="Shape 10"/>
          <p:cNvSpPr/>
          <p:nvPr/>
        </p:nvSpPr>
        <p:spPr>
          <a:xfrm>
            <a:off x="1843430" y="3291840"/>
            <a:ext cx="1298448" cy="566928"/>
          </a:xfrm>
          <a:prstGeom prst="roundRect">
            <a:avLst>
              <a:gd name="adj" fmla="val 9677"/>
            </a:avLst>
          </a:prstGeom>
          <a:solidFill>
            <a:srgbClr val="0B1020"/>
          </a:solidFill>
          <a:ln w="9525">
            <a:solidFill>
              <a:srgbClr val="2A3A66"/>
            </a:solidFill>
            <a:prstDash val="solid"/>
          </a:ln>
        </p:spPr>
      </p:sp>
      <p:sp>
        <p:nvSpPr>
          <p:cNvPr id="13" name="Text 11"/>
          <p:cNvSpPr txBox="1"/>
          <p:nvPr/>
        </p:nvSpPr>
        <p:spPr>
          <a:xfrm>
            <a:off x="1898294" y="3291840"/>
            <a:ext cx="1188720" cy="566928"/>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HINGE ENGINE</a:t>
            </a:r>
            <a:endParaRPr lang="en-US" sz="800" dirty="0"/>
          </a:p>
          <a:p>
            <a:pPr algn="ctr" indent="0" marL="0">
              <a:buNone/>
            </a:pPr>
            <a:r>
              <a:rPr lang="en-US" sz="700" dirty="0">
                <a:solidFill>
                  <a:srgbClr val="8A96B3"/>
                </a:solidFill>
                <a:latin typeface="Courier New" pitchFamily="34" charset="0"/>
                <a:ea typeface="Courier New" pitchFamily="34" charset="-122"/>
                <a:cs typeface="Courier New" pitchFamily="34" charset="-120"/>
              </a:rPr>
              <a:t>angle·velocity·gesture</a:t>
            </a:r>
            <a:endParaRPr lang="en-US" sz="800" dirty="0"/>
          </a:p>
        </p:txBody>
      </p:sp>
      <p:sp>
        <p:nvSpPr>
          <p:cNvPr id="14" name="Shape 12"/>
          <p:cNvSpPr/>
          <p:nvPr/>
        </p:nvSpPr>
        <p:spPr>
          <a:xfrm>
            <a:off x="3229661" y="3291840"/>
            <a:ext cx="1298448" cy="566928"/>
          </a:xfrm>
          <a:prstGeom prst="roundRect">
            <a:avLst>
              <a:gd name="adj" fmla="val 9677"/>
            </a:avLst>
          </a:prstGeom>
          <a:solidFill>
            <a:srgbClr val="0B1020"/>
          </a:solidFill>
          <a:ln w="9525">
            <a:solidFill>
              <a:srgbClr val="2A3A66"/>
            </a:solidFill>
            <a:prstDash val="solid"/>
          </a:ln>
        </p:spPr>
      </p:sp>
      <p:sp>
        <p:nvSpPr>
          <p:cNvPr id="15" name="Text 13"/>
          <p:cNvSpPr txBox="1"/>
          <p:nvPr/>
        </p:nvSpPr>
        <p:spPr>
          <a:xfrm>
            <a:off x="3284525" y="3291840"/>
            <a:ext cx="1188720" cy="566928"/>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FLIGHT CONTROLLER</a:t>
            </a:r>
            <a:endParaRPr lang="en-US" sz="800" dirty="0"/>
          </a:p>
          <a:p>
            <a:pPr algn="ctr" indent="0" marL="0">
              <a:buNone/>
            </a:pPr>
            <a:r>
              <a:rPr lang="en-US" sz="700" dirty="0">
                <a:solidFill>
                  <a:srgbClr val="8A96B3"/>
                </a:solidFill>
                <a:latin typeface="Courier New" pitchFamily="34" charset="0"/>
                <a:ea typeface="Courier New" pitchFamily="34" charset="-122"/>
                <a:cs typeface="Courier New" pitchFamily="34" charset="-120"/>
              </a:rPr>
              <a:t>60 Hz loop</a:t>
            </a:r>
            <a:endParaRPr lang="en-US" sz="800" dirty="0"/>
          </a:p>
        </p:txBody>
      </p:sp>
      <p:sp>
        <p:nvSpPr>
          <p:cNvPr id="16" name="Shape 14"/>
          <p:cNvSpPr/>
          <p:nvPr/>
        </p:nvSpPr>
        <p:spPr>
          <a:xfrm>
            <a:off x="4615891" y="3291840"/>
            <a:ext cx="1298448" cy="566928"/>
          </a:xfrm>
          <a:prstGeom prst="roundRect">
            <a:avLst>
              <a:gd name="adj" fmla="val 9677"/>
            </a:avLst>
          </a:prstGeom>
          <a:solidFill>
            <a:srgbClr val="0B1020"/>
          </a:solidFill>
          <a:ln w="9525">
            <a:solidFill>
              <a:srgbClr val="2A3A66"/>
            </a:solidFill>
            <a:prstDash val="solid"/>
          </a:ln>
        </p:spPr>
      </p:sp>
      <p:sp>
        <p:nvSpPr>
          <p:cNvPr id="17" name="Text 15"/>
          <p:cNvSpPr txBox="1"/>
          <p:nvPr/>
        </p:nvSpPr>
        <p:spPr>
          <a:xfrm>
            <a:off x="4670755" y="3291840"/>
            <a:ext cx="1188720" cy="566928"/>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GAME STORE</a:t>
            </a:r>
            <a:endParaRPr lang="en-US" sz="800" dirty="0"/>
          </a:p>
          <a:p>
            <a:pPr algn="ctr" indent="0" marL="0">
              <a:buNone/>
            </a:pPr>
            <a:r>
              <a:rPr lang="en-US" sz="700" dirty="0">
                <a:solidFill>
                  <a:srgbClr val="8A96B3"/>
                </a:solidFill>
                <a:latin typeface="Courier New" pitchFamily="34" charset="0"/>
                <a:ea typeface="Courier New" pitchFamily="34" charset="-122"/>
                <a:cs typeface="Courier New" pitchFamily="34" charset="-120"/>
              </a:rPr>
              <a:t>phase · energy · hull</a:t>
            </a:r>
            <a:endParaRPr lang="en-US" sz="800" dirty="0"/>
          </a:p>
        </p:txBody>
      </p:sp>
      <p:sp>
        <p:nvSpPr>
          <p:cNvPr id="18" name="Shape 16"/>
          <p:cNvSpPr/>
          <p:nvPr/>
        </p:nvSpPr>
        <p:spPr>
          <a:xfrm>
            <a:off x="6002122" y="3291840"/>
            <a:ext cx="1298448" cy="566928"/>
          </a:xfrm>
          <a:prstGeom prst="roundRect">
            <a:avLst>
              <a:gd name="adj" fmla="val 9677"/>
            </a:avLst>
          </a:prstGeom>
          <a:solidFill>
            <a:srgbClr val="0B1020"/>
          </a:solidFill>
          <a:ln w="9525">
            <a:solidFill>
              <a:srgbClr val="2A3A66"/>
            </a:solidFill>
            <a:prstDash val="solid"/>
          </a:ln>
        </p:spPr>
      </p:sp>
      <p:sp>
        <p:nvSpPr>
          <p:cNvPr id="19" name="Text 17"/>
          <p:cNvSpPr txBox="1"/>
          <p:nvPr/>
        </p:nvSpPr>
        <p:spPr>
          <a:xfrm>
            <a:off x="6056986" y="3291840"/>
            <a:ext cx="1188720" cy="566928"/>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ROOT VIEW</a:t>
            </a:r>
            <a:endParaRPr lang="en-US" sz="800" dirty="0"/>
          </a:p>
          <a:p>
            <a:pPr algn="ctr" indent="0" marL="0">
              <a:buNone/>
            </a:pPr>
            <a:r>
              <a:rPr lang="en-US" sz="700" dirty="0">
                <a:solidFill>
                  <a:srgbClr val="8A96B3"/>
                </a:solidFill>
                <a:latin typeface="Courier New" pitchFamily="34" charset="0"/>
                <a:ea typeface="Courier New" pitchFamily="34" charset="-122"/>
                <a:cs typeface="Courier New" pitchFamily="34" charset="-120"/>
              </a:rPr>
              <a:t>posture + phase</a:t>
            </a:r>
            <a:endParaRPr lang="en-US" sz="800" dirty="0"/>
          </a:p>
        </p:txBody>
      </p:sp>
      <p:sp>
        <p:nvSpPr>
          <p:cNvPr id="20" name="Shape 18"/>
          <p:cNvSpPr/>
          <p:nvPr/>
        </p:nvSpPr>
        <p:spPr>
          <a:xfrm>
            <a:off x="7388352" y="3291840"/>
            <a:ext cx="1298448" cy="566928"/>
          </a:xfrm>
          <a:prstGeom prst="roundRect">
            <a:avLst>
              <a:gd name="adj" fmla="val 9677"/>
            </a:avLst>
          </a:prstGeom>
          <a:solidFill>
            <a:srgbClr val="0B1020"/>
          </a:solidFill>
          <a:ln w="9525">
            <a:solidFill>
              <a:srgbClr val="2A3A66"/>
            </a:solidFill>
            <a:prstDash val="solid"/>
          </a:ln>
        </p:spPr>
      </p:sp>
      <p:sp>
        <p:nvSpPr>
          <p:cNvPr id="21" name="Text 19"/>
          <p:cNvSpPr txBox="1"/>
          <p:nvPr/>
        </p:nvSpPr>
        <p:spPr>
          <a:xfrm>
            <a:off x="7443216" y="3291840"/>
            <a:ext cx="1188720" cy="566928"/>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OUTER · COCKPIT</a:t>
            </a:r>
            <a:endParaRPr lang="en-US" sz="800" dirty="0"/>
          </a:p>
          <a:p>
            <a:pPr algn="ctr" indent="0" marL="0">
              <a:buNone/>
            </a:pPr>
            <a:r>
              <a:rPr lang="en-US" sz="700" dirty="0">
                <a:solidFill>
                  <a:srgbClr val="8A96B3"/>
                </a:solidFill>
                <a:latin typeface="Courier New" pitchFamily="34" charset="0"/>
                <a:ea typeface="Courier New" pitchFamily="34" charset="-122"/>
                <a:cs typeface="Courier New" pitchFamily="34" charset="-120"/>
              </a:rPr>
              <a:t>galaxy map · sequences</a:t>
            </a:r>
            <a:endParaRPr lang="en-US" sz="800" dirty="0"/>
          </a:p>
        </p:txBody>
      </p:sp>
      <p:sp>
        <p:nvSpPr>
          <p:cNvPr id="22" name="Shape 20"/>
          <p:cNvSpPr/>
          <p:nvPr/>
        </p:nvSpPr>
        <p:spPr>
          <a:xfrm>
            <a:off x="1755648" y="3575304"/>
            <a:ext cx="87782" cy="0"/>
          </a:xfrm>
          <a:prstGeom prst="line">
            <a:avLst/>
          </a:prstGeom>
          <a:noFill/>
          <a:ln w="15875">
            <a:solidFill>
              <a:srgbClr val="3DF2FF"/>
            </a:solidFill>
            <a:prstDash val="solid"/>
            <a:tailEnd type="triangle"/>
          </a:ln>
        </p:spPr>
      </p:sp>
      <p:sp>
        <p:nvSpPr>
          <p:cNvPr id="23" name="Shape 21"/>
          <p:cNvSpPr/>
          <p:nvPr/>
        </p:nvSpPr>
        <p:spPr>
          <a:xfrm>
            <a:off x="3141878" y="3575304"/>
            <a:ext cx="87782" cy="0"/>
          </a:xfrm>
          <a:prstGeom prst="line">
            <a:avLst/>
          </a:prstGeom>
          <a:noFill/>
          <a:ln w="15875">
            <a:solidFill>
              <a:srgbClr val="3DF2FF"/>
            </a:solidFill>
            <a:prstDash val="solid"/>
            <a:tailEnd type="triangle"/>
          </a:ln>
        </p:spPr>
      </p:sp>
      <p:sp>
        <p:nvSpPr>
          <p:cNvPr id="24" name="Shape 22"/>
          <p:cNvSpPr/>
          <p:nvPr/>
        </p:nvSpPr>
        <p:spPr>
          <a:xfrm>
            <a:off x="4528109" y="3575304"/>
            <a:ext cx="87782" cy="0"/>
          </a:xfrm>
          <a:prstGeom prst="line">
            <a:avLst/>
          </a:prstGeom>
          <a:noFill/>
          <a:ln w="15875">
            <a:solidFill>
              <a:srgbClr val="3DF2FF"/>
            </a:solidFill>
            <a:prstDash val="solid"/>
            <a:tailEnd type="triangle"/>
          </a:ln>
        </p:spPr>
      </p:sp>
      <p:sp>
        <p:nvSpPr>
          <p:cNvPr id="25" name="Shape 23"/>
          <p:cNvSpPr/>
          <p:nvPr/>
        </p:nvSpPr>
        <p:spPr>
          <a:xfrm>
            <a:off x="5914339" y="3575304"/>
            <a:ext cx="87782" cy="0"/>
          </a:xfrm>
          <a:prstGeom prst="line">
            <a:avLst/>
          </a:prstGeom>
          <a:noFill/>
          <a:ln w="15875">
            <a:solidFill>
              <a:srgbClr val="3DF2FF"/>
            </a:solidFill>
            <a:prstDash val="solid"/>
            <a:tailEnd type="triangle"/>
          </a:ln>
        </p:spPr>
      </p:sp>
      <p:sp>
        <p:nvSpPr>
          <p:cNvPr id="26" name="Shape 24"/>
          <p:cNvSpPr/>
          <p:nvPr/>
        </p:nvSpPr>
        <p:spPr>
          <a:xfrm>
            <a:off x="7300570" y="3575304"/>
            <a:ext cx="87782" cy="0"/>
          </a:xfrm>
          <a:prstGeom prst="line">
            <a:avLst/>
          </a:prstGeom>
          <a:noFill/>
          <a:ln w="15875">
            <a:solidFill>
              <a:srgbClr val="3DF2FF"/>
            </a:solidFill>
            <a:prstDash val="solid"/>
            <a:tailEnd type="triangle"/>
          </a:ln>
        </p:spPr>
      </p:sp>
      <p:sp>
        <p:nvSpPr>
          <p:cNvPr id="27" name="Shape 25"/>
          <p:cNvSpPr/>
          <p:nvPr/>
        </p:nvSpPr>
        <p:spPr>
          <a:xfrm>
            <a:off x="1843430" y="4160520"/>
            <a:ext cx="1298448" cy="457200"/>
          </a:xfrm>
          <a:prstGeom prst="roundRect">
            <a:avLst>
              <a:gd name="adj" fmla="val 12000"/>
            </a:avLst>
          </a:prstGeom>
          <a:solidFill>
            <a:srgbClr val="0B1020"/>
          </a:solidFill>
          <a:ln w="15875">
            <a:solidFill>
              <a:srgbClr val="FFB238"/>
            </a:solidFill>
            <a:prstDash val="solid"/>
          </a:ln>
        </p:spPr>
      </p:sp>
      <p:sp>
        <p:nvSpPr>
          <p:cNvPr id="28" name="Text 26"/>
          <p:cNvSpPr txBox="1"/>
          <p:nvPr/>
        </p:nvSpPr>
        <p:spPr>
          <a:xfrm>
            <a:off x="1898294" y="4160520"/>
            <a:ext cx="1188720" cy="457200"/>
          </a:xfrm>
          <a:prstGeom prst="rect">
            <a:avLst/>
          </a:prstGeom>
          <a:noFill/>
          <a:ln/>
        </p:spPr>
        <p:txBody>
          <a:bodyPr wrap="square" lIns="0" tIns="0" rIns="0" bIns="0" rtlCol="0" anchor="ctr"/>
          <a:lstStyle/>
          <a:p>
            <a:pPr algn="ctr" indent="0" marL="0">
              <a:buNone/>
            </a:pPr>
            <a:r>
              <a:rPr lang="en-US" sz="800" b="1" dirty="0">
                <a:solidFill>
                  <a:srgbClr val="FFB238"/>
                </a:solidFill>
                <a:latin typeface="Courier New" pitchFamily="34" charset="0"/>
                <a:ea typeface="Courier New" pitchFamily="34" charset="-122"/>
                <a:cs typeface="Courier New" pitchFamily="34" charset="-120"/>
              </a:rPr>
              <a:t>SENTRY</a:t>
            </a:r>
            <a:endParaRPr lang="en-US" sz="800" dirty="0"/>
          </a:p>
          <a:p>
            <a:pPr algn="ctr" indent="0" marL="0">
              <a:buNone/>
            </a:pPr>
            <a:r>
              <a:rPr lang="en-US" sz="700" dirty="0">
                <a:solidFill>
                  <a:srgbClr val="8A96B3"/>
                </a:solidFill>
                <a:latin typeface="Courier New" pitchFamily="34" charset="0"/>
                <a:ea typeface="Courier New" pitchFamily="34" charset="-122"/>
                <a:cs typeface="Courier New" pitchFamily="34" charset="-120"/>
              </a:rPr>
              <a:t>crash + performance</a:t>
            </a:r>
            <a:endParaRPr lang="en-US" sz="800" dirty="0"/>
          </a:p>
        </p:txBody>
      </p:sp>
      <p:sp>
        <p:nvSpPr>
          <p:cNvPr id="29" name="Shape 27"/>
          <p:cNvSpPr/>
          <p:nvPr/>
        </p:nvSpPr>
        <p:spPr>
          <a:xfrm>
            <a:off x="2492654" y="3858768"/>
            <a:ext cx="0" cy="301752"/>
          </a:xfrm>
          <a:prstGeom prst="line">
            <a:avLst/>
          </a:prstGeom>
          <a:noFill/>
          <a:ln w="15875">
            <a:solidFill>
              <a:srgbClr val="FFB238"/>
            </a:solidFill>
            <a:prstDash val="dash"/>
            <a:tailEnd type="triangle"/>
          </a:ln>
        </p:spPr>
      </p:sp>
      <p:sp>
        <p:nvSpPr>
          <p:cNvPr id="30" name="Shape 28"/>
          <p:cNvSpPr/>
          <p:nvPr/>
        </p:nvSpPr>
        <p:spPr>
          <a:xfrm>
            <a:off x="4615891" y="4160520"/>
            <a:ext cx="1298448" cy="457200"/>
          </a:xfrm>
          <a:prstGeom prst="roundRect">
            <a:avLst>
              <a:gd name="adj" fmla="val 12000"/>
            </a:avLst>
          </a:prstGeom>
          <a:solidFill>
            <a:srgbClr val="0B1020"/>
          </a:solidFill>
          <a:ln w="15875">
            <a:solidFill>
              <a:srgbClr val="FFB238"/>
            </a:solidFill>
            <a:prstDash val="solid"/>
          </a:ln>
        </p:spPr>
      </p:sp>
      <p:sp>
        <p:nvSpPr>
          <p:cNvPr id="31" name="Text 29"/>
          <p:cNvSpPr txBox="1"/>
          <p:nvPr/>
        </p:nvSpPr>
        <p:spPr>
          <a:xfrm>
            <a:off x="4670755" y="4160520"/>
            <a:ext cx="1188720" cy="457200"/>
          </a:xfrm>
          <a:prstGeom prst="rect">
            <a:avLst/>
          </a:prstGeom>
          <a:noFill/>
          <a:ln/>
        </p:spPr>
        <p:txBody>
          <a:bodyPr wrap="square" lIns="0" tIns="0" rIns="0" bIns="0" rtlCol="0" anchor="ctr"/>
          <a:lstStyle/>
          <a:p>
            <a:pPr algn="ctr" indent="0" marL="0">
              <a:buNone/>
            </a:pPr>
            <a:r>
              <a:rPr lang="en-US" sz="800" b="1" dirty="0">
                <a:solidFill>
                  <a:srgbClr val="FFB238"/>
                </a:solidFill>
                <a:latin typeface="Courier New" pitchFamily="34" charset="0"/>
                <a:ea typeface="Courier New" pitchFamily="34" charset="-122"/>
                <a:cs typeface="Courier New" pitchFamily="34" charset="-120"/>
              </a:rPr>
              <a:t>SUPABASE</a:t>
            </a:r>
            <a:endParaRPr lang="en-US" sz="800" dirty="0"/>
          </a:p>
          <a:p>
            <a:pPr algn="ctr" indent="0" marL="0">
              <a:buNone/>
            </a:pPr>
            <a:r>
              <a:rPr lang="en-US" sz="700" dirty="0">
                <a:solidFill>
                  <a:srgbClr val="8A96B3"/>
                </a:solidFill>
                <a:latin typeface="Courier New" pitchFamily="34" charset="0"/>
                <a:ea typeface="Courier New" pitchFamily="34" charset="-122"/>
                <a:cs typeface="Courier New" pitchFamily="34" charset="-120"/>
              </a:rPr>
              <a:t>Galactic Registry</a:t>
            </a:r>
            <a:endParaRPr lang="en-US" sz="800" dirty="0"/>
          </a:p>
        </p:txBody>
      </p:sp>
      <p:sp>
        <p:nvSpPr>
          <p:cNvPr id="32" name="Shape 30"/>
          <p:cNvSpPr/>
          <p:nvPr/>
        </p:nvSpPr>
        <p:spPr>
          <a:xfrm>
            <a:off x="5265115" y="3858768"/>
            <a:ext cx="0" cy="301752"/>
          </a:xfrm>
          <a:prstGeom prst="line">
            <a:avLst/>
          </a:prstGeom>
          <a:noFill/>
          <a:ln w="15875">
            <a:solidFill>
              <a:srgbClr val="FFB238"/>
            </a:solidFill>
            <a:prstDash val="solid"/>
            <a:tailEnd type="triangle"/>
          </a:ln>
        </p:spPr>
      </p:sp>
      <p:sp>
        <p:nvSpPr>
          <p:cNvPr id="33" name="Shape 31"/>
          <p:cNvSpPr/>
          <p:nvPr/>
        </p:nvSpPr>
        <p:spPr>
          <a:xfrm>
            <a:off x="6002122" y="4160520"/>
            <a:ext cx="1298448" cy="457200"/>
          </a:xfrm>
          <a:prstGeom prst="roundRect">
            <a:avLst>
              <a:gd name="adj" fmla="val 12000"/>
            </a:avLst>
          </a:prstGeom>
          <a:solidFill>
            <a:srgbClr val="0B1020"/>
          </a:solidFill>
          <a:ln w="9525">
            <a:solidFill>
              <a:srgbClr val="2A3A66"/>
            </a:solidFill>
            <a:prstDash val="solid"/>
          </a:ln>
        </p:spPr>
      </p:sp>
      <p:sp>
        <p:nvSpPr>
          <p:cNvPr id="34" name="Text 32"/>
          <p:cNvSpPr txBox="1"/>
          <p:nvPr/>
        </p:nvSpPr>
        <p:spPr>
          <a:xfrm>
            <a:off x="6056986" y="4160520"/>
            <a:ext cx="11887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SCENEKIT</a:t>
            </a:r>
            <a:endParaRPr lang="en-US" sz="800" dirty="0"/>
          </a:p>
          <a:p>
            <a:pPr algn="ctr" indent="0" marL="0">
              <a:buNone/>
            </a:pPr>
            <a:r>
              <a:rPr lang="en-US" sz="700" dirty="0">
                <a:solidFill>
                  <a:srgbClr val="8A96B3"/>
                </a:solidFill>
                <a:latin typeface="Courier New" pitchFamily="34" charset="0"/>
                <a:ea typeface="Courier New" pitchFamily="34" charset="-122"/>
                <a:cs typeface="Courier New" pitchFamily="34" charset="-120"/>
              </a:rPr>
              <a:t>SpaceScene hologram</a:t>
            </a:r>
            <a:endParaRPr lang="en-US" sz="800" dirty="0"/>
          </a:p>
        </p:txBody>
      </p:sp>
      <p:sp>
        <p:nvSpPr>
          <p:cNvPr id="35" name="Shape 33"/>
          <p:cNvSpPr/>
          <p:nvPr/>
        </p:nvSpPr>
        <p:spPr>
          <a:xfrm>
            <a:off x="6651346" y="3858768"/>
            <a:ext cx="0" cy="301752"/>
          </a:xfrm>
          <a:prstGeom prst="line">
            <a:avLst/>
          </a:prstGeom>
          <a:noFill/>
          <a:ln w="15875">
            <a:solidFill>
              <a:srgbClr val="3DF2FF"/>
            </a:solidFill>
            <a:prstDash val="solid"/>
            <a:tailEnd type="triangle"/>
          </a:ln>
        </p:spPr>
      </p:sp>
      <p:sp>
        <p:nvSpPr>
          <p:cNvPr id="36" name="Shape 34"/>
          <p:cNvSpPr/>
          <p:nvPr/>
        </p:nvSpPr>
        <p:spPr>
          <a:xfrm>
            <a:off x="7388352" y="4160520"/>
            <a:ext cx="1298448" cy="457200"/>
          </a:xfrm>
          <a:prstGeom prst="roundRect">
            <a:avLst>
              <a:gd name="adj" fmla="val 12000"/>
            </a:avLst>
          </a:prstGeom>
          <a:solidFill>
            <a:srgbClr val="0B1020"/>
          </a:solidFill>
          <a:ln w="15875">
            <a:solidFill>
              <a:srgbClr val="FFB238"/>
            </a:solidFill>
            <a:prstDash val="solid"/>
          </a:ln>
        </p:spPr>
      </p:sp>
      <p:sp>
        <p:nvSpPr>
          <p:cNvPr id="37" name="Text 35"/>
          <p:cNvSpPr txBox="1"/>
          <p:nvPr/>
        </p:nvSpPr>
        <p:spPr>
          <a:xfrm>
            <a:off x="7443216" y="4160520"/>
            <a:ext cx="1188720" cy="457200"/>
          </a:xfrm>
          <a:prstGeom prst="rect">
            <a:avLst/>
          </a:prstGeom>
          <a:noFill/>
          <a:ln/>
        </p:spPr>
        <p:txBody>
          <a:bodyPr wrap="square" lIns="0" tIns="0" rIns="0" bIns="0" rtlCol="0" anchor="ctr"/>
          <a:lstStyle/>
          <a:p>
            <a:pPr algn="ctr" indent="0" marL="0">
              <a:buNone/>
            </a:pPr>
            <a:r>
              <a:rPr lang="en-US" sz="800" b="1" dirty="0">
                <a:solidFill>
                  <a:srgbClr val="FFB238"/>
                </a:solidFill>
                <a:latin typeface="Courier New" pitchFamily="34" charset="0"/>
                <a:ea typeface="Courier New" pitchFamily="34" charset="-122"/>
                <a:cs typeface="Courier New" pitchFamily="34" charset="-120"/>
              </a:rPr>
              <a:t>OPENAI</a:t>
            </a:r>
            <a:endParaRPr lang="en-US" sz="800" dirty="0"/>
          </a:p>
          <a:p>
            <a:pPr algn="ctr" indent="0" marL="0">
              <a:buNone/>
            </a:pPr>
            <a:r>
              <a:rPr lang="en-US" sz="700" dirty="0">
                <a:solidFill>
                  <a:srgbClr val="8A96B3"/>
                </a:solidFill>
                <a:latin typeface="Courier New" pitchFamily="34" charset="0"/>
                <a:ea typeface="Courier New" pitchFamily="34" charset="-122"/>
                <a:cs typeface="Courier New" pitchFamily="34" charset="-120"/>
              </a:rPr>
              <a:t>ship computer</a:t>
            </a:r>
            <a:endParaRPr lang="en-US" sz="800" dirty="0"/>
          </a:p>
        </p:txBody>
      </p:sp>
      <p:sp>
        <p:nvSpPr>
          <p:cNvPr id="38" name="Shape 36"/>
          <p:cNvSpPr/>
          <p:nvPr/>
        </p:nvSpPr>
        <p:spPr>
          <a:xfrm>
            <a:off x="8037576" y="3858768"/>
            <a:ext cx="0" cy="301752"/>
          </a:xfrm>
          <a:prstGeom prst="line">
            <a:avLst/>
          </a:prstGeom>
          <a:noFill/>
          <a:ln w="15875">
            <a:solidFill>
              <a:srgbClr val="FFB238"/>
            </a:solidFill>
            <a:prstDash val="solid"/>
            <a:tailEnd type="triangle"/>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11480"/>
            <a:ext cx="4754880" cy="822960"/>
          </a:xfrm>
          <a:prstGeom prst="rect">
            <a:avLst/>
          </a:prstGeom>
          <a:noFill/>
          <a:ln/>
        </p:spPr>
        <p:txBody>
          <a:bodyPr wrap="square" lIns="0" tIns="0" rIns="0" bIns="0" rtlCol="0" anchor="t"/>
          <a:lstStyle/>
          <a:p>
            <a:pPr indent="0" marL="0">
              <a:buNone/>
            </a:pPr>
            <a:r>
              <a:rPr lang="en-US" sz="2400" b="1" dirty="0">
                <a:solidFill>
                  <a:srgbClr val="FFFFFF"/>
                </a:solidFill>
                <a:latin typeface="Courier New" pitchFamily="34" charset="0"/>
                <a:ea typeface="Courier New" pitchFamily="34" charset="-122"/>
                <a:cs typeface="Courier New" pitchFamily="34" charset="-120"/>
              </a:rPr>
              <a:t>Why this couldn't exist before</a:t>
            </a:r>
            <a:endParaRPr lang="en-US" sz="2400" dirty="0"/>
          </a:p>
        </p:txBody>
      </p:sp>
      <p:sp>
        <p:nvSpPr>
          <p:cNvPr id="3" name="Text 1"/>
          <p:cNvSpPr txBox="1"/>
          <p:nvPr/>
        </p:nvSpPr>
        <p:spPr>
          <a:xfrm>
            <a:off x="548640" y="1371600"/>
            <a:ext cx="4572000" cy="45720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A flat iPhone has no angle.</a:t>
            </a:r>
            <a:endParaRPr lang="en-US" sz="1250" dirty="0"/>
          </a:p>
          <a:p>
            <a:pPr indent="0" marL="0">
              <a:buNone/>
            </a:pPr>
            <a:r>
              <a:rPr lang="en-US" sz="1150" dirty="0">
                <a:solidFill>
                  <a:srgbClr val="8A96B3"/>
                </a:solidFill>
                <a:latin typeface="Arial" pitchFamily="34" charset="0"/>
                <a:ea typeface="Arial" pitchFamily="34" charset="-122"/>
                <a:cs typeface="Arial" pitchFamily="34" charset="-120"/>
              </a:rPr>
              <a:t>Nothing to close, squeeze, snap or pump.</a:t>
            </a:r>
            <a:endParaRPr lang="en-US" sz="1250" dirty="0"/>
          </a:p>
        </p:txBody>
      </p:sp>
      <p:sp>
        <p:nvSpPr>
          <p:cNvPr id="4" name="Text 2"/>
          <p:cNvSpPr txBox="1"/>
          <p:nvPr/>
        </p:nvSpPr>
        <p:spPr>
          <a:xfrm>
            <a:off x="548640" y="1874520"/>
            <a:ext cx="4572000" cy="45720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A flat iPhone has one plane.</a:t>
            </a:r>
            <a:endParaRPr lang="en-US" sz="1250" dirty="0"/>
          </a:p>
          <a:p>
            <a:pPr indent="0" marL="0">
              <a:buNone/>
            </a:pPr>
            <a:r>
              <a:rPr lang="en-US" sz="1150" dirty="0">
                <a:solidFill>
                  <a:srgbClr val="8A96B3"/>
                </a:solidFill>
                <a:latin typeface="Arial" pitchFamily="34" charset="0"/>
                <a:ea typeface="Arial" pitchFamily="34" charset="-122"/>
                <a:cs typeface="Arial" pitchFamily="34" charset="-120"/>
              </a:rPr>
              <a:t>No corner for a hologram to sit in.</a:t>
            </a:r>
            <a:endParaRPr lang="en-US" sz="1250" dirty="0"/>
          </a:p>
        </p:txBody>
      </p:sp>
      <p:sp>
        <p:nvSpPr>
          <p:cNvPr id="5" name="Text 3"/>
          <p:cNvSpPr txBox="1"/>
          <p:nvPr/>
        </p:nvSpPr>
        <p:spPr>
          <a:xfrm>
            <a:off x="548640" y="2377440"/>
            <a:ext cx="4572000" cy="45720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A flat iPhone has one face.</a:t>
            </a:r>
            <a:endParaRPr lang="en-US" sz="1250" dirty="0"/>
          </a:p>
          <a:p>
            <a:pPr indent="0" marL="0">
              <a:buNone/>
            </a:pPr>
            <a:r>
              <a:rPr lang="en-US" sz="1150" dirty="0">
                <a:solidFill>
                  <a:srgbClr val="8A96B3"/>
                </a:solidFill>
                <a:latin typeface="Arial" pitchFamily="34" charset="0"/>
                <a:ea typeface="Arial" pitchFamily="34" charset="-122"/>
                <a:cs typeface="Arial" pitchFamily="34" charset="-120"/>
              </a:rPr>
              <a:t>Nothing shows FOLDING SPACE to the world in transit.</a:t>
            </a:r>
            <a:endParaRPr lang="en-US" sz="1250" dirty="0"/>
          </a:p>
        </p:txBody>
      </p:sp>
      <p:sp>
        <p:nvSpPr>
          <p:cNvPr id="6" name="Text 4"/>
          <p:cNvSpPr txBox="1"/>
          <p:nvPr/>
        </p:nvSpPr>
        <p:spPr>
          <a:xfrm>
            <a:off x="548640" y="2926080"/>
            <a:ext cx="4572000" cy="457200"/>
          </a:xfrm>
          <a:prstGeom prst="rect">
            <a:avLst/>
          </a:prstGeom>
          <a:noFill/>
          <a:ln/>
        </p:spPr>
        <p:txBody>
          <a:bodyPr wrap="square" lIns="0" tIns="0" rIns="0" bIns="0" rtlCol="0" anchor="t"/>
          <a:lstStyle/>
          <a:p>
            <a:pPr indent="0" marL="0">
              <a:buNone/>
            </a:pPr>
            <a:r>
              <a:rPr lang="en-US" sz="1300" b="1" dirty="0">
                <a:solidFill>
                  <a:srgbClr val="3DF2FF"/>
                </a:solidFill>
                <a:latin typeface="Arial" pitchFamily="34" charset="0"/>
                <a:ea typeface="Arial" pitchFamily="34" charset="-122"/>
                <a:cs typeface="Arial" pitchFamily="34" charset="-120"/>
              </a:rPr>
              <a:t>iPhone Duo has all three, and tells the app about them continuously.</a:t>
            </a:r>
            <a:endParaRPr lang="en-US" sz="1300" dirty="0"/>
          </a:p>
        </p:txBody>
      </p:sp>
      <p:sp>
        <p:nvSpPr>
          <p:cNvPr id="7" name="Text 5"/>
          <p:cNvSpPr txBox="1"/>
          <p:nvPr/>
        </p:nvSpPr>
        <p:spPr>
          <a:xfrm>
            <a:off x="548640" y="3474720"/>
            <a:ext cx="4572000" cy="228600"/>
          </a:xfrm>
          <a:prstGeom prst="rect">
            <a:avLst/>
          </a:prstGeom>
          <a:noFill/>
          <a:ln/>
        </p:spPr>
        <p:txBody>
          <a:bodyPr wrap="square" lIns="0" tIns="0" rIns="0" bIns="0" rtlCol="0" anchor="t"/>
          <a:lstStyle/>
          <a:p>
            <a:pPr indent="0" marL="0">
              <a:buNone/>
            </a:pPr>
            <a:r>
              <a:rPr lang="en-US" sz="1050" spc="150" kern="0" dirty="0">
                <a:solidFill>
                  <a:srgbClr val="FFB238"/>
                </a:solidFill>
                <a:latin typeface="Courier New" pitchFamily="34" charset="0"/>
                <a:ea typeface="Courier New" pitchFamily="34" charset="-122"/>
                <a:cs typeface="Courier New" pitchFamily="34" charset="-120"/>
              </a:rPr>
              <a:t>WHAT'S NEXT</a:t>
            </a:r>
            <a:endParaRPr lang="en-US" sz="1050" dirty="0"/>
          </a:p>
        </p:txBody>
      </p:sp>
      <p:sp>
        <p:nvSpPr>
          <p:cNvPr id="8" name="Text 6"/>
          <p:cNvSpPr txBox="1"/>
          <p:nvPr/>
        </p:nvSpPr>
        <p:spPr>
          <a:xfrm>
            <a:off x="548640" y="3730752"/>
            <a:ext cx="4572000" cy="731520"/>
          </a:xfrm>
          <a:prstGeom prst="rect">
            <a:avLst/>
          </a:prstGeom>
          <a:noFill/>
          <a:ln/>
        </p:spPr>
        <p:txBody>
          <a:bodyPr wrap="square" lIns="0" tIns="0" rIns="0" bIns="0" rtlCol="0" anchor="t"/>
          <a:lstStyle/>
          <a:p>
            <a:pPr indent="0" marL="0">
              <a:buNone/>
            </a:pPr>
            <a:r>
              <a:rPr lang="en-US" sz="1100" dirty="0">
                <a:solidFill>
                  <a:srgbClr val="C9D2E6"/>
                </a:solidFill>
                <a:latin typeface="Arial" pitchFamily="34" charset="0"/>
                <a:ea typeface="Arial" pitchFamily="34" charset="-122"/>
                <a:cs typeface="Arial" pitchFamily="34" charset="-120"/>
              </a:rPr>
              <a:t>Flip DUO_SDK on Xcode 27.1 and fold real hardware · A ship computer that talks back · A shared sky: other pilots' beacons from the Galactic Registry · The rest of the catalog: 5,000+ exoplanets</a:t>
            </a:r>
            <a:endParaRPr lang="en-US" sz="1100" dirty="0"/>
          </a:p>
        </p:txBody>
      </p:sp>
      <p:sp>
        <p:nvSpPr>
          <p:cNvPr id="9" name="Text 7"/>
          <p:cNvSpPr txBox="1"/>
          <p:nvPr/>
        </p:nvSpPr>
        <p:spPr>
          <a:xfrm>
            <a:off x="548640" y="4526280"/>
            <a:ext cx="5029200" cy="320040"/>
          </a:xfrm>
          <a:prstGeom prst="rect">
            <a:avLst/>
          </a:prstGeom>
          <a:noFill/>
          <a:ln/>
        </p:spPr>
        <p:txBody>
          <a:bodyPr wrap="square" lIns="0" tIns="0" rIns="0" bIns="0" rtlCol="0" anchor="t"/>
          <a:lstStyle/>
          <a:p>
            <a:pPr indent="0" marL="0">
              <a:buNone/>
            </a:pPr>
            <a:r>
              <a:rPr lang="en-US" sz="1600" b="1" dirty="0">
                <a:solidFill>
                  <a:srgbClr val="3DF2FF"/>
                </a:solidFill>
                <a:latin typeface="Courier New" pitchFamily="34" charset="0"/>
                <a:ea typeface="Courier New" pitchFamily="34" charset="-122"/>
                <a:cs typeface="Courier New" pitchFamily="34" charset="-120"/>
              </a:rPr>
              <a:t>github.com/vnmoorthy/foldspace</a:t>
            </a:r>
            <a:endParaRPr lang="en-US" sz="1600" dirty="0"/>
          </a:p>
        </p:txBody>
      </p:sp>
      <p:sp>
        <p:nvSpPr>
          <p:cNvPr id="10" name="Text 8"/>
          <p:cNvSpPr txBox="1"/>
          <p:nvPr/>
        </p:nvSpPr>
        <p:spPr>
          <a:xfrm>
            <a:off x="548640" y="4846320"/>
            <a:ext cx="4572000" cy="228600"/>
          </a:xfrm>
          <a:prstGeom prst="rect">
            <a:avLst/>
          </a:prstGeom>
          <a:noFill/>
          <a:ln/>
        </p:spPr>
        <p:txBody>
          <a:bodyPr wrap="square" lIns="0" tIns="0" rIns="0" bIns="0" rtlCol="0" anchor="t"/>
          <a:lstStyle/>
          <a:p>
            <a:pPr indent="0" marL="0">
              <a:buNone/>
            </a:pPr>
            <a:r>
              <a:rPr lang="en-US" sz="900" dirty="0">
                <a:solidFill>
                  <a:srgbClr val="6B7A99"/>
                </a:solidFill>
                <a:latin typeface="Courier New" pitchFamily="34" charset="0"/>
                <a:ea typeface="Courier New" pitchFamily="34" charset="-122"/>
                <a:cs typeface="Courier New" pitchFamily="34" charset="-120"/>
              </a:rPr>
              <a:t>Built in one day at Bitrig Hacks · MIT license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FOLDSPACE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FOLDSPACE: Fold the phone. Fold space.</dc:title>
  <dc:subject>Bitrig Hacks: iPhone Duo Edition</dc:subject>
  <dc:creator>vnmoorthy</dc:creator>
  <cp:lastModifiedBy>vnmoorthy</cp:lastModifiedBy>
  <cp:revision>1</cp:revision>
  <dcterms:created xsi:type="dcterms:W3CDTF">2026-09-26T21:02:36Z</dcterms:created>
  <dcterms:modified xsi:type="dcterms:W3CDTF">2026-09-26T21:02:36Z</dcterms:modified>
</cp:coreProperties>
</file>